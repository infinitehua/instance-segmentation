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/>
          <a:lstStyle>
            <a:lvl1pPr algn="ctr">
              <a:defRPr sz="5400" spc="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3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5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4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0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0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1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6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5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9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2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spc="34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 spc="15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 spc="15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 spc="15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 spc="15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 spc="15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BCCE-DA7C-8BF9-9B1D-5857329C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5BA69-E858-316C-B307-CEA619AE6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31" y="4934601"/>
            <a:ext cx="8031961" cy="88239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nl-NL" altLang="zh-CN" sz="4000" dirty="0"/>
              <a:t>Week 3 Experiment 1 </a:t>
            </a:r>
            <a:r>
              <a:rPr lang="nl-NL" altLang="zh-CN" sz="4000" dirty="0" err="1"/>
              <a:t>and</a:t>
            </a:r>
            <a:r>
              <a:rPr lang="nl-NL" altLang="zh-CN" sz="4000" dirty="0"/>
              <a:t> </a:t>
            </a:r>
            <a:r>
              <a:rPr lang="nl-NL" altLang="zh-CN" sz="4000" dirty="0" err="1"/>
              <a:t>Reflection</a:t>
            </a:r>
            <a:endParaRPr lang="nl-NL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DF6E7E-3C90-6563-A856-8D8A121D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0983" y="5945844"/>
            <a:ext cx="6396471" cy="509627"/>
          </a:xfrm>
        </p:spPr>
        <p:txBody>
          <a:bodyPr>
            <a:normAutofit/>
          </a:bodyPr>
          <a:lstStyle/>
          <a:p>
            <a:r>
              <a:rPr lang="nl-NL" sz="1200"/>
              <a:t>Hua Jiang</a:t>
            </a: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69D07C2-A297-E1B3-CBD8-A15F2D7E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pic>
        <p:nvPicPr>
          <p:cNvPr id="6" name="图片 5" descr="图片包含 蓝色, 水, 桌子, 游戏机&#10;&#10;AI 生成的内容可能不正确。">
            <a:extLst>
              <a:ext uri="{FF2B5EF4-FFF2-40B4-BE49-F238E27FC236}">
                <a16:creationId xmlns:a16="http://schemas.microsoft.com/office/drawing/2014/main" id="{CB6D38BC-9E4C-B7A5-1908-FF505B42A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67" y="993250"/>
            <a:ext cx="3073841" cy="3073841"/>
          </a:xfrm>
          <a:prstGeom prst="rect">
            <a:avLst/>
          </a:prstGeom>
        </p:spPr>
      </p:pic>
      <p:pic>
        <p:nvPicPr>
          <p:cNvPr id="8" name="图片 7" descr="蓝色的花&#10;&#10;AI 生成的内容可能不正确。">
            <a:extLst>
              <a:ext uri="{FF2B5EF4-FFF2-40B4-BE49-F238E27FC236}">
                <a16:creationId xmlns:a16="http://schemas.microsoft.com/office/drawing/2014/main" id="{A48B651C-B8F2-C350-884B-764E37FAF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318" y="993250"/>
            <a:ext cx="3073841" cy="3073841"/>
          </a:xfrm>
          <a:prstGeom prst="rect">
            <a:avLst/>
          </a:prstGeom>
        </p:spPr>
      </p:pic>
      <p:pic>
        <p:nvPicPr>
          <p:cNvPr id="10" name="图片 9" descr="图片包含 室内, 桌子, 水, 监控&#10;&#10;AI 生成的内容可能不正确。">
            <a:extLst>
              <a:ext uri="{FF2B5EF4-FFF2-40B4-BE49-F238E27FC236}">
                <a16:creationId xmlns:a16="http://schemas.microsoft.com/office/drawing/2014/main" id="{A80F9C48-C7F5-B7BB-3BEE-4651C410E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000" y="993250"/>
            <a:ext cx="3073841" cy="307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6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45D478C-A9A5-4832-89D8-703607711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68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70DF15-E754-42BB-9A78-F070643B1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980" y="4519947"/>
            <a:ext cx="12208582" cy="23356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0FF787F1-422C-2DA3-A9CB-57A5FD20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0"/>
            <a:ext cx="6111059" cy="685799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7A83510-2790-4866-911D-2E1588DF5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432" y="4252353"/>
            <a:ext cx="12157773" cy="494218"/>
            <a:chOff x="18956" y="5952517"/>
            <a:chExt cx="12157773" cy="494218"/>
          </a:xfrm>
          <a:solidFill>
            <a:schemeClr val="bg1"/>
          </a:solidFill>
        </p:grpSpPr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DAB74ACE-7603-4829-88FE-C3C2B05EB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637219" y="6356157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E3E37A0-8723-42F4-9435-F06BD0191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139192" y="6359421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0C5FE567-8965-4799-B1E6-8A6E1A848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384660" y="6368396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BA3FF2FD-6394-4F97-B186-BD4A98C61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653573" y="6308012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1A361C9F-AD97-4338-B557-8766AFD03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8956" y="5956599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F4FAA936-A80F-43B5-8A7D-17CC7CF77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709370" y="6291575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1246F32-1BA7-40E4-9AF9-CA517D44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452381" y="6295774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C18EE8CE-BCF9-4C64-B335-C7830B03F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883090" y="6322699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64AC2B2B-568F-4175-8D84-AD8F6B563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404559" y="6308010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D9C6CF5C-8CF6-4274-86E0-CAF4A31F4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937280" y="6282192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3BFC56A2-55B3-432A-BD3B-4B2423A6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194538" y="6290059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BB036CEA-B307-404A-89D6-9414F417D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742191" y="6338204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3" name="Freeform 43">
              <a:extLst>
                <a:ext uri="{FF2B5EF4-FFF2-40B4-BE49-F238E27FC236}">
                  <a16:creationId xmlns:a16="http://schemas.microsoft.com/office/drawing/2014/main" id="{CB37E5F5-B903-4611-A739-0B7FBE851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902106" y="6043523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4" name="Freeform 51">
              <a:extLst>
                <a:ext uri="{FF2B5EF4-FFF2-40B4-BE49-F238E27FC236}">
                  <a16:creationId xmlns:a16="http://schemas.microsoft.com/office/drawing/2014/main" id="{B1012F2B-A8F1-4FD5-8E6F-1CC97D0A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710297" y="6035458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5" name="Freeform 52">
              <a:extLst>
                <a:ext uri="{FF2B5EF4-FFF2-40B4-BE49-F238E27FC236}">
                  <a16:creationId xmlns:a16="http://schemas.microsoft.com/office/drawing/2014/main" id="{C04C6E0B-838E-4B10-91CA-29C498382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277444" y="6038724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6" name="Freeform 53">
              <a:extLst>
                <a:ext uri="{FF2B5EF4-FFF2-40B4-BE49-F238E27FC236}">
                  <a16:creationId xmlns:a16="http://schemas.microsoft.com/office/drawing/2014/main" id="{15D6CFEB-4FC5-45C3-8BDF-95EAD1EDF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471034" y="6035460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7" name="Freeform 54">
              <a:extLst>
                <a:ext uri="{FF2B5EF4-FFF2-40B4-BE49-F238E27FC236}">
                  <a16:creationId xmlns:a16="http://schemas.microsoft.com/office/drawing/2014/main" id="{EA8E01BA-7055-4707-906A-F08E2E253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094009" y="6011795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8" name="Freeform 55">
              <a:extLst>
                <a:ext uri="{FF2B5EF4-FFF2-40B4-BE49-F238E27FC236}">
                  <a16:creationId xmlns:a16="http://schemas.microsoft.com/office/drawing/2014/main" id="{CDA2DE76-0D5E-4F6F-95E7-508B725F8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264556" y="6041988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9" name="Freeform 56">
              <a:extLst>
                <a:ext uri="{FF2B5EF4-FFF2-40B4-BE49-F238E27FC236}">
                  <a16:creationId xmlns:a16="http://schemas.microsoft.com/office/drawing/2014/main" id="{669578C5-3D06-4B77-A897-A014B441B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392340" y="5985586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0" name="Freeform 57">
              <a:extLst>
                <a:ext uri="{FF2B5EF4-FFF2-40B4-BE49-F238E27FC236}">
                  <a16:creationId xmlns:a16="http://schemas.microsoft.com/office/drawing/2014/main" id="{85AA3005-AAD0-4587-B352-ECD937D61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037697" y="6020771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1" name="Freeform 59">
              <a:extLst>
                <a:ext uri="{FF2B5EF4-FFF2-40B4-BE49-F238E27FC236}">
                  <a16:creationId xmlns:a16="http://schemas.microsoft.com/office/drawing/2014/main" id="{B4E9730F-E8B1-4F7C-BA99-3B3016F10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473186" y="605207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2" name="Freeform 60">
              <a:extLst>
                <a:ext uri="{FF2B5EF4-FFF2-40B4-BE49-F238E27FC236}">
                  <a16:creationId xmlns:a16="http://schemas.microsoft.com/office/drawing/2014/main" id="{A8922D05-C325-4918-84E6-1C62AD7BE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825017" y="6002818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3" name="Freeform 61">
              <a:extLst>
                <a:ext uri="{FF2B5EF4-FFF2-40B4-BE49-F238E27FC236}">
                  <a16:creationId xmlns:a16="http://schemas.microsoft.com/office/drawing/2014/main" id="{38DD42E8-8604-45E3-99FE-72D479AF2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572460" y="5957121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2E946C70-11C9-4C85-BE3B-1149117F3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908414" y="6286792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48F637C4-CFB7-4421-9DAB-6730244B2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634353" y="6266141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6E137FD9-DCB4-4E5A-960B-350C3627E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177783" y="6246129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9DCD8437-9BFD-44B4-AAC8-75388190F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982245" y="6242949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C9EEBF9B-D5F1-4EE3-A46A-A5A5E396A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268040" y="6282192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3A77B17D-E4D2-444B-8D75-F0171A3E8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510851" y="6246285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5FDB9442-6054-49E2-948E-D30AD9E09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028371" y="6264238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3E1DF8B7-7CB2-4181-8525-4EE2D5D9E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656011" y="6301648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4B3B2382-7947-4BAF-BF2F-830393F8E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333279" y="6267101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C95E7F5-BA75-4053-AC8F-81ACC4262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773156" y="6239757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8D431126-FDB6-42AF-BC9E-58E4C417B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398709" y="6264239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4AA2BE9B-BD88-4958-B98E-7363A0FD5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47787" y="6218542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6" name="Freeform 25">
              <a:extLst>
                <a:ext uri="{FF2B5EF4-FFF2-40B4-BE49-F238E27FC236}">
                  <a16:creationId xmlns:a16="http://schemas.microsoft.com/office/drawing/2014/main" id="{BA18EADE-8501-4251-ADCD-EB02B73DF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90115" y="6200589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D1886B2F-FFB5-4032-A012-EAE8464DD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11181" y="6179372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8" name="Freeform 31">
              <a:extLst>
                <a:ext uri="{FF2B5EF4-FFF2-40B4-BE49-F238E27FC236}">
                  <a16:creationId xmlns:a16="http://schemas.microsoft.com/office/drawing/2014/main" id="{65048464-3972-4F85-858C-BD0D6CC8A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543201" y="6241343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9" name="Freeform 32">
              <a:extLst>
                <a:ext uri="{FF2B5EF4-FFF2-40B4-BE49-F238E27FC236}">
                  <a16:creationId xmlns:a16="http://schemas.microsoft.com/office/drawing/2014/main" id="{9B136B45-B116-4EA4-802D-0D9EC238C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406775" y="5979446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0" name="Freeform 33">
              <a:extLst>
                <a:ext uri="{FF2B5EF4-FFF2-40B4-BE49-F238E27FC236}">
                  <a16:creationId xmlns:a16="http://schemas.microsoft.com/office/drawing/2014/main" id="{F7DA7C34-DDA0-41AB-A47F-E981F63E2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327423" y="6028408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BB16C09B-E126-49FC-B0C4-2CB43FA03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334031" y="6019431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2" name="Freeform 35">
              <a:extLst>
                <a:ext uri="{FF2B5EF4-FFF2-40B4-BE49-F238E27FC236}">
                  <a16:creationId xmlns:a16="http://schemas.microsoft.com/office/drawing/2014/main" id="{A12A7CBF-E4C8-4085-88C3-03102FE46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124491" y="6012903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3" name="Freeform 36">
              <a:extLst>
                <a:ext uri="{FF2B5EF4-FFF2-40B4-BE49-F238E27FC236}">
                  <a16:creationId xmlns:a16="http://schemas.microsoft.com/office/drawing/2014/main" id="{55CA9A4D-ABE6-426B-B7F0-F5B933349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57884" y="5982710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4" name="Freeform 37">
              <a:extLst>
                <a:ext uri="{FF2B5EF4-FFF2-40B4-BE49-F238E27FC236}">
                  <a16:creationId xmlns:a16="http://schemas.microsoft.com/office/drawing/2014/main" id="{8A4F3A5B-B199-4716-ADF4-5E33A7C0D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649584" y="5970470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5" name="Freeform 38">
              <a:extLst>
                <a:ext uri="{FF2B5EF4-FFF2-40B4-BE49-F238E27FC236}">
                  <a16:creationId xmlns:a16="http://schemas.microsoft.com/office/drawing/2014/main" id="{5846F32E-5DDD-4AF4-BE1C-5F1A3FF10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829398" y="601045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6" name="Freeform 39">
              <a:extLst>
                <a:ext uri="{FF2B5EF4-FFF2-40B4-BE49-F238E27FC236}">
                  <a16:creationId xmlns:a16="http://schemas.microsoft.com/office/drawing/2014/main" id="{AFE38B2F-69BC-4661-84A3-EA04CDC3F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580384" y="5998215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7" name="Freeform 40">
              <a:extLst>
                <a:ext uri="{FF2B5EF4-FFF2-40B4-BE49-F238E27FC236}">
                  <a16:creationId xmlns:a16="http://schemas.microsoft.com/office/drawing/2014/main" id="{5CA6F12C-4208-48A6-B7B0-DD18CB399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121911" y="5994951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0F08EA53-C6C6-49F1-B8DA-E20FFD6078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438116" y="599495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9" name="Freeform 42">
              <a:extLst>
                <a:ext uri="{FF2B5EF4-FFF2-40B4-BE49-F238E27FC236}">
                  <a16:creationId xmlns:a16="http://schemas.microsoft.com/office/drawing/2014/main" id="{6B6EA655-7497-4604-92DF-43CE7322E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10716" y="5973734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0" name="Freeform 44">
              <a:extLst>
                <a:ext uri="{FF2B5EF4-FFF2-40B4-BE49-F238E27FC236}">
                  <a16:creationId xmlns:a16="http://schemas.microsoft.com/office/drawing/2014/main" id="{082FFE9A-67C2-471A-AF37-ED9C238DB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639354" y="5976998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1" name="Freeform 45">
              <a:extLst>
                <a:ext uri="{FF2B5EF4-FFF2-40B4-BE49-F238E27FC236}">
                  <a16:creationId xmlns:a16="http://schemas.microsoft.com/office/drawing/2014/main" id="{B0FD6176-7431-446D-91DB-56644A93C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67906" y="5952517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2" name="Freeform 46">
              <a:extLst>
                <a:ext uri="{FF2B5EF4-FFF2-40B4-BE49-F238E27FC236}">
                  <a16:creationId xmlns:a16="http://schemas.microsoft.com/office/drawing/2014/main" id="{A46603FA-6405-410B-AD8A-3D75BE7A8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895937" y="6000664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3" name="Freeform 47">
              <a:extLst>
                <a:ext uri="{FF2B5EF4-FFF2-40B4-BE49-F238E27FC236}">
                  <a16:creationId xmlns:a16="http://schemas.microsoft.com/office/drawing/2014/main" id="{6BE439BF-AE87-4F53-9DC9-72414AD1F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865326" y="5973733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4" name="Freeform 48">
              <a:extLst>
                <a:ext uri="{FF2B5EF4-FFF2-40B4-BE49-F238E27FC236}">
                  <a16:creationId xmlns:a16="http://schemas.microsoft.com/office/drawing/2014/main" id="{55C88911-7FE8-4196-8D02-DAB1B62D9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3115444" y="5992749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5" name="Freeform 49">
              <a:extLst>
                <a:ext uri="{FF2B5EF4-FFF2-40B4-BE49-F238E27FC236}">
                  <a16:creationId xmlns:a16="http://schemas.microsoft.com/office/drawing/2014/main" id="{BAD26C77-660F-4C9C-9A98-23404819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215687" y="5955781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507A2021-3F23-43FC-AB0D-130B5759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683670" y="6019431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7" name="Freeform 106">
              <a:extLst>
                <a:ext uri="{FF2B5EF4-FFF2-40B4-BE49-F238E27FC236}">
                  <a16:creationId xmlns:a16="http://schemas.microsoft.com/office/drawing/2014/main" id="{CB855C11-52EB-43D9-8831-1A26FCE12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9451" y="6204541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8" name="Freeform 19">
              <a:extLst>
                <a:ext uri="{FF2B5EF4-FFF2-40B4-BE49-F238E27FC236}">
                  <a16:creationId xmlns:a16="http://schemas.microsoft.com/office/drawing/2014/main" id="{1A6AD416-1A17-49A9-8301-8C0A5A78C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397390" y="6351960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79" name="Freeform 20">
              <a:extLst>
                <a:ext uri="{FF2B5EF4-FFF2-40B4-BE49-F238E27FC236}">
                  <a16:creationId xmlns:a16="http://schemas.microsoft.com/office/drawing/2014/main" id="{F03687D9-14CC-461B-B4B5-907E10B6A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140401" y="6356159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FCC639BE-A7F9-46A2-955A-3ACA45455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2049121" y="6351959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B3FED40E-A961-4D78-947A-5AC1BD510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625300" y="6342577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1445BCDF-9E07-46AD-A6B5-5BEFA223C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851300" y="6351959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3" name="Freeform 55">
              <a:extLst>
                <a:ext uri="{FF2B5EF4-FFF2-40B4-BE49-F238E27FC236}">
                  <a16:creationId xmlns:a16="http://schemas.microsoft.com/office/drawing/2014/main" id="{23324DC7-93D9-451A-9ABF-1B4D92BF2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988188" y="6083917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4" name="Freeform 56">
              <a:extLst>
                <a:ext uri="{FF2B5EF4-FFF2-40B4-BE49-F238E27FC236}">
                  <a16:creationId xmlns:a16="http://schemas.microsoft.com/office/drawing/2014/main" id="{003474BA-A947-4598-96BB-BAACE2411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080360" y="6045971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5" name="Freeform 57">
              <a:extLst>
                <a:ext uri="{FF2B5EF4-FFF2-40B4-BE49-F238E27FC236}">
                  <a16:creationId xmlns:a16="http://schemas.microsoft.com/office/drawing/2014/main" id="{04426A72-0FD0-478F-AAC5-B49E14253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725717" y="6081156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17260BB0-9DCA-4927-89A5-1314AD40E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513037" y="606320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F459656F-63AC-4FC7-8D12-282B9B0C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1260480" y="6017506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8" name="Freeform 5">
              <a:extLst>
                <a:ext uri="{FF2B5EF4-FFF2-40B4-BE49-F238E27FC236}">
                  <a16:creationId xmlns:a16="http://schemas.microsoft.com/office/drawing/2014/main" id="{5C345A48-BE33-4B10-AF97-207DC7E2C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596434" y="6347177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65503F74-3A89-46DD-AD4D-9BB164E25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310592" y="6345841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0" name="Freeform 7">
              <a:extLst>
                <a:ext uri="{FF2B5EF4-FFF2-40B4-BE49-F238E27FC236}">
                  <a16:creationId xmlns:a16="http://schemas.microsoft.com/office/drawing/2014/main" id="{5D8D4A6C-9C30-46E6-953F-8FFE24534F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865803" y="6306514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1" name="Freeform 8">
              <a:extLst>
                <a:ext uri="{FF2B5EF4-FFF2-40B4-BE49-F238E27FC236}">
                  <a16:creationId xmlns:a16="http://schemas.microsoft.com/office/drawing/2014/main" id="{844B12AB-BDBA-412B-8127-0671AB6BF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670714" y="633931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2" name="Freeform 9">
              <a:extLst>
                <a:ext uri="{FF2B5EF4-FFF2-40B4-BE49-F238E27FC236}">
                  <a16:creationId xmlns:a16="http://schemas.microsoft.com/office/drawing/2014/main" id="{84AE8FA4-8AC5-4D0E-9FF8-B6F6D961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956060" y="6342577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462515DF-512D-49E0-B5FE-637D9E352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198871" y="6306670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342CB8A0-096D-4A9F-B962-294DB670B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716391" y="6324623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6870353D-6B96-4946-8BB5-015BF6E6E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344031" y="6362033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20249E38-6114-4065-8836-941D6C55D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070859" y="6318096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BDA5073D-3C1B-4779-8DEF-FD9CD5308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461176" y="6300142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79505220-ED85-46B5-A218-0991FA579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039205" y="6341355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A8513416-DF87-4A83-8026-AF40654BA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730057" y="6318096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0" name="Freeform 25">
              <a:extLst>
                <a:ext uri="{FF2B5EF4-FFF2-40B4-BE49-F238E27FC236}">
                  <a16:creationId xmlns:a16="http://schemas.microsoft.com/office/drawing/2014/main" id="{AF0489C4-7984-4A49-9D02-ACE2DD3E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930591" y="6309120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1" name="Freeform 29">
              <a:extLst>
                <a:ext uri="{FF2B5EF4-FFF2-40B4-BE49-F238E27FC236}">
                  <a16:creationId xmlns:a16="http://schemas.microsoft.com/office/drawing/2014/main" id="{3DB0DE7C-BF6D-4059-94C4-FD4D6E7BA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497041" y="6299934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2" name="Freeform 31">
              <a:extLst>
                <a:ext uri="{FF2B5EF4-FFF2-40B4-BE49-F238E27FC236}">
                  <a16:creationId xmlns:a16="http://schemas.microsoft.com/office/drawing/2014/main" id="{5B58E23E-6D06-4F24-B6F8-98AE632C2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207517" y="6336989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3" name="Freeform 32">
              <a:extLst>
                <a:ext uri="{FF2B5EF4-FFF2-40B4-BE49-F238E27FC236}">
                  <a16:creationId xmlns:a16="http://schemas.microsoft.com/office/drawing/2014/main" id="{7D87D95A-4B48-4140-BB5C-9A33AACBF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094795" y="6039831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" name="Freeform 33">
              <a:extLst>
                <a:ext uri="{FF2B5EF4-FFF2-40B4-BE49-F238E27FC236}">
                  <a16:creationId xmlns:a16="http://schemas.microsoft.com/office/drawing/2014/main" id="{6D78BEA4-B995-4BEC-A3B4-C580D646A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015443" y="6088793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5" name="Freeform 34">
              <a:extLst>
                <a:ext uri="{FF2B5EF4-FFF2-40B4-BE49-F238E27FC236}">
                  <a16:creationId xmlns:a16="http://schemas.microsoft.com/office/drawing/2014/main" id="{C075F1AC-7155-4487-8B7A-0C74E2C65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022051" y="6079816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6" name="Freeform 35">
              <a:extLst>
                <a:ext uri="{FF2B5EF4-FFF2-40B4-BE49-F238E27FC236}">
                  <a16:creationId xmlns:a16="http://schemas.microsoft.com/office/drawing/2014/main" id="{2923812A-0930-464A-B863-8232CDF9B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806684" y="6076799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7" name="Freeform 36">
              <a:extLst>
                <a:ext uri="{FF2B5EF4-FFF2-40B4-BE49-F238E27FC236}">
                  <a16:creationId xmlns:a16="http://schemas.microsoft.com/office/drawing/2014/main" id="{5B22D5AF-1F95-4943-ADBD-50BF0DDC9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345904" y="6043095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8" name="Freeform 37">
              <a:extLst>
                <a:ext uri="{FF2B5EF4-FFF2-40B4-BE49-F238E27FC236}">
                  <a16:creationId xmlns:a16="http://schemas.microsoft.com/office/drawing/2014/main" id="{09709304-5160-4325-BE4E-F970450FA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337604" y="6030855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9" name="Freeform 38">
              <a:extLst>
                <a:ext uri="{FF2B5EF4-FFF2-40B4-BE49-F238E27FC236}">
                  <a16:creationId xmlns:a16="http://schemas.microsoft.com/office/drawing/2014/main" id="{6086BD94-D139-4DEE-9FB6-849360DAB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517418" y="6070840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0" name="Freeform 39">
              <a:extLst>
                <a:ext uri="{FF2B5EF4-FFF2-40B4-BE49-F238E27FC236}">
                  <a16:creationId xmlns:a16="http://schemas.microsoft.com/office/drawing/2014/main" id="{84B8A4B1-C709-4864-851E-6A76DE4E5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8268404" y="6058600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1" name="Freeform 40">
              <a:extLst>
                <a:ext uri="{FF2B5EF4-FFF2-40B4-BE49-F238E27FC236}">
                  <a16:creationId xmlns:a16="http://schemas.microsoft.com/office/drawing/2014/main" id="{51183B3E-65BA-45BB-9238-E5553DA7E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809931" y="6055336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2" name="Freeform 41">
              <a:extLst>
                <a:ext uri="{FF2B5EF4-FFF2-40B4-BE49-F238E27FC236}">
                  <a16:creationId xmlns:a16="http://schemas.microsoft.com/office/drawing/2014/main" id="{B456CBC6-D8DB-4226-8743-8355D0C1E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126136" y="6055335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3" name="Freeform 42">
              <a:extLst>
                <a:ext uri="{FF2B5EF4-FFF2-40B4-BE49-F238E27FC236}">
                  <a16:creationId xmlns:a16="http://schemas.microsoft.com/office/drawing/2014/main" id="{2A43AE63-9201-415C-A88E-C52685BF9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798736" y="6034119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0BB8C75E-6B9A-4E95-85CF-ACD2D2AD2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327374" y="6037383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F593E6EC-FB46-40CB-825C-C1305B1FB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7555926" y="6012902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17F36F0-8630-4831-9057-6CA9B217B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10583957" y="6061049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9614B5E6-3CE1-465E-8381-646179E1B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553346" y="6034118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5A40C31A-16AE-42C0-AC3B-52DCA2F5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9804575" y="6052072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CE95CDB5-B8FA-431B-B9BE-7791AD92C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0800000">
              <a:off x="6903707" y="6016166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2" name="图片 11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66E96D0B-475D-9DF5-361F-2F88231B9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43" y="57606"/>
            <a:ext cx="3921193" cy="3278320"/>
          </a:xfrm>
          <a:prstGeom prst="rect">
            <a:avLst/>
          </a:prstGeom>
        </p:spPr>
      </p:pic>
      <p:pic>
        <p:nvPicPr>
          <p:cNvPr id="14" name="图片 13" descr="紫色的花朵&#10;&#10;AI 生成的内容可能不正确。">
            <a:extLst>
              <a:ext uri="{FF2B5EF4-FFF2-40B4-BE49-F238E27FC236}">
                <a16:creationId xmlns:a16="http://schemas.microsoft.com/office/drawing/2014/main" id="{979F2723-1049-6BFA-1914-B24D84921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8" y="3484209"/>
            <a:ext cx="3849631" cy="33713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717941E-8F46-E72C-DCD6-F843326BFE30}"/>
              </a:ext>
            </a:extLst>
          </p:cNvPr>
          <p:cNvSpPr txBox="1"/>
          <p:nvPr/>
        </p:nvSpPr>
        <p:spPr>
          <a:xfrm>
            <a:off x="4097930" y="2350342"/>
            <a:ext cx="23536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Input: 50 images </a:t>
            </a:r>
            <a:r>
              <a:rPr lang="nl-NL" dirty="0" err="1"/>
              <a:t>annotated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masks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bounding</a:t>
            </a:r>
            <a:r>
              <a:rPr lang="nl-NL" dirty="0"/>
              <a:t> </a:t>
            </a:r>
            <a:r>
              <a:rPr lang="nl-NL" dirty="0" err="1"/>
              <a:t>boxes</a:t>
            </a:r>
            <a:r>
              <a:rPr lang="nl-NL" dirty="0"/>
              <a:t>, 1280x1280.</a:t>
            </a:r>
          </a:p>
          <a:p>
            <a:r>
              <a:rPr lang="nl-NL" dirty="0"/>
              <a:t>40 training images, 10 </a:t>
            </a:r>
            <a:r>
              <a:rPr lang="nl-NL" dirty="0" err="1"/>
              <a:t>validation</a:t>
            </a:r>
            <a:r>
              <a:rPr lang="nl-NL" dirty="0"/>
              <a:t> images</a:t>
            </a:r>
          </a:p>
        </p:txBody>
      </p:sp>
      <p:pic>
        <p:nvPicPr>
          <p:cNvPr id="19" name="图片 18" descr="图片包含 灯光, 小, 挂, 桌子&#10;&#10;AI 生成的内容可能不正确。">
            <a:extLst>
              <a:ext uri="{FF2B5EF4-FFF2-40B4-BE49-F238E27FC236}">
                <a16:creationId xmlns:a16="http://schemas.microsoft.com/office/drawing/2014/main" id="{E00137BB-9F5F-3B77-803F-A1C3CC99DC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427" y="3170839"/>
            <a:ext cx="2590048" cy="2542784"/>
          </a:xfrm>
          <a:prstGeom prst="rect">
            <a:avLst/>
          </a:prstGeom>
        </p:spPr>
      </p:pic>
      <p:pic>
        <p:nvPicPr>
          <p:cNvPr id="121" name="图片 120" descr="图片包含 水, 门, 站, 房间&#10;&#10;AI 生成的内容可能不正确。">
            <a:extLst>
              <a:ext uri="{FF2B5EF4-FFF2-40B4-BE49-F238E27FC236}">
                <a16:creationId xmlns:a16="http://schemas.microsoft.com/office/drawing/2014/main" id="{D292210E-EBEC-BF01-3E12-C62A500B97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568" y="94210"/>
            <a:ext cx="2590048" cy="2519046"/>
          </a:xfrm>
          <a:prstGeom prst="rect">
            <a:avLst/>
          </a:prstGeom>
        </p:spPr>
      </p:pic>
      <p:pic>
        <p:nvPicPr>
          <p:cNvPr id="123" name="图片 122" descr="图片包含 室内, 电脑, 桌子, 挂&#10;&#10;AI 生成的内容可能不正确。">
            <a:extLst>
              <a:ext uri="{FF2B5EF4-FFF2-40B4-BE49-F238E27FC236}">
                <a16:creationId xmlns:a16="http://schemas.microsoft.com/office/drawing/2014/main" id="{197FA06C-5CE7-EC22-C1FA-3EC98ADB22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941" y="111419"/>
            <a:ext cx="2590048" cy="2520728"/>
          </a:xfrm>
          <a:prstGeom prst="rect">
            <a:avLst/>
          </a:prstGeom>
        </p:spPr>
      </p:pic>
      <p:pic>
        <p:nvPicPr>
          <p:cNvPr id="125" name="图片 124" descr="图片包含 游戏机, 蓝色, 房间&#10;&#10;AI 生成的内容可能不正确。">
            <a:extLst>
              <a:ext uri="{FF2B5EF4-FFF2-40B4-BE49-F238E27FC236}">
                <a16:creationId xmlns:a16="http://schemas.microsoft.com/office/drawing/2014/main" id="{58A71913-A7E9-5DAA-19DA-595BA3A7AE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55" y="3184732"/>
            <a:ext cx="2590049" cy="2528891"/>
          </a:xfrm>
          <a:prstGeom prst="rect">
            <a:avLst/>
          </a:prstGeom>
        </p:spPr>
      </p:pic>
      <p:sp>
        <p:nvSpPr>
          <p:cNvPr id="126" name="文本框 125">
            <a:extLst>
              <a:ext uri="{FF2B5EF4-FFF2-40B4-BE49-F238E27FC236}">
                <a16:creationId xmlns:a16="http://schemas.microsoft.com/office/drawing/2014/main" id="{420FD903-614A-8D2A-7557-571E54C20712}"/>
              </a:ext>
            </a:extLst>
          </p:cNvPr>
          <p:cNvSpPr txBox="1"/>
          <p:nvPr/>
        </p:nvSpPr>
        <p:spPr>
          <a:xfrm>
            <a:off x="6961315" y="5816879"/>
            <a:ext cx="4754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Result</a:t>
            </a:r>
            <a:r>
              <a:rPr lang="nl-NL" dirty="0"/>
              <a:t>: </a:t>
            </a:r>
          </a:p>
          <a:p>
            <a:pPr marL="342900" indent="-342900">
              <a:buAutoNum type="arabicParenBoth"/>
            </a:pPr>
            <a:r>
              <a:rPr lang="nl-NL" dirty="0"/>
              <a:t>Bad </a:t>
            </a:r>
            <a:r>
              <a:rPr lang="nl-NL" dirty="0" err="1"/>
              <a:t>regression</a:t>
            </a:r>
            <a:r>
              <a:rPr lang="nl-NL" dirty="0"/>
              <a:t> of </a:t>
            </a:r>
            <a:r>
              <a:rPr lang="nl-NL" dirty="0" err="1"/>
              <a:t>bounding</a:t>
            </a:r>
            <a:r>
              <a:rPr lang="nl-NL" dirty="0"/>
              <a:t> </a:t>
            </a:r>
            <a:r>
              <a:rPr lang="nl-NL" dirty="0" err="1"/>
              <a:t>boxes</a:t>
            </a:r>
            <a:r>
              <a:rPr lang="nl-NL" dirty="0"/>
              <a:t>.</a:t>
            </a:r>
          </a:p>
          <a:p>
            <a:pPr marL="342900" indent="-342900">
              <a:buAutoNum type="arabicParenBoth"/>
            </a:pPr>
            <a:r>
              <a:rPr lang="nl-NL" dirty="0"/>
              <a:t>Even </a:t>
            </a:r>
            <a:r>
              <a:rPr lang="nl-NL" dirty="0" err="1"/>
              <a:t>worse</a:t>
            </a:r>
            <a:r>
              <a:rPr lang="nl-NL" dirty="0"/>
              <a:t> </a:t>
            </a:r>
            <a:r>
              <a:rPr lang="nl-NL" dirty="0" err="1"/>
              <a:t>classification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masks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839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10BD-633A-52C1-1926-37E5980F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BA23596C-4B48-9CE6-DE5E-9B43F30A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0"/>
            <a:ext cx="6111059" cy="68579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0B90789-6484-86E7-C0DE-B66B46B61324}"/>
              </a:ext>
            </a:extLst>
          </p:cNvPr>
          <p:cNvSpPr txBox="1"/>
          <p:nvPr/>
        </p:nvSpPr>
        <p:spPr>
          <a:xfrm>
            <a:off x="4736026" y="604614"/>
            <a:ext cx="62484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nl-NL" dirty="0"/>
              <a:t>CNN </a:t>
            </a:r>
            <a:r>
              <a:rPr lang="nl-NL" dirty="0" err="1"/>
              <a:t>can</a:t>
            </a:r>
            <a:r>
              <a:rPr lang="nl-NL" dirty="0"/>
              <a:t> separate </a:t>
            </a:r>
            <a:r>
              <a:rPr lang="nl-NL" dirty="0" err="1"/>
              <a:t>things</a:t>
            </a:r>
            <a:r>
              <a:rPr lang="nl-NL" dirty="0"/>
              <a:t> of different classes apart. </a:t>
            </a:r>
            <a:r>
              <a:rPr lang="nl-NL" b="1" u="sng" dirty="0"/>
              <a:t>But </a:t>
            </a:r>
            <a:r>
              <a:rPr lang="nl-NL" b="1" u="sng" dirty="0" err="1"/>
              <a:t>if</a:t>
            </a:r>
            <a:r>
              <a:rPr lang="nl-NL" b="1" u="sng" dirty="0"/>
              <a:t> we </a:t>
            </a:r>
            <a:r>
              <a:rPr lang="nl-NL" b="1" u="sng" dirty="0" err="1"/>
              <a:t>annotate</a:t>
            </a:r>
            <a:r>
              <a:rPr lang="nl-NL" b="1" u="sng" dirty="0"/>
              <a:t> mixed </a:t>
            </a:r>
            <a:r>
              <a:rPr lang="nl-NL" b="1" u="sng" dirty="0" err="1"/>
              <a:t>things</a:t>
            </a:r>
            <a:r>
              <a:rPr lang="nl-NL" b="1" u="sng" dirty="0"/>
              <a:t> </a:t>
            </a:r>
            <a:r>
              <a:rPr lang="nl-NL" b="1" u="sng" dirty="0" err="1"/>
              <a:t>into</a:t>
            </a:r>
            <a:r>
              <a:rPr lang="nl-NL" b="1" u="sng" dirty="0"/>
              <a:t> </a:t>
            </a:r>
            <a:r>
              <a:rPr lang="nl-NL" b="1" u="sng" dirty="0" err="1"/>
              <a:t>one</a:t>
            </a:r>
            <a:r>
              <a:rPr lang="nl-NL" b="1" u="sng" dirty="0"/>
              <a:t> class, </a:t>
            </a:r>
            <a:r>
              <a:rPr lang="nl-NL" b="1" u="sng" dirty="0" err="1"/>
              <a:t>it</a:t>
            </a:r>
            <a:r>
              <a:rPr lang="nl-NL" b="1" u="sng" dirty="0"/>
              <a:t> </a:t>
            </a:r>
            <a:r>
              <a:rPr lang="nl-NL" b="1" u="sng" dirty="0" err="1"/>
              <a:t>confuses</a:t>
            </a:r>
            <a:r>
              <a:rPr lang="nl-NL" b="1" u="sng" dirty="0"/>
              <a:t> </a:t>
            </a:r>
            <a:r>
              <a:rPr lang="nl-NL" b="1" u="sng" dirty="0" err="1"/>
              <a:t>the</a:t>
            </a:r>
            <a:r>
              <a:rPr lang="nl-NL" b="1" u="sng" dirty="0"/>
              <a:t> model</a:t>
            </a:r>
            <a:r>
              <a:rPr lang="nl-NL" dirty="0"/>
              <a:t>. (</a:t>
            </a:r>
            <a:r>
              <a:rPr lang="nl-NL" dirty="0" err="1"/>
              <a:t>therefore</a:t>
            </a:r>
            <a:r>
              <a:rPr lang="nl-NL" dirty="0"/>
              <a:t> no </a:t>
            </a:r>
            <a:r>
              <a:rPr lang="nl-NL" dirty="0" err="1"/>
              <a:t>fixed</a:t>
            </a:r>
            <a:r>
              <a:rPr lang="nl-NL" dirty="0"/>
              <a:t> feature in </a:t>
            </a:r>
            <a:r>
              <a:rPr lang="nl-NL" dirty="0" err="1"/>
              <a:t>one</a:t>
            </a:r>
            <a:r>
              <a:rPr lang="nl-NL" dirty="0"/>
              <a:t> class)</a:t>
            </a:r>
          </a:p>
          <a:p>
            <a:pPr marL="342900" indent="-342900">
              <a:buAutoNum type="arabicParenBoth"/>
            </a:pPr>
            <a:endParaRPr lang="nl-NL" dirty="0"/>
          </a:p>
          <a:p>
            <a:pPr marL="342900" indent="-342900">
              <a:buAutoNum type="arabicParenBoth"/>
            </a:pPr>
            <a:r>
              <a:rPr lang="nl-NL" altLang="zh-CN" b="1" u="sng" dirty="0"/>
              <a:t>CNN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can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tell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things</a:t>
            </a:r>
            <a:r>
              <a:rPr lang="zh-CN" altLang="nl-NL" b="1" u="sng" dirty="0"/>
              <a:t> </a:t>
            </a:r>
            <a:r>
              <a:rPr lang="nl-NL" altLang="zh-CN" b="1" u="sng" dirty="0"/>
              <a:t>apart</a:t>
            </a:r>
            <a:r>
              <a:rPr lang="zh-CN" altLang="nl-NL" b="1" u="sng" dirty="0"/>
              <a:t> </a:t>
            </a:r>
            <a:r>
              <a:rPr lang="nl-NL" altLang="zh-CN" b="1" u="sng" dirty="0"/>
              <a:t>even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with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occlusion</a:t>
            </a:r>
            <a:r>
              <a:rPr lang="nl-NL" altLang="zh-CN" b="1" u="sng" dirty="0"/>
              <a:t>,</a:t>
            </a:r>
            <a:r>
              <a:rPr lang="zh-CN" altLang="nl-NL" b="1" u="sng" dirty="0"/>
              <a:t> </a:t>
            </a:r>
            <a:r>
              <a:rPr lang="nl-NL" altLang="zh-CN" b="1" u="sng" dirty="0"/>
              <a:t>but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not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which</a:t>
            </a:r>
            <a:r>
              <a:rPr lang="zh-CN" altLang="nl-NL" b="1" u="sng" dirty="0"/>
              <a:t> </a:t>
            </a:r>
            <a:r>
              <a:rPr lang="nl-NL" altLang="zh-CN" b="1" u="sng" dirty="0" err="1"/>
              <a:t>one</a:t>
            </a:r>
            <a:r>
              <a:rPr lang="nl-NL" altLang="zh-CN" b="1" u="sng" dirty="0"/>
              <a:t> is on </a:t>
            </a:r>
            <a:r>
              <a:rPr lang="nl-NL" altLang="zh-CN" b="1" u="sng" dirty="0" err="1"/>
              <a:t>the</a:t>
            </a:r>
            <a:r>
              <a:rPr lang="nl-NL" altLang="zh-CN" b="1" u="sng" dirty="0"/>
              <a:t> top. </a:t>
            </a:r>
            <a:r>
              <a:rPr lang="nl-NL" altLang="zh-CN" dirty="0"/>
              <a:t>CNN looks </a:t>
            </a:r>
            <a:r>
              <a:rPr lang="nl-NL" altLang="zh-CN" dirty="0" err="1"/>
              <a:t>into</a:t>
            </a:r>
            <a:r>
              <a:rPr lang="nl-NL" altLang="zh-CN" dirty="0"/>
              <a:t> pixel </a:t>
            </a:r>
            <a:r>
              <a:rPr lang="nl-NL" altLang="zh-CN" dirty="0" err="1"/>
              <a:t>values</a:t>
            </a:r>
            <a:r>
              <a:rPr lang="nl-NL" altLang="zh-CN" dirty="0"/>
              <a:t> </a:t>
            </a:r>
            <a:r>
              <a:rPr lang="nl-NL" altLang="zh-CN" dirty="0" err="1"/>
              <a:t>that</a:t>
            </a:r>
            <a:r>
              <a:rPr lang="nl-NL" altLang="zh-CN" dirty="0"/>
              <a:t> follow a </a:t>
            </a:r>
            <a:r>
              <a:rPr lang="nl-NL" altLang="zh-CN" dirty="0" err="1"/>
              <a:t>specific</a:t>
            </a:r>
            <a:r>
              <a:rPr lang="nl-NL" altLang="zh-CN" dirty="0"/>
              <a:t> </a:t>
            </a:r>
            <a:r>
              <a:rPr lang="nl-NL" altLang="zh-CN" dirty="0" err="1"/>
              <a:t>rules</a:t>
            </a:r>
            <a:r>
              <a:rPr lang="nl-NL" altLang="zh-CN" dirty="0"/>
              <a:t>, </a:t>
            </a:r>
            <a:r>
              <a:rPr lang="nl-NL" altLang="zh-CN" dirty="0" err="1"/>
              <a:t>so</a:t>
            </a:r>
            <a:r>
              <a:rPr lang="nl-NL" altLang="zh-CN" dirty="0"/>
              <a:t> </a:t>
            </a:r>
            <a:r>
              <a:rPr lang="nl-NL" altLang="zh-CN" dirty="0" err="1"/>
              <a:t>it</a:t>
            </a:r>
            <a:r>
              <a:rPr lang="nl-NL" altLang="zh-CN" dirty="0"/>
              <a:t> </a:t>
            </a:r>
            <a:r>
              <a:rPr lang="nl-NL" altLang="zh-CN" dirty="0" err="1"/>
              <a:t>can</a:t>
            </a:r>
            <a:r>
              <a:rPr lang="nl-NL" altLang="zh-CN" dirty="0"/>
              <a:t> </a:t>
            </a:r>
            <a:r>
              <a:rPr lang="nl-NL" altLang="zh-CN" dirty="0" err="1"/>
              <a:t>tell</a:t>
            </a:r>
            <a:r>
              <a:rPr lang="nl-NL" altLang="zh-CN" dirty="0"/>
              <a:t> </a:t>
            </a:r>
            <a:r>
              <a:rPr lang="nl-NL" altLang="zh-CN" dirty="0" err="1"/>
              <a:t>flowers</a:t>
            </a:r>
            <a:r>
              <a:rPr lang="nl-NL" altLang="zh-CN" dirty="0"/>
              <a:t>, </a:t>
            </a:r>
            <a:r>
              <a:rPr lang="nl-NL" altLang="zh-CN" dirty="0" err="1"/>
              <a:t>leaves</a:t>
            </a:r>
            <a:r>
              <a:rPr lang="nl-NL" altLang="zh-CN" dirty="0"/>
              <a:t>, </a:t>
            </a:r>
            <a:r>
              <a:rPr lang="nl-NL" altLang="zh-CN" dirty="0" err="1"/>
              <a:t>and</a:t>
            </a:r>
            <a:r>
              <a:rPr lang="nl-NL" altLang="zh-CN" dirty="0"/>
              <a:t> stem apart, as </a:t>
            </a:r>
            <a:r>
              <a:rPr lang="nl-NL" altLang="zh-CN" dirty="0" err="1"/>
              <a:t>they</a:t>
            </a:r>
            <a:r>
              <a:rPr lang="nl-NL" altLang="zh-CN" dirty="0"/>
              <a:t> have different </a:t>
            </a:r>
            <a:r>
              <a:rPr lang="nl-NL" altLang="zh-CN" dirty="0" err="1"/>
              <a:t>colors</a:t>
            </a:r>
            <a:r>
              <a:rPr lang="nl-NL" altLang="zh-CN" dirty="0"/>
              <a:t>/</a:t>
            </a:r>
            <a:r>
              <a:rPr lang="nl-NL" altLang="zh-CN" dirty="0" err="1"/>
              <a:t>textures</a:t>
            </a:r>
            <a:r>
              <a:rPr lang="nl-NL" altLang="zh-CN" dirty="0"/>
              <a:t> /</a:t>
            </a:r>
            <a:r>
              <a:rPr lang="nl-NL" altLang="zh-CN" dirty="0" err="1"/>
              <a:t>contours</a:t>
            </a:r>
            <a:r>
              <a:rPr lang="nl-NL" altLang="zh-CN" dirty="0"/>
              <a:t>. But </a:t>
            </a:r>
            <a:r>
              <a:rPr lang="nl-NL" altLang="zh-CN" dirty="0" err="1"/>
              <a:t>the</a:t>
            </a:r>
            <a:r>
              <a:rPr lang="nl-NL" altLang="zh-CN" dirty="0"/>
              <a:t> 2D image </a:t>
            </a:r>
            <a:r>
              <a:rPr lang="nl-NL" altLang="zh-CN" dirty="0" err="1"/>
              <a:t>rarely</a:t>
            </a:r>
            <a:r>
              <a:rPr lang="nl-NL" altLang="zh-CN" dirty="0"/>
              <a:t> </a:t>
            </a:r>
            <a:r>
              <a:rPr lang="nl-NL" altLang="zh-CN" dirty="0" err="1"/>
              <a:t>includes</a:t>
            </a:r>
            <a:r>
              <a:rPr lang="nl-NL" altLang="zh-CN" dirty="0"/>
              <a:t> </a:t>
            </a:r>
            <a:r>
              <a:rPr lang="nl-NL" altLang="zh-CN" dirty="0" err="1"/>
              <a:t>depth</a:t>
            </a:r>
            <a:r>
              <a:rPr lang="nl-NL" altLang="zh-CN" dirty="0"/>
              <a:t> information, </a:t>
            </a:r>
            <a:r>
              <a:rPr lang="nl-NL" altLang="zh-CN" dirty="0" err="1"/>
              <a:t>because</a:t>
            </a:r>
            <a:r>
              <a:rPr lang="nl-NL" altLang="zh-CN" dirty="0"/>
              <a:t> pixel </a:t>
            </a:r>
            <a:r>
              <a:rPr lang="nl-NL" altLang="zh-CN" dirty="0" err="1"/>
              <a:t>values</a:t>
            </a:r>
            <a:r>
              <a:rPr lang="nl-NL" altLang="zh-CN" dirty="0"/>
              <a:t> have </a:t>
            </a:r>
            <a:r>
              <a:rPr lang="nl-NL" altLang="zh-CN" dirty="0" err="1"/>
              <a:t>little</a:t>
            </a:r>
            <a:r>
              <a:rPr lang="nl-NL" altLang="zh-CN" dirty="0"/>
              <a:t> </a:t>
            </a:r>
            <a:r>
              <a:rPr lang="nl-NL" altLang="zh-CN" dirty="0" err="1"/>
              <a:t>to</a:t>
            </a:r>
            <a:r>
              <a:rPr lang="nl-NL" altLang="zh-CN" dirty="0"/>
              <a:t> do </a:t>
            </a:r>
            <a:r>
              <a:rPr lang="nl-NL" altLang="zh-CN" dirty="0" err="1"/>
              <a:t>with</a:t>
            </a:r>
            <a:r>
              <a:rPr lang="nl-NL" altLang="zh-CN" dirty="0"/>
              <a:t> </a:t>
            </a:r>
            <a:r>
              <a:rPr lang="nl-NL" altLang="zh-CN" dirty="0" err="1"/>
              <a:t>layer</a:t>
            </a:r>
            <a:r>
              <a:rPr lang="nl-NL" altLang="zh-CN" dirty="0"/>
              <a:t> </a:t>
            </a:r>
            <a:r>
              <a:rPr lang="nl-NL" altLang="zh-CN" dirty="0" err="1"/>
              <a:t>hierarchy</a:t>
            </a:r>
            <a:r>
              <a:rPr lang="nl-NL" altLang="zh-CN" dirty="0"/>
              <a:t>. </a:t>
            </a:r>
            <a:r>
              <a:rPr lang="nl-NL" altLang="zh-CN" dirty="0" err="1"/>
              <a:t>Only</a:t>
            </a:r>
            <a:r>
              <a:rPr lang="nl-NL" altLang="zh-CN" dirty="0"/>
              <a:t> human </a:t>
            </a:r>
            <a:r>
              <a:rPr lang="nl-NL" altLang="zh-CN" dirty="0" err="1"/>
              <a:t>eyes</a:t>
            </a:r>
            <a:r>
              <a:rPr lang="nl-NL" altLang="zh-CN" dirty="0"/>
              <a:t> </a:t>
            </a:r>
            <a:r>
              <a:rPr lang="nl-NL" altLang="zh-CN" dirty="0" err="1"/>
              <a:t>can</a:t>
            </a:r>
            <a:r>
              <a:rPr lang="nl-NL" altLang="zh-CN" dirty="0"/>
              <a:t> </a:t>
            </a:r>
            <a:r>
              <a:rPr lang="nl-NL" altLang="zh-CN" dirty="0" err="1"/>
              <a:t>tell</a:t>
            </a:r>
            <a:r>
              <a:rPr lang="nl-NL" altLang="zh-CN" dirty="0"/>
              <a:t> </a:t>
            </a:r>
            <a:r>
              <a:rPr lang="nl-NL" altLang="zh-CN" dirty="0" err="1"/>
              <a:t>it</a:t>
            </a:r>
            <a:r>
              <a:rPr lang="nl-NL" altLang="zh-CN" dirty="0"/>
              <a:t> </a:t>
            </a:r>
            <a:r>
              <a:rPr lang="nl-NL" altLang="zh-CN" dirty="0" err="1"/>
              <a:t>by</a:t>
            </a:r>
            <a:r>
              <a:rPr lang="nl-NL" altLang="zh-CN" dirty="0"/>
              <a:t> </a:t>
            </a:r>
            <a:r>
              <a:rPr lang="nl-NL" altLang="zh-CN" dirty="0" err="1"/>
              <a:t>little</a:t>
            </a:r>
            <a:r>
              <a:rPr lang="nl-NL" altLang="zh-CN" dirty="0"/>
              <a:t> changes of </a:t>
            </a:r>
            <a:r>
              <a:rPr lang="nl-NL" altLang="zh-CN" dirty="0" err="1"/>
              <a:t>brightness</a:t>
            </a:r>
            <a:r>
              <a:rPr lang="nl-NL" altLang="zh-CN" dirty="0"/>
              <a:t>, </a:t>
            </a:r>
            <a:r>
              <a:rPr lang="nl-NL" altLang="zh-CN" dirty="0" err="1"/>
              <a:t>shadow</a:t>
            </a:r>
            <a:r>
              <a:rPr lang="nl-NL" altLang="zh-CN" dirty="0"/>
              <a:t> </a:t>
            </a:r>
            <a:r>
              <a:rPr lang="nl-NL" altLang="zh-CN" dirty="0" err="1"/>
              <a:t>and</a:t>
            </a:r>
            <a:r>
              <a:rPr lang="nl-NL" altLang="zh-CN" dirty="0"/>
              <a:t> </a:t>
            </a:r>
            <a:r>
              <a:rPr lang="nl-NL" altLang="zh-CN" dirty="0" err="1"/>
              <a:t>specific</a:t>
            </a:r>
            <a:r>
              <a:rPr lang="nl-NL" altLang="zh-CN" dirty="0"/>
              <a:t> overlapping mode. </a:t>
            </a:r>
            <a:r>
              <a:rPr lang="nl-NL" altLang="zh-CN" dirty="0" err="1"/>
              <a:t>Thus</a:t>
            </a:r>
            <a:r>
              <a:rPr lang="nl-NL" altLang="zh-CN" dirty="0"/>
              <a:t>, </a:t>
            </a:r>
            <a:r>
              <a:rPr lang="nl-NL" altLang="zh-CN" dirty="0" err="1"/>
              <a:t>for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model, </a:t>
            </a:r>
            <a:r>
              <a:rPr lang="nl-NL" altLang="zh-CN" dirty="0" err="1"/>
              <a:t>flowers</a:t>
            </a:r>
            <a:r>
              <a:rPr lang="nl-NL" altLang="zh-CN" dirty="0"/>
              <a:t> at top </a:t>
            </a:r>
            <a:r>
              <a:rPr lang="nl-NL" altLang="zh-CN" dirty="0" err="1"/>
              <a:t>and</a:t>
            </a:r>
            <a:r>
              <a:rPr lang="nl-NL" altLang="zh-CN" dirty="0"/>
              <a:t> </a:t>
            </a:r>
            <a:r>
              <a:rPr lang="nl-NL" altLang="zh-CN" dirty="0" err="1"/>
              <a:t>bottom</a:t>
            </a:r>
            <a:r>
              <a:rPr lang="nl-NL" altLang="zh-CN" dirty="0"/>
              <a:t> are </a:t>
            </a:r>
            <a:r>
              <a:rPr lang="nl-NL" altLang="zh-CN" dirty="0" err="1"/>
              <a:t>generally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same</a:t>
            </a:r>
            <a:r>
              <a:rPr lang="nl-NL" altLang="zh-CN" dirty="0"/>
              <a:t>.</a:t>
            </a:r>
            <a:endParaRPr lang="nl-NL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1437D88-8BE3-50FB-4324-950CF11717D6}"/>
              </a:ext>
            </a:extLst>
          </p:cNvPr>
          <p:cNvSpPr txBox="1"/>
          <p:nvPr/>
        </p:nvSpPr>
        <p:spPr>
          <a:xfrm>
            <a:off x="91387" y="141012"/>
            <a:ext cx="10414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1" dirty="0" err="1"/>
              <a:t>Conclusion</a:t>
            </a:r>
            <a:r>
              <a:rPr lang="nl-NL" sz="2000" b="1" dirty="0"/>
              <a:t>: End </a:t>
            </a:r>
            <a:r>
              <a:rPr lang="nl-NL" sz="2000" b="1" dirty="0" err="1"/>
              <a:t>to</a:t>
            </a:r>
            <a:r>
              <a:rPr lang="nl-NL" sz="2000" b="1" dirty="0"/>
              <a:t> end model is </a:t>
            </a:r>
            <a:r>
              <a:rPr lang="nl-NL" sz="2000" b="1" dirty="0" err="1"/>
              <a:t>unable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learn</a:t>
            </a:r>
            <a:r>
              <a:rPr lang="nl-NL" sz="2000" b="1" dirty="0"/>
              <a:t> </a:t>
            </a:r>
            <a:r>
              <a:rPr lang="nl-NL" sz="2000" b="1" dirty="0" err="1"/>
              <a:t>the</a:t>
            </a:r>
            <a:r>
              <a:rPr lang="nl-NL" sz="2000" b="1" dirty="0"/>
              <a:t> feature of </a:t>
            </a:r>
            <a:r>
              <a:rPr lang="nl-NL" sz="2000" b="1" dirty="0" err="1"/>
              <a:t>the</a:t>
            </a:r>
            <a:r>
              <a:rPr lang="nl-NL" sz="2000" b="1" dirty="0"/>
              <a:t> </a:t>
            </a:r>
            <a:r>
              <a:rPr lang="nl-NL" sz="2000" b="1" dirty="0" err="1"/>
              <a:t>stems</a:t>
            </a:r>
            <a:r>
              <a:rPr lang="nl-NL" sz="2000" b="1" dirty="0"/>
              <a:t> on </a:t>
            </a:r>
            <a:r>
              <a:rPr lang="nl-NL" sz="2000" b="1" dirty="0" err="1"/>
              <a:t>the</a:t>
            </a:r>
            <a:r>
              <a:rPr lang="nl-NL" sz="2000" b="1" dirty="0"/>
              <a:t> top!</a:t>
            </a:r>
          </a:p>
        </p:txBody>
      </p:sp>
      <p:pic>
        <p:nvPicPr>
          <p:cNvPr id="3" name="图片 2" descr="图片包含 桌子, 花, 蓝色, 游戏机&#10;&#10;AI 生成的内容可能不正确。">
            <a:extLst>
              <a:ext uri="{FF2B5EF4-FFF2-40B4-BE49-F238E27FC236}">
                <a16:creationId xmlns:a16="http://schemas.microsoft.com/office/drawing/2014/main" id="{7FFD00E2-81A3-44B2-D731-DA013BE49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78" y="652124"/>
            <a:ext cx="4516797" cy="2932782"/>
          </a:xfrm>
          <a:prstGeom prst="rect">
            <a:avLst/>
          </a:prstGeom>
        </p:spPr>
      </p:pic>
      <p:pic>
        <p:nvPicPr>
          <p:cNvPr id="5" name="图片 4" descr="蓝色花瓶里插满了鲜花&#10;&#10;AI 生成的内容可能不正确。">
            <a:extLst>
              <a:ext uri="{FF2B5EF4-FFF2-40B4-BE49-F238E27FC236}">
                <a16:creationId xmlns:a16="http://schemas.microsoft.com/office/drawing/2014/main" id="{D0383D11-6113-025D-0742-5996D44654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3135"/>
            <a:ext cx="3474503" cy="2904864"/>
          </a:xfrm>
          <a:prstGeom prst="rect">
            <a:avLst/>
          </a:prstGeom>
        </p:spPr>
      </p:pic>
      <p:pic>
        <p:nvPicPr>
          <p:cNvPr id="9" name="图片 8" descr="绿色的叶子&#10;&#10;AI 生成的内容可能不正确。">
            <a:extLst>
              <a:ext uri="{FF2B5EF4-FFF2-40B4-BE49-F238E27FC236}">
                <a16:creationId xmlns:a16="http://schemas.microsoft.com/office/drawing/2014/main" id="{DD1C1A2E-E774-C446-6C00-4DAADF5A5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023" y="4268227"/>
            <a:ext cx="2332423" cy="23676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EF30DF-0CF3-AC7B-5F63-122167D67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970" y="422388"/>
            <a:ext cx="764745" cy="266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7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DA27-E92A-F623-4D30-64FADD3E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ECD65F7E-C789-270D-E8C8-B0FD2054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0"/>
            <a:ext cx="6111059" cy="6857999"/>
          </a:xfrm>
          <a:prstGeom prst="rect">
            <a:avLst/>
          </a:prstGeom>
        </p:spPr>
      </p:pic>
      <p:sp>
        <p:nvSpPr>
          <p:cNvPr id="126" name="文本框 125">
            <a:extLst>
              <a:ext uri="{FF2B5EF4-FFF2-40B4-BE49-F238E27FC236}">
                <a16:creationId xmlns:a16="http://schemas.microsoft.com/office/drawing/2014/main" id="{65A6EE5D-CCC4-661F-D20F-F703C0D322EE}"/>
              </a:ext>
            </a:extLst>
          </p:cNvPr>
          <p:cNvSpPr txBox="1"/>
          <p:nvPr/>
        </p:nvSpPr>
        <p:spPr>
          <a:xfrm>
            <a:off x="-15059" y="336228"/>
            <a:ext cx="8003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Real-time six degrees of freedom grasping of deformable poultry legs in cluttered bins using deep learning and geometric feature extraction</a:t>
            </a:r>
            <a:endParaRPr lang="nl-NL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4C214C-13C0-586B-8ECC-F009B74F5A54}"/>
              </a:ext>
            </a:extLst>
          </p:cNvPr>
          <p:cNvSpPr txBox="1"/>
          <p:nvPr/>
        </p:nvSpPr>
        <p:spPr>
          <a:xfrm>
            <a:off x="250413" y="6096272"/>
            <a:ext cx="886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000" b="1" dirty="0" err="1"/>
              <a:t>Mask</a:t>
            </a:r>
            <a:r>
              <a:rPr lang="nl-NL" altLang="zh-CN" sz="2000" b="1" dirty="0"/>
              <a:t>-RCNN + State of Art </a:t>
            </a:r>
            <a:r>
              <a:rPr lang="nl-NL" altLang="zh-CN" sz="2000" b="1" dirty="0" err="1"/>
              <a:t>method</a:t>
            </a:r>
            <a:r>
              <a:rPr lang="nl-NL" altLang="zh-CN" sz="2000" b="1" dirty="0"/>
              <a:t>!</a:t>
            </a:r>
            <a:endParaRPr lang="nl-NL" sz="20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CE5109-C9BE-EBE2-9EC3-A22CC434D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777" y="4929791"/>
            <a:ext cx="3204768" cy="16562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07F941-C072-093E-1C0F-7A6925316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361" y="2572609"/>
            <a:ext cx="3601948" cy="18695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2D10777-27CE-A23E-785B-DD5F5A7B9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940" y="472291"/>
            <a:ext cx="4300060" cy="1496589"/>
          </a:xfrm>
          <a:prstGeom prst="rect">
            <a:avLst/>
          </a:prstGeom>
        </p:spPr>
      </p:pic>
      <p:pic>
        <p:nvPicPr>
          <p:cNvPr id="16" name="图片 15" descr="日程表&#10;&#10;AI 生成的内容可能不正确。">
            <a:extLst>
              <a:ext uri="{FF2B5EF4-FFF2-40B4-BE49-F238E27FC236}">
                <a16:creationId xmlns:a16="http://schemas.microsoft.com/office/drawing/2014/main" id="{BEFDBC2B-AB32-4914-7C95-C62AA030D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7" y="1237064"/>
            <a:ext cx="7907406" cy="455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2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372C-4C44-7DD3-1253-E63B59B7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F6C7F61B-B7BB-6984-FAE4-F17E385B9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0"/>
            <a:ext cx="6111059" cy="68579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117DEE7-DEBC-5860-2E3B-2C49220A2802}"/>
              </a:ext>
            </a:extLst>
          </p:cNvPr>
          <p:cNvSpPr txBox="1"/>
          <p:nvPr/>
        </p:nvSpPr>
        <p:spPr>
          <a:xfrm>
            <a:off x="7091006" y="1313691"/>
            <a:ext cx="36391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Step 1:</a:t>
            </a:r>
          </a:p>
          <a:p>
            <a:r>
              <a:rPr lang="nl-NL" dirty="0"/>
              <a:t>(1) </a:t>
            </a:r>
            <a:r>
              <a:rPr lang="nl-NL" dirty="0" err="1"/>
              <a:t>Annotate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altLang="zh-CN" dirty="0" err="1"/>
              <a:t>flowers</a:t>
            </a:r>
            <a:r>
              <a:rPr lang="nl-NL" altLang="zh-CN" dirty="0"/>
              <a:t> as class “</a:t>
            </a:r>
            <a:r>
              <a:rPr lang="nl-NL" altLang="zh-CN" dirty="0" err="1"/>
              <a:t>flower</a:t>
            </a:r>
            <a:r>
              <a:rPr lang="nl-NL" altLang="zh-CN" dirty="0"/>
              <a:t>”.</a:t>
            </a:r>
          </a:p>
          <a:p>
            <a:r>
              <a:rPr lang="nl-NL" dirty="0"/>
              <a:t>(2) </a:t>
            </a:r>
            <a:r>
              <a:rPr lang="nl-NL" dirty="0" err="1"/>
              <a:t>Annotate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stem fragment as class “stem”.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625E87-647A-8F21-CB8D-C8CDB8A505F1}"/>
              </a:ext>
            </a:extLst>
          </p:cNvPr>
          <p:cNvSpPr txBox="1"/>
          <p:nvPr/>
        </p:nvSpPr>
        <p:spPr>
          <a:xfrm>
            <a:off x="0" y="117791"/>
            <a:ext cx="886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000" b="1" dirty="0"/>
              <a:t>We do </a:t>
            </a:r>
            <a:r>
              <a:rPr lang="nl-NL" altLang="zh-CN" sz="2000" b="1" dirty="0" err="1"/>
              <a:t>need</a:t>
            </a:r>
            <a:r>
              <a:rPr lang="nl-NL" altLang="zh-CN" sz="2000" b="1" dirty="0"/>
              <a:t> State of Art </a:t>
            </a:r>
            <a:r>
              <a:rPr lang="nl-NL" altLang="zh-CN" sz="2000" b="1" dirty="0" err="1"/>
              <a:t>method</a:t>
            </a:r>
            <a:r>
              <a:rPr lang="nl-NL" altLang="zh-CN" sz="2000" b="1" dirty="0"/>
              <a:t>!</a:t>
            </a:r>
            <a:endParaRPr lang="nl-NL" sz="2000" b="1" dirty="0"/>
          </a:p>
        </p:txBody>
      </p:sp>
      <p:pic>
        <p:nvPicPr>
          <p:cNvPr id="5" name="图片 4" descr="蓝色的花&#10;&#10;AI 生成的内容可能不正确。">
            <a:extLst>
              <a:ext uri="{FF2B5EF4-FFF2-40B4-BE49-F238E27FC236}">
                <a16:creationId xmlns:a16="http://schemas.microsoft.com/office/drawing/2014/main" id="{DD14285F-123E-B508-794D-ABBA34DAF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1" y="652524"/>
            <a:ext cx="6045345" cy="607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8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D3D75-EB45-5A25-BF80-284C43FF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BAE50C82-5809-F6C5-1736-FFEB36CF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-5310"/>
            <a:ext cx="6111059" cy="68579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9D76C0-886C-A881-4033-E56BBEAE33F2}"/>
              </a:ext>
            </a:extLst>
          </p:cNvPr>
          <p:cNvSpPr txBox="1"/>
          <p:nvPr/>
        </p:nvSpPr>
        <p:spPr>
          <a:xfrm>
            <a:off x="7067966" y="1221355"/>
            <a:ext cx="43431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Step 2:</a:t>
            </a:r>
          </a:p>
          <a:p>
            <a:pPr marL="342900" indent="-342900">
              <a:buAutoNum type="arabicParenBoth"/>
            </a:pPr>
            <a:r>
              <a:rPr lang="nl-NL" dirty="0" err="1"/>
              <a:t>Flower</a:t>
            </a:r>
            <a:r>
              <a:rPr lang="nl-NL" dirty="0"/>
              <a:t> as anchor, we </a:t>
            </a:r>
            <a:r>
              <a:rPr lang="nl-NL" dirty="0" err="1"/>
              <a:t>propose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stem line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(stem line 1-k)</a:t>
            </a:r>
          </a:p>
          <a:p>
            <a:pPr marL="342900" indent="-342900">
              <a:buAutoNum type="arabicParenBoth"/>
            </a:pPr>
            <a:endParaRPr lang="nl-NL" dirty="0"/>
          </a:p>
          <a:p>
            <a:pPr marL="342900" indent="-342900">
              <a:buAutoNum type="arabicParenBoth"/>
            </a:pPr>
            <a:r>
              <a:rPr lang="nl-NL" altLang="zh-CN" dirty="0"/>
              <a:t>For </a:t>
            </a:r>
            <a:r>
              <a:rPr lang="nl-NL" altLang="zh-CN" dirty="0" err="1"/>
              <a:t>each</a:t>
            </a:r>
            <a:r>
              <a:rPr lang="nl-NL" altLang="zh-CN" dirty="0"/>
              <a:t> stem </a:t>
            </a:r>
            <a:r>
              <a:rPr lang="nl-NL" altLang="zh-CN" dirty="0" err="1"/>
              <a:t>segmentation</a:t>
            </a:r>
            <a:r>
              <a:rPr lang="nl-NL" altLang="zh-CN" dirty="0"/>
              <a:t>, we </a:t>
            </a:r>
            <a:r>
              <a:rPr lang="nl-NL" altLang="zh-CN" dirty="0" err="1"/>
              <a:t>need</a:t>
            </a:r>
            <a:r>
              <a:rPr lang="nl-NL" altLang="zh-CN" dirty="0"/>
              <a:t>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find</a:t>
            </a:r>
            <a:r>
              <a:rPr lang="nl-NL" altLang="zh-CN" dirty="0"/>
              <a:t> </a:t>
            </a:r>
            <a:r>
              <a:rPr lang="nl-NL" altLang="zh-CN" dirty="0" err="1"/>
              <a:t>which</a:t>
            </a:r>
            <a:r>
              <a:rPr lang="nl-NL" altLang="zh-CN" dirty="0"/>
              <a:t> stem line </a:t>
            </a:r>
            <a:r>
              <a:rPr lang="nl-NL" altLang="zh-CN" dirty="0" err="1"/>
              <a:t>it</a:t>
            </a:r>
            <a:r>
              <a:rPr lang="nl-NL" altLang="zh-CN" dirty="0"/>
              <a:t> </a:t>
            </a:r>
            <a:r>
              <a:rPr lang="nl-NL" altLang="zh-CN" dirty="0" err="1"/>
              <a:t>belongs</a:t>
            </a:r>
            <a:r>
              <a:rPr lang="nl-NL" altLang="zh-CN" dirty="0"/>
              <a:t> </a:t>
            </a:r>
            <a:r>
              <a:rPr lang="nl-NL" altLang="zh-CN" dirty="0" err="1"/>
              <a:t>to</a:t>
            </a:r>
            <a:r>
              <a:rPr lang="nl-NL" altLang="zh-CN" dirty="0"/>
              <a:t>. </a:t>
            </a:r>
            <a:r>
              <a:rPr lang="nl-NL" altLang="zh-CN" dirty="0" err="1"/>
              <a:t>By</a:t>
            </a:r>
            <a:r>
              <a:rPr lang="nl-NL" altLang="zh-CN" dirty="0"/>
              <a:t> </a:t>
            </a:r>
            <a:r>
              <a:rPr lang="nl-NL" altLang="zh-CN" dirty="0" err="1"/>
              <a:t>calculating</a:t>
            </a:r>
            <a:r>
              <a:rPr lang="nl-NL" altLang="zh-CN" dirty="0"/>
              <a:t> v = (</a:t>
            </a:r>
            <a:r>
              <a:rPr lang="nl-NL" altLang="zh-CN" dirty="0" err="1"/>
              <a:t>l_p</a:t>
            </a:r>
            <a:r>
              <a:rPr lang="nl-NL" altLang="zh-CN" dirty="0"/>
              <a:t>)/d, </a:t>
            </a:r>
            <a:r>
              <a:rPr lang="nl-NL" altLang="zh-CN" dirty="0" err="1"/>
              <a:t>the</a:t>
            </a:r>
            <a:r>
              <a:rPr lang="nl-NL" altLang="zh-CN" dirty="0"/>
              <a:t> </a:t>
            </a:r>
            <a:r>
              <a:rPr lang="nl-NL" altLang="zh-CN" dirty="0" err="1"/>
              <a:t>proposed</a:t>
            </a:r>
            <a:r>
              <a:rPr lang="nl-NL" altLang="zh-CN" dirty="0"/>
              <a:t> stem line </a:t>
            </a:r>
            <a:r>
              <a:rPr lang="nl-NL" altLang="zh-CN" dirty="0" err="1"/>
              <a:t>with</a:t>
            </a:r>
            <a:r>
              <a:rPr lang="nl-NL" altLang="zh-CN" dirty="0"/>
              <a:t> </a:t>
            </a:r>
            <a:r>
              <a:rPr lang="nl-NL" altLang="zh-CN" dirty="0" err="1"/>
              <a:t>largest</a:t>
            </a:r>
            <a:r>
              <a:rPr lang="nl-NL" altLang="zh-CN" dirty="0"/>
              <a:t> v </a:t>
            </a:r>
            <a:r>
              <a:rPr lang="nl-NL" altLang="zh-CN" dirty="0" err="1"/>
              <a:t>occupies</a:t>
            </a:r>
            <a:r>
              <a:rPr lang="nl-NL" altLang="zh-CN" dirty="0"/>
              <a:t> </a:t>
            </a:r>
            <a:r>
              <a:rPr lang="nl-NL" altLang="zh-CN" dirty="0" err="1"/>
              <a:t>this</a:t>
            </a:r>
            <a:r>
              <a:rPr lang="nl-NL" altLang="zh-CN" dirty="0"/>
              <a:t> stem line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1A2078-8B46-62F8-C9FF-1367BD2090C2}"/>
              </a:ext>
            </a:extLst>
          </p:cNvPr>
          <p:cNvSpPr txBox="1"/>
          <p:nvPr/>
        </p:nvSpPr>
        <p:spPr>
          <a:xfrm>
            <a:off x="0" y="117791"/>
            <a:ext cx="886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000" b="1" dirty="0"/>
              <a:t>We do </a:t>
            </a:r>
            <a:r>
              <a:rPr lang="nl-NL" altLang="zh-CN" sz="2000" b="1" dirty="0" err="1"/>
              <a:t>need</a:t>
            </a:r>
            <a:r>
              <a:rPr lang="nl-NL" altLang="zh-CN" sz="2000" b="1" dirty="0"/>
              <a:t> State of Art </a:t>
            </a:r>
            <a:r>
              <a:rPr lang="nl-NL" altLang="zh-CN" sz="2000" b="1" dirty="0" err="1"/>
              <a:t>method</a:t>
            </a:r>
            <a:r>
              <a:rPr lang="nl-NL" altLang="zh-CN" sz="2000" b="1" dirty="0"/>
              <a:t>!</a:t>
            </a:r>
            <a:endParaRPr lang="nl-NL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CF2458-1E7B-121B-E1C8-96A80EF6D478}"/>
              </a:ext>
            </a:extLst>
          </p:cNvPr>
          <p:cNvSpPr/>
          <p:nvPr/>
        </p:nvSpPr>
        <p:spPr>
          <a:xfrm>
            <a:off x="415915" y="945507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B2D6F4D8-534A-0618-BD2E-16C0F6D36F29}"/>
              </a:ext>
            </a:extLst>
          </p:cNvPr>
          <p:cNvSpPr/>
          <p:nvPr/>
        </p:nvSpPr>
        <p:spPr>
          <a:xfrm rot="20497929">
            <a:off x="1531620" y="1485900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六边形 6">
            <a:extLst>
              <a:ext uri="{FF2B5EF4-FFF2-40B4-BE49-F238E27FC236}">
                <a16:creationId xmlns:a16="http://schemas.microsoft.com/office/drawing/2014/main" id="{28082DFE-30B5-BE72-D987-28455BF663BB}"/>
              </a:ext>
            </a:extLst>
          </p:cNvPr>
          <p:cNvSpPr/>
          <p:nvPr/>
        </p:nvSpPr>
        <p:spPr>
          <a:xfrm rot="21322415">
            <a:off x="2065898" y="1603648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D88359A-9A9D-C83D-6EE6-A5E42956B263}"/>
              </a:ext>
            </a:extLst>
          </p:cNvPr>
          <p:cNvSpPr/>
          <p:nvPr/>
        </p:nvSpPr>
        <p:spPr>
          <a:xfrm rot="20497929">
            <a:off x="1192114" y="1739757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六边形 8">
            <a:extLst>
              <a:ext uri="{FF2B5EF4-FFF2-40B4-BE49-F238E27FC236}">
                <a16:creationId xmlns:a16="http://schemas.microsoft.com/office/drawing/2014/main" id="{72BA5650-3E47-900E-014C-95C55DBD56FB}"/>
              </a:ext>
            </a:extLst>
          </p:cNvPr>
          <p:cNvSpPr/>
          <p:nvPr/>
        </p:nvSpPr>
        <p:spPr>
          <a:xfrm rot="786602">
            <a:off x="3724958" y="1790852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六边形 9">
            <a:extLst>
              <a:ext uri="{FF2B5EF4-FFF2-40B4-BE49-F238E27FC236}">
                <a16:creationId xmlns:a16="http://schemas.microsoft.com/office/drawing/2014/main" id="{CD5A62B4-D475-ED48-F6B1-F65286B4D109}"/>
              </a:ext>
            </a:extLst>
          </p:cNvPr>
          <p:cNvSpPr/>
          <p:nvPr/>
        </p:nvSpPr>
        <p:spPr>
          <a:xfrm rot="434064">
            <a:off x="2607487" y="1243550"/>
            <a:ext cx="518160" cy="41910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FC3AF608-A017-A64F-AA23-71941D522419}"/>
              </a:ext>
            </a:extLst>
          </p:cNvPr>
          <p:cNvSpPr/>
          <p:nvPr/>
        </p:nvSpPr>
        <p:spPr>
          <a:xfrm rot="1358456">
            <a:off x="3299668" y="1272264"/>
            <a:ext cx="518160" cy="361673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4CA6217-4753-7E7B-DE0F-43B4D2126C64}"/>
              </a:ext>
            </a:extLst>
          </p:cNvPr>
          <p:cNvCxnSpPr/>
          <p:nvPr/>
        </p:nvCxnSpPr>
        <p:spPr>
          <a:xfrm>
            <a:off x="1451194" y="1949307"/>
            <a:ext cx="1028700" cy="304074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E5E797D-E838-1451-FCD8-83128A5F90F8}"/>
              </a:ext>
            </a:extLst>
          </p:cNvPr>
          <p:cNvCxnSpPr/>
          <p:nvPr/>
        </p:nvCxnSpPr>
        <p:spPr>
          <a:xfrm>
            <a:off x="1770637" y="1668792"/>
            <a:ext cx="1028700" cy="304074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7873554-4BD6-F22C-3CAF-9A8530D80CEF}"/>
              </a:ext>
            </a:extLst>
          </p:cNvPr>
          <p:cNvCxnSpPr>
            <a:cxnSpLocks/>
          </p:cNvCxnSpPr>
          <p:nvPr/>
        </p:nvCxnSpPr>
        <p:spPr>
          <a:xfrm>
            <a:off x="2307563" y="1761156"/>
            <a:ext cx="311914" cy="332506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2DBF71D-E7C1-47B2-5AF5-65538D41EA6A}"/>
              </a:ext>
            </a:extLst>
          </p:cNvPr>
          <p:cNvCxnSpPr>
            <a:cxnSpLocks/>
          </p:cNvCxnSpPr>
          <p:nvPr/>
        </p:nvCxnSpPr>
        <p:spPr>
          <a:xfrm flipH="1">
            <a:off x="2389346" y="1425288"/>
            <a:ext cx="496016" cy="323572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2FDAE6B-6534-B8AC-E83D-7971EE89DD3E}"/>
              </a:ext>
            </a:extLst>
          </p:cNvPr>
          <p:cNvCxnSpPr>
            <a:cxnSpLocks/>
          </p:cNvCxnSpPr>
          <p:nvPr/>
        </p:nvCxnSpPr>
        <p:spPr>
          <a:xfrm flipH="1">
            <a:off x="2427610" y="1425288"/>
            <a:ext cx="1131138" cy="273679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D56939D-AD3F-56F0-1720-6ACDF9E8C76D}"/>
              </a:ext>
            </a:extLst>
          </p:cNvPr>
          <p:cNvCxnSpPr>
            <a:cxnSpLocks/>
          </p:cNvCxnSpPr>
          <p:nvPr/>
        </p:nvCxnSpPr>
        <p:spPr>
          <a:xfrm flipH="1">
            <a:off x="3074580" y="1975965"/>
            <a:ext cx="918052" cy="316230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370DC09-7697-AF06-3285-56202C3F0A4F}"/>
              </a:ext>
            </a:extLst>
          </p:cNvPr>
          <p:cNvSpPr/>
          <p:nvPr/>
        </p:nvSpPr>
        <p:spPr>
          <a:xfrm rot="21118936">
            <a:off x="1544194" y="228472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B3891D9-7E28-105A-173A-588904D18B97}"/>
              </a:ext>
            </a:extLst>
          </p:cNvPr>
          <p:cNvSpPr/>
          <p:nvPr/>
        </p:nvSpPr>
        <p:spPr>
          <a:xfrm rot="19968997">
            <a:off x="1798548" y="2957299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4946A2A-287D-0DB6-14EB-ACD0C6CB20A5}"/>
              </a:ext>
            </a:extLst>
          </p:cNvPr>
          <p:cNvSpPr/>
          <p:nvPr/>
        </p:nvSpPr>
        <p:spPr>
          <a:xfrm>
            <a:off x="2026582" y="3707094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80D0C06-A181-3C78-EEA3-F374F98247E2}"/>
              </a:ext>
            </a:extLst>
          </p:cNvPr>
          <p:cNvSpPr/>
          <p:nvPr/>
        </p:nvSpPr>
        <p:spPr>
          <a:xfrm rot="20718790">
            <a:off x="1882181" y="1875748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DFF39F-755B-5D99-C648-AC8DDC94F9E8}"/>
              </a:ext>
            </a:extLst>
          </p:cNvPr>
          <p:cNvSpPr/>
          <p:nvPr/>
        </p:nvSpPr>
        <p:spPr>
          <a:xfrm>
            <a:off x="2597253" y="2922588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AB5C4E6-72A5-C2E1-0ED1-DE17CCEA3B81}"/>
              </a:ext>
            </a:extLst>
          </p:cNvPr>
          <p:cNvSpPr/>
          <p:nvPr/>
        </p:nvSpPr>
        <p:spPr>
          <a:xfrm rot="1326105" flipH="1">
            <a:off x="3162731" y="3848563"/>
            <a:ext cx="45719" cy="1354150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1A02DBD-0DA2-E87F-5F93-361421F1552A}"/>
              </a:ext>
            </a:extLst>
          </p:cNvPr>
          <p:cNvSpPr/>
          <p:nvPr/>
        </p:nvSpPr>
        <p:spPr>
          <a:xfrm>
            <a:off x="2560320" y="444260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8E7CFFD-736A-DEB7-3438-07AA94F53CF4}"/>
              </a:ext>
            </a:extLst>
          </p:cNvPr>
          <p:cNvSpPr/>
          <p:nvPr/>
        </p:nvSpPr>
        <p:spPr>
          <a:xfrm rot="798056">
            <a:off x="3653248" y="2753591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05114DB-48AE-AF76-6146-D87145D89ACD}"/>
              </a:ext>
            </a:extLst>
          </p:cNvPr>
          <p:cNvSpPr/>
          <p:nvPr/>
        </p:nvSpPr>
        <p:spPr>
          <a:xfrm rot="1326105" flipH="1">
            <a:off x="2614496" y="3129603"/>
            <a:ext cx="45719" cy="1354150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DD64241-70AA-DB36-7F05-3E5BDAD2085A}"/>
              </a:ext>
            </a:extLst>
          </p:cNvPr>
          <p:cNvSpPr/>
          <p:nvPr/>
        </p:nvSpPr>
        <p:spPr>
          <a:xfrm>
            <a:off x="2954265" y="2528807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32D8C57-9C7C-87AB-93D8-BF436EA1EEFB}"/>
              </a:ext>
            </a:extLst>
          </p:cNvPr>
          <p:cNvSpPr/>
          <p:nvPr/>
        </p:nvSpPr>
        <p:spPr>
          <a:xfrm>
            <a:off x="2314838" y="2099876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779244D-F50D-22C9-2DF9-D67515474726}"/>
              </a:ext>
            </a:extLst>
          </p:cNvPr>
          <p:cNvSpPr/>
          <p:nvPr/>
        </p:nvSpPr>
        <p:spPr>
          <a:xfrm>
            <a:off x="8798697" y="4409835"/>
            <a:ext cx="186690" cy="1340841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388A788-A490-36D4-E049-50C0F7383FDA}"/>
              </a:ext>
            </a:extLst>
          </p:cNvPr>
          <p:cNvSpPr/>
          <p:nvPr/>
        </p:nvSpPr>
        <p:spPr>
          <a:xfrm rot="20256511">
            <a:off x="2229655" y="2700754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C13F778-B39C-7FD2-5E9A-5CD0BB9C8671}"/>
              </a:ext>
            </a:extLst>
          </p:cNvPr>
          <p:cNvSpPr/>
          <p:nvPr/>
        </p:nvSpPr>
        <p:spPr>
          <a:xfrm rot="798056">
            <a:off x="2731620" y="1748030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36FD66B-4615-6EBD-BBFD-095AE232B521}"/>
              </a:ext>
            </a:extLst>
          </p:cNvPr>
          <p:cNvSpPr/>
          <p:nvPr/>
        </p:nvSpPr>
        <p:spPr>
          <a:xfrm rot="798056">
            <a:off x="3303774" y="1581771"/>
            <a:ext cx="45719" cy="872454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B58C9DB-39E9-C5D5-7D94-494F0FBD5431}"/>
              </a:ext>
            </a:extLst>
          </p:cNvPr>
          <p:cNvSpPr/>
          <p:nvPr/>
        </p:nvSpPr>
        <p:spPr>
          <a:xfrm rot="20757522">
            <a:off x="2711021" y="4148221"/>
            <a:ext cx="68580" cy="525708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722C4A6-4E28-9EC1-E467-98383EF5D282}"/>
              </a:ext>
            </a:extLst>
          </p:cNvPr>
          <p:cNvCxnSpPr>
            <a:cxnSpLocks/>
          </p:cNvCxnSpPr>
          <p:nvPr/>
        </p:nvCxnSpPr>
        <p:spPr>
          <a:xfrm flipH="1">
            <a:off x="8206740" y="3859007"/>
            <a:ext cx="591957" cy="231319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5015441-5972-23E9-DF77-5EBE50769DD5}"/>
              </a:ext>
            </a:extLst>
          </p:cNvPr>
          <p:cNvCxnSpPr>
            <a:cxnSpLocks/>
          </p:cNvCxnSpPr>
          <p:nvPr/>
        </p:nvCxnSpPr>
        <p:spPr>
          <a:xfrm flipH="1" flipV="1">
            <a:off x="8312843" y="5549419"/>
            <a:ext cx="510593" cy="15034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51A9650-1FA2-1C73-2FA7-079416D69E70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8641492" y="4349578"/>
            <a:ext cx="250550" cy="6025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ACEC3A4-FA2F-50F5-D7E9-DAD777234D09}"/>
              </a:ext>
            </a:extLst>
          </p:cNvPr>
          <p:cNvCxnSpPr>
            <a:cxnSpLocks/>
          </p:cNvCxnSpPr>
          <p:nvPr/>
        </p:nvCxnSpPr>
        <p:spPr>
          <a:xfrm flipH="1">
            <a:off x="8206740" y="4349578"/>
            <a:ext cx="341407" cy="1199841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3C1392A-89F6-51B6-B0ED-A2A600A11CF6}"/>
              </a:ext>
            </a:extLst>
          </p:cNvPr>
          <p:cNvCxnSpPr>
            <a:cxnSpLocks/>
          </p:cNvCxnSpPr>
          <p:nvPr/>
        </p:nvCxnSpPr>
        <p:spPr>
          <a:xfrm flipH="1" flipV="1">
            <a:off x="8507910" y="4968309"/>
            <a:ext cx="315526" cy="114095"/>
          </a:xfrm>
          <a:prstGeom prst="straightConnector1">
            <a:avLst/>
          </a:prstGeom>
          <a:ln w="127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833C74D4-8D15-8CC5-72EC-BCF8D12833AA}"/>
              </a:ext>
            </a:extLst>
          </p:cNvPr>
          <p:cNvSpPr txBox="1"/>
          <p:nvPr/>
        </p:nvSpPr>
        <p:spPr>
          <a:xfrm>
            <a:off x="6884413" y="4702627"/>
            <a:ext cx="1882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 err="1"/>
              <a:t>Projected</a:t>
            </a:r>
            <a:r>
              <a:rPr lang="nl-NL" sz="1200" dirty="0"/>
              <a:t> </a:t>
            </a:r>
            <a:r>
              <a:rPr lang="nl-NL" sz="1200" dirty="0" err="1"/>
              <a:t>length</a:t>
            </a:r>
            <a:r>
              <a:rPr lang="nl-NL" sz="1200" dirty="0"/>
              <a:t> </a:t>
            </a:r>
            <a:r>
              <a:rPr lang="nl-NL" sz="1200" dirty="0" err="1"/>
              <a:t>l_p</a:t>
            </a:r>
            <a:endParaRPr lang="nl-NL" sz="12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284E844-2C9F-B541-7F0D-1600A245D1D6}"/>
              </a:ext>
            </a:extLst>
          </p:cNvPr>
          <p:cNvSpPr txBox="1"/>
          <p:nvPr/>
        </p:nvSpPr>
        <p:spPr>
          <a:xfrm>
            <a:off x="8498839" y="5039883"/>
            <a:ext cx="1882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/>
              <a:t>d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E386715-4105-4864-9F36-2526C4472C58}"/>
              </a:ext>
            </a:extLst>
          </p:cNvPr>
          <p:cNvSpPr txBox="1"/>
          <p:nvPr/>
        </p:nvSpPr>
        <p:spPr>
          <a:xfrm>
            <a:off x="9099867" y="4855217"/>
            <a:ext cx="2465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There</a:t>
            </a:r>
            <a:r>
              <a:rPr lang="nl-NL" altLang="zh-CN" dirty="0"/>
              <a:t> is no </a:t>
            </a:r>
            <a:r>
              <a:rPr lang="nl-NL" altLang="zh-CN" dirty="0" err="1"/>
              <a:t>average</a:t>
            </a:r>
            <a:r>
              <a:rPr lang="nl-NL" altLang="zh-CN" dirty="0"/>
              <a:t> </a:t>
            </a:r>
            <a:r>
              <a:rPr lang="nl-NL" altLang="zh-CN" dirty="0" err="1"/>
              <a:t>distance</a:t>
            </a:r>
            <a:r>
              <a:rPr lang="nl-NL" altLang="zh-CN" dirty="0"/>
              <a:t> d as 0. We set minimum </a:t>
            </a:r>
            <a:r>
              <a:rPr lang="nl-NL" altLang="zh-CN" dirty="0" err="1"/>
              <a:t>to</a:t>
            </a:r>
            <a:r>
              <a:rPr lang="nl-NL" altLang="zh-CN" dirty="0"/>
              <a:t> </a:t>
            </a:r>
            <a:r>
              <a:rPr lang="nl-NL" altLang="zh-CN" dirty="0" err="1"/>
              <a:t>be</a:t>
            </a:r>
            <a:r>
              <a:rPr lang="nl-NL" altLang="zh-CN" dirty="0"/>
              <a:t> 0.001</a:t>
            </a:r>
          </a:p>
        </p:txBody>
      </p:sp>
    </p:spTree>
    <p:extLst>
      <p:ext uri="{BB962C8B-B14F-4D97-AF65-F5344CB8AC3E}">
        <p14:creationId xmlns:p14="http://schemas.microsoft.com/office/powerpoint/2010/main" val="113324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DCDE-61B4-B5FA-6BB9-2E444FAE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CB4BCD93-9C8A-5555-F94B-52A8BA89F9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0"/>
            <a:ext cx="6111059" cy="68579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3B9552C-0AC9-E53E-5B8F-0D0E29C76455}"/>
              </a:ext>
            </a:extLst>
          </p:cNvPr>
          <p:cNvSpPr txBox="1"/>
          <p:nvPr/>
        </p:nvSpPr>
        <p:spPr>
          <a:xfrm>
            <a:off x="6509321" y="2015687"/>
            <a:ext cx="4343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Step 3:</a:t>
            </a:r>
          </a:p>
          <a:p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assigning</a:t>
            </a:r>
            <a:r>
              <a:rPr lang="nl-NL" dirty="0"/>
              <a:t> stem </a:t>
            </a:r>
            <a:r>
              <a:rPr lang="nl-NL" dirty="0" err="1"/>
              <a:t>fragments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stem </a:t>
            </a:r>
            <a:r>
              <a:rPr lang="nl-NL" dirty="0" err="1"/>
              <a:t>lines</a:t>
            </a:r>
            <a:r>
              <a:rPr lang="nl-NL" dirty="0"/>
              <a:t>. we </a:t>
            </a:r>
            <a:r>
              <a:rPr lang="nl-NL" dirty="0" err="1"/>
              <a:t>use</a:t>
            </a:r>
            <a:r>
              <a:rPr lang="nl-NL" dirty="0"/>
              <a:t> 2d-PCA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adjust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stem line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7D2503-00D3-96B9-804E-88428FBAD997}"/>
              </a:ext>
            </a:extLst>
          </p:cNvPr>
          <p:cNvSpPr txBox="1"/>
          <p:nvPr/>
        </p:nvSpPr>
        <p:spPr>
          <a:xfrm>
            <a:off x="0" y="117791"/>
            <a:ext cx="886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000" b="1" dirty="0"/>
              <a:t>We do </a:t>
            </a:r>
            <a:r>
              <a:rPr lang="nl-NL" altLang="zh-CN" sz="2000" b="1" dirty="0" err="1"/>
              <a:t>need</a:t>
            </a:r>
            <a:r>
              <a:rPr lang="nl-NL" altLang="zh-CN" sz="2000" b="1" dirty="0"/>
              <a:t> State of Art </a:t>
            </a:r>
            <a:r>
              <a:rPr lang="nl-NL" altLang="zh-CN" sz="2000" b="1" dirty="0" err="1"/>
              <a:t>method</a:t>
            </a:r>
            <a:r>
              <a:rPr lang="nl-NL" altLang="zh-CN" sz="2000" b="1" dirty="0"/>
              <a:t>!</a:t>
            </a:r>
            <a:endParaRPr lang="nl-NL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EC91F5-4521-A581-DBB3-F32CF794C5BE}"/>
              </a:ext>
            </a:extLst>
          </p:cNvPr>
          <p:cNvSpPr/>
          <p:nvPr/>
        </p:nvSpPr>
        <p:spPr>
          <a:xfrm>
            <a:off x="327918" y="1129836"/>
            <a:ext cx="5067300" cy="48051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六边形 6">
            <a:extLst>
              <a:ext uri="{FF2B5EF4-FFF2-40B4-BE49-F238E27FC236}">
                <a16:creationId xmlns:a16="http://schemas.microsoft.com/office/drawing/2014/main" id="{80465BDF-85D1-2CA3-15EA-F1BE2E3F8E9B}"/>
              </a:ext>
            </a:extLst>
          </p:cNvPr>
          <p:cNvSpPr/>
          <p:nvPr/>
        </p:nvSpPr>
        <p:spPr>
          <a:xfrm>
            <a:off x="2058665" y="1196911"/>
            <a:ext cx="960547" cy="760860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FD66604-F018-5C87-542D-178444CC4F28}"/>
              </a:ext>
            </a:extLst>
          </p:cNvPr>
          <p:cNvSpPr/>
          <p:nvPr/>
        </p:nvSpPr>
        <p:spPr>
          <a:xfrm rot="20542504">
            <a:off x="2718140" y="3940703"/>
            <a:ext cx="107385" cy="683821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0B2EFC1-28B7-3607-19F3-59C770C35335}"/>
              </a:ext>
            </a:extLst>
          </p:cNvPr>
          <p:cNvSpPr/>
          <p:nvPr/>
        </p:nvSpPr>
        <p:spPr>
          <a:xfrm>
            <a:off x="2481910" y="2015687"/>
            <a:ext cx="135226" cy="715999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9E8392B-2AD4-E131-8CA7-C204584DCA47}"/>
              </a:ext>
            </a:extLst>
          </p:cNvPr>
          <p:cNvSpPr/>
          <p:nvPr/>
        </p:nvSpPr>
        <p:spPr>
          <a:xfrm>
            <a:off x="2588761" y="2813175"/>
            <a:ext cx="99297" cy="1045832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AD4A59D-AE3F-589F-9B10-6AD1164432E8}"/>
              </a:ext>
            </a:extLst>
          </p:cNvPr>
          <p:cNvSpPr/>
          <p:nvPr/>
        </p:nvSpPr>
        <p:spPr>
          <a:xfrm>
            <a:off x="2758211" y="4665921"/>
            <a:ext cx="103357" cy="1062243"/>
          </a:xfrm>
          <a:prstGeom prst="roundRect">
            <a:avLst/>
          </a:prstGeom>
          <a:solidFill>
            <a:srgbClr val="EEF8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5658FC9-56C0-6909-8362-DBB5E66A1A41}"/>
              </a:ext>
            </a:extLst>
          </p:cNvPr>
          <p:cNvSpPr txBox="1"/>
          <p:nvPr/>
        </p:nvSpPr>
        <p:spPr>
          <a:xfrm>
            <a:off x="3083082" y="5291358"/>
            <a:ext cx="1882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/>
              <a:t>Proposed</a:t>
            </a:r>
            <a:endParaRPr lang="nl-NL" sz="1400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D881478-EFDA-FB0F-842D-9E0394751EAD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2471986" y="1622206"/>
            <a:ext cx="337904" cy="4105958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5E66D9E-CE78-5591-254E-27F252F36DD5}"/>
              </a:ext>
            </a:extLst>
          </p:cNvPr>
          <p:cNvCxnSpPr>
            <a:cxnSpLocks/>
          </p:cNvCxnSpPr>
          <p:nvPr/>
        </p:nvCxnSpPr>
        <p:spPr>
          <a:xfrm>
            <a:off x="2495719" y="1600504"/>
            <a:ext cx="439587" cy="406058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771E4F2-E8CD-E45C-5344-CF6FAB1D5F3E}"/>
              </a:ext>
            </a:extLst>
          </p:cNvPr>
          <p:cNvSpPr txBox="1"/>
          <p:nvPr/>
        </p:nvSpPr>
        <p:spPr>
          <a:xfrm>
            <a:off x="1868712" y="5300036"/>
            <a:ext cx="1882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>
                <a:solidFill>
                  <a:srgbClr val="00B050"/>
                </a:solidFill>
              </a:rPr>
              <a:t>Adjusted</a:t>
            </a:r>
            <a:endParaRPr lang="nl-NL" sz="1400" dirty="0">
              <a:solidFill>
                <a:srgbClr val="00B050"/>
              </a:solidFill>
            </a:endParaRPr>
          </a:p>
        </p:txBody>
      </p:sp>
      <p:sp>
        <p:nvSpPr>
          <p:cNvPr id="65" name="弧形 64">
            <a:extLst>
              <a:ext uri="{FF2B5EF4-FFF2-40B4-BE49-F238E27FC236}">
                <a16:creationId xmlns:a16="http://schemas.microsoft.com/office/drawing/2014/main" id="{C54D11CC-5D8F-DD26-DF56-2DD6A7E050F9}"/>
              </a:ext>
            </a:extLst>
          </p:cNvPr>
          <p:cNvSpPr/>
          <p:nvPr/>
        </p:nvSpPr>
        <p:spPr>
          <a:xfrm rot="6558861">
            <a:off x="2640938" y="5381908"/>
            <a:ext cx="337904" cy="505086"/>
          </a:xfrm>
          <a:prstGeom prst="arc">
            <a:avLst/>
          </a:prstGeom>
          <a:noFill/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1647092-B015-BAC3-E565-509E763344F0}"/>
              </a:ext>
            </a:extLst>
          </p:cNvPr>
          <p:cNvCxnSpPr/>
          <p:nvPr/>
        </p:nvCxnSpPr>
        <p:spPr>
          <a:xfrm>
            <a:off x="678180" y="5728164"/>
            <a:ext cx="456438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407D58B-73BB-DAD4-9D22-72897D7481C3}"/>
              </a:ext>
            </a:extLst>
          </p:cNvPr>
          <p:cNvCxnSpPr>
            <a:cxnSpLocks/>
          </p:cNvCxnSpPr>
          <p:nvPr/>
        </p:nvCxnSpPr>
        <p:spPr>
          <a:xfrm flipV="1">
            <a:off x="678180" y="1831957"/>
            <a:ext cx="0" cy="392279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BF994ECE-9891-3FAE-3FE0-7F26EF2670E5}"/>
              </a:ext>
            </a:extLst>
          </p:cNvPr>
          <p:cNvSpPr txBox="1"/>
          <p:nvPr/>
        </p:nvSpPr>
        <p:spPr>
          <a:xfrm>
            <a:off x="541893" y="1470245"/>
            <a:ext cx="67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y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6FA869C-ED33-54CF-C361-6BAEF5D030E2}"/>
              </a:ext>
            </a:extLst>
          </p:cNvPr>
          <p:cNvSpPr txBox="1"/>
          <p:nvPr/>
        </p:nvSpPr>
        <p:spPr>
          <a:xfrm>
            <a:off x="4903475" y="5294318"/>
            <a:ext cx="67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4360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D10F-C7A2-7A56-B972-4FDED22A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8AF31473-945A-4158-D448-95824BBA5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0"/>
            <a:ext cx="6111059" cy="68579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D18B3CA-B469-9925-EDCD-F6666BB5C3BD}"/>
              </a:ext>
            </a:extLst>
          </p:cNvPr>
          <p:cNvSpPr txBox="1"/>
          <p:nvPr/>
        </p:nvSpPr>
        <p:spPr>
          <a:xfrm>
            <a:off x="6839415" y="1496571"/>
            <a:ext cx="4420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Step 4:</a:t>
            </a:r>
          </a:p>
          <a:p>
            <a:r>
              <a:rPr lang="nl-NL" dirty="0"/>
              <a:t>The </a:t>
            </a:r>
            <a:r>
              <a:rPr lang="nl-NL" dirty="0" err="1"/>
              <a:t>adjusted</a:t>
            </a:r>
            <a:r>
              <a:rPr lang="nl-NL" dirty="0"/>
              <a:t> stem line without </a:t>
            </a:r>
            <a:r>
              <a:rPr lang="nl-NL" dirty="0" err="1"/>
              <a:t>other</a:t>
            </a:r>
            <a:r>
              <a:rPr lang="nl-NL" dirty="0"/>
              <a:t> stem </a:t>
            </a:r>
            <a:r>
              <a:rPr lang="nl-NL" dirty="0" err="1"/>
              <a:t>fragments</a:t>
            </a:r>
            <a:r>
              <a:rPr lang="nl-NL" dirty="0"/>
              <a:t> cross on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considered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top.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isn’t</a:t>
            </a:r>
            <a:r>
              <a:rPr lang="nl-NL" dirty="0"/>
              <a:t>,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occlusion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To</a:t>
            </a:r>
            <a:r>
              <a:rPr lang="nl-NL" dirty="0"/>
              <a:t> keep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balance</a:t>
            </a:r>
            <a:r>
              <a:rPr lang="nl-NL" dirty="0"/>
              <a:t>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pick</a:t>
            </a:r>
            <a:r>
              <a:rPr lang="nl-NL" dirty="0"/>
              <a:t> point is on </a:t>
            </a:r>
            <a:r>
              <a:rPr lang="nl-NL" dirty="0" err="1"/>
              <a:t>the</a:t>
            </a:r>
            <a:r>
              <a:rPr lang="nl-NL" dirty="0"/>
              <a:t> top stem fragment of </a:t>
            </a:r>
            <a:r>
              <a:rPr lang="nl-NL" dirty="0" err="1"/>
              <a:t>this</a:t>
            </a:r>
            <a:r>
              <a:rPr lang="nl-NL" dirty="0"/>
              <a:t> stem line.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815BB4-1F26-6AA3-634C-5792B6BCF778}"/>
              </a:ext>
            </a:extLst>
          </p:cNvPr>
          <p:cNvSpPr txBox="1"/>
          <p:nvPr/>
        </p:nvSpPr>
        <p:spPr>
          <a:xfrm>
            <a:off x="0" y="117791"/>
            <a:ext cx="886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000" b="1" dirty="0"/>
              <a:t>We do </a:t>
            </a:r>
            <a:r>
              <a:rPr lang="nl-NL" altLang="zh-CN" sz="2000" b="1" dirty="0" err="1"/>
              <a:t>need</a:t>
            </a:r>
            <a:r>
              <a:rPr lang="nl-NL" altLang="zh-CN" sz="2000" b="1" dirty="0"/>
              <a:t> State of Art </a:t>
            </a:r>
            <a:r>
              <a:rPr lang="nl-NL" altLang="zh-CN" sz="2000" b="1" dirty="0" err="1"/>
              <a:t>method</a:t>
            </a:r>
            <a:r>
              <a:rPr lang="nl-NL" altLang="zh-CN" sz="2000" b="1" dirty="0"/>
              <a:t>!</a:t>
            </a:r>
            <a:endParaRPr lang="nl-NL" sz="2000" b="1" dirty="0"/>
          </a:p>
        </p:txBody>
      </p:sp>
      <p:pic>
        <p:nvPicPr>
          <p:cNvPr id="5" name="图片 4" descr="蓝色的花&#10;&#10;AI 生成的内容可能不正确。">
            <a:extLst>
              <a:ext uri="{FF2B5EF4-FFF2-40B4-BE49-F238E27FC236}">
                <a16:creationId xmlns:a16="http://schemas.microsoft.com/office/drawing/2014/main" id="{D9D7F711-A480-4C9C-5D1E-85268557C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1" y="652524"/>
            <a:ext cx="6045345" cy="6070852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A4122F7-4F4B-0591-6E4F-3EAA3DCFBE1A}"/>
              </a:ext>
            </a:extLst>
          </p:cNvPr>
          <p:cNvCxnSpPr>
            <a:cxnSpLocks/>
          </p:cNvCxnSpPr>
          <p:nvPr/>
        </p:nvCxnSpPr>
        <p:spPr>
          <a:xfrm>
            <a:off x="1484426" y="1313691"/>
            <a:ext cx="1158889" cy="395028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4F527EF-E124-2B06-1F85-A76A616328C7}"/>
              </a:ext>
            </a:extLst>
          </p:cNvPr>
          <p:cNvCxnSpPr>
            <a:cxnSpLocks/>
          </p:cNvCxnSpPr>
          <p:nvPr/>
        </p:nvCxnSpPr>
        <p:spPr>
          <a:xfrm>
            <a:off x="3061331" y="1235855"/>
            <a:ext cx="369016" cy="435055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753644C-47F8-2915-D2E7-2011DA10301A}"/>
              </a:ext>
            </a:extLst>
          </p:cNvPr>
          <p:cNvCxnSpPr>
            <a:cxnSpLocks/>
          </p:cNvCxnSpPr>
          <p:nvPr/>
        </p:nvCxnSpPr>
        <p:spPr>
          <a:xfrm>
            <a:off x="2774253" y="1158020"/>
            <a:ext cx="108797" cy="357968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6CABD75-34A0-E74F-3757-3C0290762E6E}"/>
              </a:ext>
            </a:extLst>
          </p:cNvPr>
          <p:cNvCxnSpPr>
            <a:cxnSpLocks/>
          </p:cNvCxnSpPr>
          <p:nvPr/>
        </p:nvCxnSpPr>
        <p:spPr>
          <a:xfrm>
            <a:off x="2093149" y="1235855"/>
            <a:ext cx="613537" cy="451415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5CA66EC-2025-04CC-0883-447D7EB58FCF}"/>
              </a:ext>
            </a:extLst>
          </p:cNvPr>
          <p:cNvCxnSpPr>
            <a:cxnSpLocks/>
          </p:cNvCxnSpPr>
          <p:nvPr/>
        </p:nvCxnSpPr>
        <p:spPr>
          <a:xfrm flipH="1">
            <a:off x="2908333" y="1313691"/>
            <a:ext cx="632792" cy="463015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EF5A6B5-E859-6F1E-4CF0-C0BC210C45FC}"/>
              </a:ext>
            </a:extLst>
          </p:cNvPr>
          <p:cNvCxnSpPr>
            <a:cxnSpLocks/>
          </p:cNvCxnSpPr>
          <p:nvPr/>
        </p:nvCxnSpPr>
        <p:spPr>
          <a:xfrm flipH="1">
            <a:off x="2503524" y="1976837"/>
            <a:ext cx="1762860" cy="414387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6F45344-71F4-A5A3-F75E-7A6242D2DE00}"/>
              </a:ext>
            </a:extLst>
          </p:cNvPr>
          <p:cNvCxnSpPr>
            <a:cxnSpLocks/>
          </p:cNvCxnSpPr>
          <p:nvPr/>
        </p:nvCxnSpPr>
        <p:spPr>
          <a:xfrm flipH="1">
            <a:off x="3477786" y="914155"/>
            <a:ext cx="505327" cy="458653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AEF8CDC-0C5A-A9FB-A8EB-6540640A958E}"/>
              </a:ext>
            </a:extLst>
          </p:cNvPr>
          <p:cNvCxnSpPr>
            <a:cxnSpLocks/>
          </p:cNvCxnSpPr>
          <p:nvPr/>
        </p:nvCxnSpPr>
        <p:spPr>
          <a:xfrm>
            <a:off x="3672685" y="787422"/>
            <a:ext cx="398800" cy="437770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B818A38-E6E1-42B6-063E-24C9C0A18A27}"/>
              </a:ext>
            </a:extLst>
          </p:cNvPr>
          <p:cNvCxnSpPr>
            <a:cxnSpLocks/>
          </p:cNvCxnSpPr>
          <p:nvPr/>
        </p:nvCxnSpPr>
        <p:spPr>
          <a:xfrm flipH="1">
            <a:off x="3340100" y="2052355"/>
            <a:ext cx="1388491" cy="429764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8AB5E9A-832E-8C66-3A0F-10A8B060C264}"/>
              </a:ext>
            </a:extLst>
          </p:cNvPr>
          <p:cNvCxnSpPr>
            <a:cxnSpLocks/>
          </p:cNvCxnSpPr>
          <p:nvPr/>
        </p:nvCxnSpPr>
        <p:spPr>
          <a:xfrm flipH="1">
            <a:off x="1282779" y="2886075"/>
            <a:ext cx="3602798" cy="313328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03D2B1F-E105-B5AF-395D-12228DD3C4DF}"/>
              </a:ext>
            </a:extLst>
          </p:cNvPr>
          <p:cNvCxnSpPr>
            <a:cxnSpLocks/>
          </p:cNvCxnSpPr>
          <p:nvPr/>
        </p:nvCxnSpPr>
        <p:spPr>
          <a:xfrm flipH="1" flipV="1">
            <a:off x="4715793" y="3126137"/>
            <a:ext cx="700144" cy="922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36434966-A579-ABBB-BD1D-10BEADCDCFF8}"/>
              </a:ext>
            </a:extLst>
          </p:cNvPr>
          <p:cNvSpPr/>
          <p:nvPr/>
        </p:nvSpPr>
        <p:spPr>
          <a:xfrm>
            <a:off x="4609513" y="2976273"/>
            <a:ext cx="141078" cy="14922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A0739C9-D320-AFA4-C508-1A67A155A01B}"/>
              </a:ext>
            </a:extLst>
          </p:cNvPr>
          <p:cNvSpPr txBox="1"/>
          <p:nvPr/>
        </p:nvSpPr>
        <p:spPr>
          <a:xfrm>
            <a:off x="4709978" y="4067855"/>
            <a:ext cx="1882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rgbClr val="FF0000"/>
                </a:solidFill>
              </a:rPr>
              <a:t>The </a:t>
            </a:r>
            <a:r>
              <a:rPr lang="nl-NL" sz="1400" b="1" dirty="0" err="1">
                <a:solidFill>
                  <a:srgbClr val="FF0000"/>
                </a:solidFill>
              </a:rPr>
              <a:t>pick</a:t>
            </a:r>
            <a:r>
              <a:rPr lang="nl-NL" sz="1400" b="1" dirty="0">
                <a:solidFill>
                  <a:srgbClr val="FF0000"/>
                </a:solidFill>
              </a:rPr>
              <a:t> point must </a:t>
            </a:r>
            <a:r>
              <a:rPr lang="nl-NL" sz="1400" b="1" dirty="0" err="1">
                <a:solidFill>
                  <a:srgbClr val="FF0000"/>
                </a:solidFill>
              </a:rPr>
              <a:t>be</a:t>
            </a:r>
            <a:r>
              <a:rPr lang="nl-NL" sz="1400" b="1" dirty="0">
                <a:solidFill>
                  <a:srgbClr val="FF0000"/>
                </a:solidFill>
              </a:rPr>
              <a:t> </a:t>
            </a:r>
            <a:r>
              <a:rPr lang="nl-NL" sz="1400" b="1" dirty="0" err="1">
                <a:solidFill>
                  <a:srgbClr val="FF0000"/>
                </a:solidFill>
              </a:rPr>
              <a:t>there</a:t>
            </a:r>
            <a:r>
              <a:rPr lang="nl-NL" sz="14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17139518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DengXian"/>
        <a:ea typeface=""/>
        <a:cs typeface=""/>
      </a:majorFont>
      <a:minorFont>
        <a:latin typeface="DengXi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DengXian</vt:lpstr>
      <vt:lpstr>Arial</vt:lpstr>
      <vt:lpstr>BohemianVTI</vt:lpstr>
      <vt:lpstr>Week 3 Experiment 1 and Reflection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11</cp:revision>
  <dcterms:created xsi:type="dcterms:W3CDTF">2025-09-17T13:42:38Z</dcterms:created>
  <dcterms:modified xsi:type="dcterms:W3CDTF">2025-10-01T11:15:55Z</dcterms:modified>
</cp:coreProperties>
</file>