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79" r:id="rId4"/>
    <p:sldId id="258" r:id="rId5"/>
    <p:sldId id="280" r:id="rId6"/>
    <p:sldId id="283" r:id="rId7"/>
    <p:sldId id="269" r:id="rId8"/>
    <p:sldId id="281" r:id="rId9"/>
    <p:sldId id="282" r:id="rId10"/>
    <p:sldId id="27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1874" y="1616829"/>
            <a:ext cx="7170964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altLang="zh-CN" sz="4400" dirty="0" err="1">
                <a:solidFill>
                  <a:schemeClr val="bg1"/>
                </a:solidFill>
              </a:rPr>
              <a:t>Correction</a:t>
            </a:r>
            <a:r>
              <a:rPr lang="nl-NL" altLang="zh-CN" sz="4400" dirty="0">
                <a:solidFill>
                  <a:schemeClr val="bg1"/>
                </a:solidFill>
              </a:rPr>
              <a:t> on </a:t>
            </a:r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7 Hua Jiang</a:t>
            </a:r>
          </a:p>
        </p:txBody>
      </p:sp>
      <p:pic>
        <p:nvPicPr>
          <p:cNvPr id="8" name="图片 7" descr="电脑游戏的屏幕&#10;&#10;AI 生成的内容可能不正确。">
            <a:extLst>
              <a:ext uri="{FF2B5EF4-FFF2-40B4-BE49-F238E27FC236}">
                <a16:creationId xmlns:a16="http://schemas.microsoft.com/office/drawing/2014/main" id="{A7ED9455-AFA8-0CEF-D203-CADDA2072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5" y="1077686"/>
            <a:ext cx="5070170" cy="507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CCE-DA7C-8BF9-9B1D-5857329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9D07C2-A297-E1B3-CBD8-A15F2D7E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3E0DD66E-A8A8-20C0-428C-99570176E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976" y="4862975"/>
            <a:ext cx="10101315" cy="1399032"/>
          </a:xfrm>
        </p:spPr>
        <p:txBody>
          <a:bodyPr>
            <a:normAutofit/>
          </a:bodyPr>
          <a:lstStyle/>
          <a:p>
            <a:r>
              <a:rPr lang="nl-NL" altLang="zh-CN" dirty="0"/>
              <a:t>50 images </a:t>
            </a:r>
            <a:r>
              <a:rPr lang="nl-NL" altLang="zh-CN" dirty="0" err="1"/>
              <a:t>with</a:t>
            </a:r>
            <a:r>
              <a:rPr lang="nl-NL" altLang="zh-CN" dirty="0"/>
              <a:t> </a:t>
            </a:r>
            <a:r>
              <a:rPr lang="nl-NL" altLang="zh-CN" dirty="0" err="1"/>
              <a:t>various</a:t>
            </a:r>
            <a:r>
              <a:rPr lang="nl-NL" altLang="zh-CN" dirty="0"/>
              <a:t> data </a:t>
            </a:r>
            <a:r>
              <a:rPr lang="nl-NL" altLang="zh-CN" dirty="0" err="1"/>
              <a:t>augmentation</a:t>
            </a:r>
            <a:r>
              <a:rPr lang="nl-NL" altLang="zh-CN" dirty="0"/>
              <a:t>, </a:t>
            </a:r>
          </a:p>
          <a:p>
            <a:r>
              <a:rPr lang="nl-NL" altLang="zh-CN" dirty="0" err="1"/>
              <a:t>tons</a:t>
            </a:r>
            <a:r>
              <a:rPr lang="nl-NL" altLang="zh-CN" dirty="0"/>
              <a:t> of </a:t>
            </a:r>
            <a:r>
              <a:rPr lang="nl-NL" altLang="zh-CN" dirty="0" err="1"/>
              <a:t>errors</a:t>
            </a:r>
            <a:endParaRPr lang="nl-NL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0A636B-6F77-D8A9-2347-2F28390F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2" y="595993"/>
            <a:ext cx="8300818" cy="45103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340706-D2BB-16C3-2EAA-05E13567D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637" y="140723"/>
            <a:ext cx="2850147" cy="58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6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C4D4444C-26FE-8C04-0C04-2FAC745B2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648" y="891830"/>
            <a:ext cx="4795877" cy="3508720"/>
          </a:xfrm>
        </p:spPr>
        <p:txBody>
          <a:bodyPr>
            <a:normAutofit/>
          </a:bodyPr>
          <a:lstStyle/>
          <a:p>
            <a:r>
              <a:rPr lang="nl-NL" altLang="zh-CN" dirty="0"/>
              <a:t>1. Incorrect </a:t>
            </a:r>
            <a:r>
              <a:rPr lang="nl-NL" altLang="zh-CN" dirty="0" err="1"/>
              <a:t>length</a:t>
            </a:r>
            <a:r>
              <a:rPr lang="nl-NL" altLang="zh-CN" dirty="0"/>
              <a:t> </a:t>
            </a:r>
            <a:r>
              <a:rPr lang="nl-NL" altLang="zh-CN" dirty="0" err="1"/>
              <a:t>measuring</a:t>
            </a:r>
            <a:endParaRPr lang="nl-NL" altLang="zh-CN" dirty="0"/>
          </a:p>
          <a:p>
            <a:r>
              <a:rPr lang="nl-NL" dirty="0"/>
              <a:t>2. Center </a:t>
            </a:r>
            <a:r>
              <a:rPr lang="nl-NL" dirty="0" err="1"/>
              <a:t>problem</a:t>
            </a:r>
            <a:r>
              <a:rPr lang="nl-NL" dirty="0"/>
              <a:t> in Scoring</a:t>
            </a:r>
          </a:p>
          <a:p>
            <a:r>
              <a:rPr lang="nl-NL" dirty="0"/>
              <a:t>3. Inaccurate PCA </a:t>
            </a:r>
            <a:r>
              <a:rPr lang="nl-NL" dirty="0" err="1"/>
              <a:t>direction</a:t>
            </a:r>
            <a:r>
              <a:rPr lang="nl-NL" dirty="0"/>
              <a:t> computing</a:t>
            </a:r>
          </a:p>
          <a:p>
            <a:r>
              <a:rPr lang="nl-NL" dirty="0"/>
              <a:t>4. Same as 2</a:t>
            </a:r>
          </a:p>
        </p:txBody>
      </p:sp>
      <p:pic>
        <p:nvPicPr>
          <p:cNvPr id="5" name="图片 4" descr="电脑游戏的屏幕&#10;&#10;AI 生成的内容可能不正确。">
            <a:extLst>
              <a:ext uri="{FF2B5EF4-FFF2-40B4-BE49-F238E27FC236}">
                <a16:creationId xmlns:a16="http://schemas.microsoft.com/office/drawing/2014/main" id="{8AC109D3-C497-0A1C-D2D4-E70B1FAC7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231" y="0"/>
            <a:ext cx="6861769" cy="6861769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C9CFBF8-6C47-2C0C-9072-6429C4A9BC22}"/>
              </a:ext>
            </a:extLst>
          </p:cNvPr>
          <p:cNvSpPr/>
          <p:nvPr/>
        </p:nvSpPr>
        <p:spPr>
          <a:xfrm>
            <a:off x="8074479" y="3013928"/>
            <a:ext cx="686636" cy="415072"/>
          </a:xfrm>
          <a:prstGeom prst="wedgeRoundRectCallout">
            <a:avLst>
              <a:gd name="adj1" fmla="val 67402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DF21AC33-C622-F0D2-9792-D1C8D364F1E4}"/>
              </a:ext>
            </a:extLst>
          </p:cNvPr>
          <p:cNvSpPr/>
          <p:nvPr/>
        </p:nvSpPr>
        <p:spPr>
          <a:xfrm>
            <a:off x="6234793" y="1230685"/>
            <a:ext cx="686636" cy="415072"/>
          </a:xfrm>
          <a:prstGeom prst="wedgeRoundRectCallout">
            <a:avLst>
              <a:gd name="adj1" fmla="val 109018"/>
              <a:gd name="adj2" fmla="val -1814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2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01F68D49-D05A-0708-2D33-51DBAED2A65A}"/>
              </a:ext>
            </a:extLst>
          </p:cNvPr>
          <p:cNvSpPr/>
          <p:nvPr/>
        </p:nvSpPr>
        <p:spPr>
          <a:xfrm>
            <a:off x="8202386" y="815613"/>
            <a:ext cx="686636" cy="415072"/>
          </a:xfrm>
          <a:prstGeom prst="wedgeRoundRectCallout">
            <a:avLst>
              <a:gd name="adj1" fmla="val 67402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3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643B385-6C5C-58D2-682A-67E5B1A5E1C2}"/>
              </a:ext>
            </a:extLst>
          </p:cNvPr>
          <p:cNvSpPr/>
          <p:nvPr/>
        </p:nvSpPr>
        <p:spPr>
          <a:xfrm>
            <a:off x="9016094" y="4630353"/>
            <a:ext cx="686636" cy="415072"/>
          </a:xfrm>
          <a:prstGeom prst="wedgeRoundRectCallout">
            <a:avLst>
              <a:gd name="adj1" fmla="val -74092"/>
              <a:gd name="adj2" fmla="val 861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401A-8E65-082D-F767-F5F297E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6D4707-E2E6-CDD8-7FA8-CB1B3027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66F9445-DDAC-3910-0184-670C58321CEF}"/>
              </a:ext>
            </a:extLst>
          </p:cNvPr>
          <p:cNvSpPr txBox="1"/>
          <p:nvPr/>
        </p:nvSpPr>
        <p:spPr>
          <a:xfrm>
            <a:off x="-30621" y="1295533"/>
            <a:ext cx="531833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nl-NL" altLang="zh-CN" sz="2800" dirty="0"/>
              <a:t>Incorrect </a:t>
            </a:r>
            <a:r>
              <a:rPr lang="nl-NL" altLang="zh-CN" sz="2800" dirty="0" err="1"/>
              <a:t>length</a:t>
            </a:r>
            <a:r>
              <a:rPr lang="nl-NL" altLang="zh-CN" sz="2800" dirty="0"/>
              <a:t> </a:t>
            </a:r>
            <a:r>
              <a:rPr lang="nl-NL" altLang="zh-CN" sz="2800" dirty="0" err="1"/>
              <a:t>measuring</a:t>
            </a:r>
            <a:r>
              <a:rPr lang="nl-NL" altLang="zh-CN" sz="2800" dirty="0"/>
              <a:t>: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  <a:p>
            <a:r>
              <a:rPr lang="nl-NL" altLang="zh-CN" sz="2400" dirty="0" err="1"/>
              <a:t>Due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defect of </a:t>
            </a:r>
            <a:r>
              <a:rPr lang="nl-NL" altLang="zh-CN" sz="2400" dirty="0" err="1"/>
              <a:t>mask-rcnn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sometimes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long stem </a:t>
            </a:r>
            <a:r>
              <a:rPr lang="nl-NL" altLang="zh-CN" sz="2400" dirty="0" err="1"/>
              <a:t>mask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disconnected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sparse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which</a:t>
            </a:r>
            <a:r>
              <a:rPr lang="nl-NL" altLang="zh-CN" sz="2400" dirty="0"/>
              <a:t> leads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unsymmetrical</a:t>
            </a:r>
            <a:r>
              <a:rPr lang="nl-NL" altLang="zh-CN" sz="2400" dirty="0"/>
              <a:t> center .</a:t>
            </a:r>
          </a:p>
          <a:p>
            <a:endParaRPr lang="nl-NL" altLang="zh-CN" sz="2400" dirty="0"/>
          </a:p>
          <a:p>
            <a:r>
              <a:rPr lang="nl-NL" altLang="zh-CN" sz="2400" dirty="0" err="1"/>
              <a:t>By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calculating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center </a:t>
            </a:r>
            <a:r>
              <a:rPr lang="nl-NL" altLang="zh-CN" sz="2400" dirty="0" err="1"/>
              <a:t>from</a:t>
            </a:r>
            <a:r>
              <a:rPr lang="nl-NL" altLang="zh-CN" sz="2400" dirty="0"/>
              <a:t> PCA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endParaRPr lang="nl-NL" altLang="zh-CN" sz="2400" dirty="0"/>
          </a:p>
          <a:p>
            <a:r>
              <a:rPr lang="nl-NL" altLang="zh-CN" sz="2400" dirty="0"/>
              <a:t> ‘center +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/2’, we </a:t>
            </a:r>
            <a:r>
              <a:rPr lang="nl-NL" altLang="zh-CN" sz="2400" dirty="0" err="1"/>
              <a:t>estimate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wrong stem </a:t>
            </a:r>
            <a:r>
              <a:rPr lang="nl-NL" altLang="zh-CN" sz="2400" dirty="0" err="1"/>
              <a:t>position</a:t>
            </a:r>
            <a:endParaRPr lang="nl-NL" altLang="zh-CN" sz="2400" dirty="0"/>
          </a:p>
        </p:txBody>
      </p:sp>
      <p:pic>
        <p:nvPicPr>
          <p:cNvPr id="9" name="图片 8" descr="电脑游戏的屏幕&#10;&#10;AI 生成的内容可能不正确。">
            <a:extLst>
              <a:ext uri="{FF2B5EF4-FFF2-40B4-BE49-F238E27FC236}">
                <a16:creationId xmlns:a16="http://schemas.microsoft.com/office/drawing/2014/main" id="{87FD3488-DB0D-B2AA-105E-1C5A1CC94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714" y="0"/>
            <a:ext cx="6904286" cy="6904286"/>
          </a:xfrm>
          <a:prstGeom prst="rect">
            <a:avLst/>
          </a:prstGeom>
        </p:spPr>
      </p:pic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9554B33-7091-3DF4-76FE-D1CF54E83CEF}"/>
              </a:ext>
            </a:extLst>
          </p:cNvPr>
          <p:cNvSpPr/>
          <p:nvPr/>
        </p:nvSpPr>
        <p:spPr>
          <a:xfrm>
            <a:off x="9182100" y="3314700"/>
            <a:ext cx="1276350" cy="628650"/>
          </a:xfrm>
          <a:prstGeom prst="wedgeRoundRectCallout">
            <a:avLst>
              <a:gd name="adj1" fmla="val -49210"/>
              <a:gd name="adj2" fmla="val -8051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/>
              <a:t>The </a:t>
            </a:r>
            <a:r>
              <a:rPr lang="nl-NL" sz="1200" dirty="0" err="1"/>
              <a:t>neighbor</a:t>
            </a:r>
            <a:r>
              <a:rPr lang="nl-NL" sz="1200" dirty="0"/>
              <a:t> stem is </a:t>
            </a:r>
            <a:r>
              <a:rPr lang="nl-NL" sz="1200" dirty="0" err="1"/>
              <a:t>filtered</a:t>
            </a:r>
            <a:r>
              <a:rPr lang="nl-NL" sz="1200" dirty="0"/>
              <a:t> out</a:t>
            </a: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8817D9CC-1B2D-9DC8-BE8E-10116CFB263E}"/>
              </a:ext>
            </a:extLst>
          </p:cNvPr>
          <p:cNvSpPr/>
          <p:nvPr/>
        </p:nvSpPr>
        <p:spPr>
          <a:xfrm>
            <a:off x="8168861" y="4034744"/>
            <a:ext cx="279400" cy="293916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C53BA17-32DE-0414-4455-5390B61284DF}"/>
              </a:ext>
            </a:extLst>
          </p:cNvPr>
          <p:cNvCxnSpPr/>
          <p:nvPr/>
        </p:nvCxnSpPr>
        <p:spPr>
          <a:xfrm flipV="1">
            <a:off x="8308561" y="3111046"/>
            <a:ext cx="565150" cy="103595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96F221B4-2C40-A9C2-E22E-B604AFE7A342}"/>
              </a:ext>
            </a:extLst>
          </p:cNvPr>
          <p:cNvSpPr/>
          <p:nvPr/>
        </p:nvSpPr>
        <p:spPr>
          <a:xfrm>
            <a:off x="7042150" y="3206750"/>
            <a:ext cx="1276350" cy="628650"/>
          </a:xfrm>
          <a:prstGeom prst="wedgeRoundRectCallout">
            <a:avLst>
              <a:gd name="adj1" fmla="val 77253"/>
              <a:gd name="adj2" fmla="val -172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/>
              <a:t>Longer</a:t>
            </a:r>
            <a:r>
              <a:rPr lang="nl-NL" sz="1200" dirty="0"/>
              <a:t> </a:t>
            </a:r>
            <a:r>
              <a:rPr lang="nl-NL" sz="1200" dirty="0" err="1"/>
              <a:t>than</a:t>
            </a:r>
            <a:r>
              <a:rPr lang="nl-NL" sz="1200" dirty="0"/>
              <a:t> </a:t>
            </a:r>
            <a:r>
              <a:rPr lang="nl-NL" sz="1200" dirty="0" err="1"/>
              <a:t>its</a:t>
            </a:r>
            <a:r>
              <a:rPr lang="nl-NL" sz="1200" dirty="0"/>
              <a:t> </a:t>
            </a:r>
            <a:r>
              <a:rPr lang="nl-NL" sz="1200" dirty="0" err="1"/>
              <a:t>actual</a:t>
            </a:r>
            <a:r>
              <a:rPr lang="nl-NL" sz="1200" dirty="0"/>
              <a:t> </a:t>
            </a:r>
            <a:r>
              <a:rPr lang="nl-NL" sz="1200" dirty="0" err="1"/>
              <a:t>length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317598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2EE759-BD15-6F80-5E9E-8F85AA59B5C5}"/>
              </a:ext>
            </a:extLst>
          </p:cNvPr>
          <p:cNvSpPr txBox="1"/>
          <p:nvPr/>
        </p:nvSpPr>
        <p:spPr>
          <a:xfrm>
            <a:off x="24406" y="1303485"/>
            <a:ext cx="531833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nl-NL" altLang="zh-CN" sz="2800" dirty="0"/>
              <a:t>Incorrect </a:t>
            </a:r>
            <a:r>
              <a:rPr lang="nl-NL" altLang="zh-CN" sz="2800" dirty="0" err="1"/>
              <a:t>length</a:t>
            </a:r>
            <a:r>
              <a:rPr lang="nl-NL" altLang="zh-CN" sz="2800" dirty="0"/>
              <a:t> </a:t>
            </a:r>
            <a:r>
              <a:rPr lang="nl-NL" altLang="zh-CN" sz="2800" dirty="0" err="1"/>
              <a:t>measuring</a:t>
            </a:r>
            <a:r>
              <a:rPr lang="nl-NL" altLang="zh-CN" sz="2800" dirty="0"/>
              <a:t>: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 err="1"/>
              <a:t>Instead</a:t>
            </a:r>
            <a:r>
              <a:rPr lang="nl-NL" altLang="zh-CN" sz="2400" dirty="0"/>
              <a:t> of ‘center +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/2’, I </a:t>
            </a:r>
            <a:r>
              <a:rPr lang="nl-NL" altLang="zh-CN" sz="2400" dirty="0" err="1"/>
              <a:t>divide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into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up_length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low_length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solve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unsymmetrical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problem</a:t>
            </a:r>
            <a:r>
              <a:rPr lang="nl-NL" altLang="zh-CN" sz="2400" dirty="0"/>
              <a:t>.</a:t>
            </a:r>
          </a:p>
        </p:txBody>
      </p:sp>
      <p:pic>
        <p:nvPicPr>
          <p:cNvPr id="3" name="图片 2" descr="电脑游戏的屏幕&#10;&#10;AI 生成的内容可能不正确。">
            <a:extLst>
              <a:ext uri="{FF2B5EF4-FFF2-40B4-BE49-F238E27FC236}">
                <a16:creationId xmlns:a16="http://schemas.microsoft.com/office/drawing/2014/main" id="{2984DE7D-C398-F6C8-2519-05F9D3BDF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94" y="0"/>
            <a:ext cx="6858000" cy="6858000"/>
          </a:xfrm>
          <a:prstGeom prst="rect">
            <a:avLst/>
          </a:prstGeom>
        </p:spPr>
      </p:pic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ED878BE4-F7E9-7491-D111-57F7F258CD6A}"/>
              </a:ext>
            </a:extLst>
          </p:cNvPr>
          <p:cNvSpPr/>
          <p:nvPr/>
        </p:nvSpPr>
        <p:spPr>
          <a:xfrm>
            <a:off x="8033689" y="4216400"/>
            <a:ext cx="279400" cy="293916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601DFF7-D7D8-7EF1-7D3A-DC100DB86F01}"/>
              </a:ext>
            </a:extLst>
          </p:cNvPr>
          <p:cNvCxnSpPr>
            <a:cxnSpLocks/>
          </p:cNvCxnSpPr>
          <p:nvPr/>
        </p:nvCxnSpPr>
        <p:spPr>
          <a:xfrm flipV="1">
            <a:off x="8190017" y="3429000"/>
            <a:ext cx="548577" cy="93435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77CF634-945A-A2C5-ED11-749643530BA8}"/>
              </a:ext>
            </a:extLst>
          </p:cNvPr>
          <p:cNvCxnSpPr>
            <a:cxnSpLocks/>
          </p:cNvCxnSpPr>
          <p:nvPr/>
        </p:nvCxnSpPr>
        <p:spPr>
          <a:xfrm flipV="1">
            <a:off x="7545788" y="4363358"/>
            <a:ext cx="627601" cy="109918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3C5B9-5262-9432-67E8-2776B41EB9B0}"/>
              </a:ext>
            </a:extLst>
          </p:cNvPr>
          <p:cNvSpPr txBox="1"/>
          <p:nvPr/>
        </p:nvSpPr>
        <p:spPr>
          <a:xfrm>
            <a:off x="6186115" y="5130160"/>
            <a:ext cx="161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low_length</a:t>
            </a:r>
            <a:endParaRPr lang="nl-NL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732217-F0AA-AD05-EBD6-A1ADD87C5B13}"/>
              </a:ext>
            </a:extLst>
          </p:cNvPr>
          <p:cNvSpPr txBox="1"/>
          <p:nvPr/>
        </p:nvSpPr>
        <p:spPr>
          <a:xfrm>
            <a:off x="7226994" y="3244334"/>
            <a:ext cx="161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up_length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C0A-A820-7AF2-5685-10765B5A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CDB3FCE5-C3C5-BE06-DA11-13AA190D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CDDA8F-EB12-BD2A-5BC1-08E77718B64D}"/>
              </a:ext>
            </a:extLst>
          </p:cNvPr>
          <p:cNvSpPr txBox="1"/>
          <p:nvPr/>
        </p:nvSpPr>
        <p:spPr>
          <a:xfrm>
            <a:off x="24406" y="1303485"/>
            <a:ext cx="531833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nl-NL" altLang="zh-CN" sz="2800" dirty="0"/>
              <a:t>Incorrect </a:t>
            </a:r>
            <a:r>
              <a:rPr lang="nl-NL" altLang="zh-CN" sz="2800" dirty="0" err="1"/>
              <a:t>length</a:t>
            </a:r>
            <a:r>
              <a:rPr lang="nl-NL" altLang="zh-CN" sz="2800" dirty="0"/>
              <a:t> </a:t>
            </a:r>
            <a:r>
              <a:rPr lang="nl-NL" altLang="zh-CN" sz="2800" dirty="0" err="1"/>
              <a:t>measuring</a:t>
            </a:r>
            <a:r>
              <a:rPr lang="nl-NL" altLang="zh-CN" sz="2800" dirty="0"/>
              <a:t>: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 err="1"/>
              <a:t>Instead</a:t>
            </a:r>
            <a:r>
              <a:rPr lang="nl-NL" altLang="zh-CN" sz="2400" dirty="0"/>
              <a:t> of ‘center +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/2’, I </a:t>
            </a:r>
            <a:r>
              <a:rPr lang="nl-NL" altLang="zh-CN" sz="2400" dirty="0" err="1"/>
              <a:t>divide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into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up_length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low_length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solve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unsymmetrical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problem</a:t>
            </a:r>
            <a:r>
              <a:rPr lang="nl-NL" altLang="zh-CN" sz="2400" dirty="0"/>
              <a:t>.</a:t>
            </a:r>
          </a:p>
        </p:txBody>
      </p:sp>
      <p:pic>
        <p:nvPicPr>
          <p:cNvPr id="7" name="图片 6" descr="电脑游戏的屏幕&#10;&#10;AI 生成的内容可能不正确。">
            <a:extLst>
              <a:ext uri="{FF2B5EF4-FFF2-40B4-BE49-F238E27FC236}">
                <a16:creationId xmlns:a16="http://schemas.microsoft.com/office/drawing/2014/main" id="{C7467D54-80EC-3D11-728D-4EDC4B5BB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94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0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4105-F5C5-4B03-0A68-5FC992B8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3CFAF4-5F03-1439-4797-78048B5E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5C1134D-10E8-6EDE-E2F4-D6CF7471297D}"/>
              </a:ext>
            </a:extLst>
          </p:cNvPr>
          <p:cNvSpPr/>
          <p:nvPr/>
        </p:nvSpPr>
        <p:spPr>
          <a:xfrm>
            <a:off x="6763742" y="938642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4EC0EA-AA95-FE82-BD86-180E8996FE6C}"/>
              </a:ext>
            </a:extLst>
          </p:cNvPr>
          <p:cNvCxnSpPr>
            <a:cxnSpLocks/>
          </p:cNvCxnSpPr>
          <p:nvPr/>
        </p:nvCxnSpPr>
        <p:spPr>
          <a:xfrm flipH="1">
            <a:off x="9253294" y="1247216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E786F65-BAE9-DCD9-88E6-0E122FD95F14}"/>
              </a:ext>
            </a:extLst>
          </p:cNvPr>
          <p:cNvSpPr/>
          <p:nvPr/>
        </p:nvSpPr>
        <p:spPr>
          <a:xfrm rot="20146179">
            <a:off x="9304641" y="3626897"/>
            <a:ext cx="57345" cy="1703263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D3BBE0A-CC4F-8FAC-05A7-A9B4098D0691}"/>
              </a:ext>
            </a:extLst>
          </p:cNvPr>
          <p:cNvSpPr/>
          <p:nvPr/>
        </p:nvSpPr>
        <p:spPr>
          <a:xfrm>
            <a:off x="9252825" y="1347105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79C0DCC-E93F-DCA8-0083-4678FBF987C8}"/>
              </a:ext>
            </a:extLst>
          </p:cNvPr>
          <p:cNvSpPr/>
          <p:nvPr/>
        </p:nvSpPr>
        <p:spPr>
          <a:xfrm rot="20797478">
            <a:off x="9357268" y="281471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EB9C6A-DF09-8659-A113-07FDBAEF3F51}"/>
              </a:ext>
            </a:extLst>
          </p:cNvPr>
          <p:cNvSpPr txBox="1"/>
          <p:nvPr/>
        </p:nvSpPr>
        <p:spPr>
          <a:xfrm>
            <a:off x="74003" y="202803"/>
            <a:ext cx="53183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Center </a:t>
            </a:r>
            <a:r>
              <a:rPr lang="nl-NL" sz="2800" dirty="0" err="1"/>
              <a:t>problem</a:t>
            </a:r>
            <a:r>
              <a:rPr lang="nl-NL" sz="2800" dirty="0"/>
              <a:t> in Scoring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pic>
        <p:nvPicPr>
          <p:cNvPr id="7" name="图片 6" descr="电脑游戏的屏幕&#10;&#10;AI 生成的内容可能不正确。">
            <a:extLst>
              <a:ext uri="{FF2B5EF4-FFF2-40B4-BE49-F238E27FC236}">
                <a16:creationId xmlns:a16="http://schemas.microsoft.com/office/drawing/2014/main" id="{08717A23-4860-2C53-BA90-349A360A3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63" y="726490"/>
            <a:ext cx="5900837" cy="5900837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80366D6D-C9C0-708B-9B47-AF909A48DCAF}"/>
              </a:ext>
            </a:extLst>
          </p:cNvPr>
          <p:cNvSpPr/>
          <p:nvPr/>
        </p:nvSpPr>
        <p:spPr>
          <a:xfrm>
            <a:off x="4057421" y="5040971"/>
            <a:ext cx="1786787" cy="1422456"/>
          </a:xfrm>
          <a:prstGeom prst="wedgeRoundRectCallout">
            <a:avLst>
              <a:gd name="adj1" fmla="val -91551"/>
              <a:gd name="adj2" fmla="val -144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This</a:t>
            </a:r>
            <a:r>
              <a:rPr lang="nl-NL" sz="1600" dirty="0"/>
              <a:t> stem </a:t>
            </a:r>
            <a:r>
              <a:rPr lang="nl-NL" sz="1600" dirty="0" err="1"/>
              <a:t>estimated</a:t>
            </a:r>
            <a:r>
              <a:rPr lang="nl-NL" sz="1600" dirty="0"/>
              <a:t>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lower</a:t>
            </a:r>
            <a:r>
              <a:rPr lang="nl-NL" sz="1600" dirty="0"/>
              <a:t> score </a:t>
            </a:r>
            <a:r>
              <a:rPr lang="nl-NL" sz="1600" dirty="0" err="1"/>
              <a:t>than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actual</a:t>
            </a:r>
            <a:r>
              <a:rPr lang="nl-NL" sz="1600" dirty="0"/>
              <a:t> </a:t>
            </a:r>
            <a:r>
              <a:rPr lang="nl-NL" sz="1600" dirty="0" err="1"/>
              <a:t>neighbor</a:t>
            </a:r>
            <a:endParaRPr lang="nl-NL" sz="1600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9F943590-ACB5-3C01-3D6E-737337AC29BD}"/>
              </a:ext>
            </a:extLst>
          </p:cNvPr>
          <p:cNvSpPr/>
          <p:nvPr/>
        </p:nvSpPr>
        <p:spPr>
          <a:xfrm>
            <a:off x="1707579" y="3833667"/>
            <a:ext cx="1316781" cy="604299"/>
          </a:xfrm>
          <a:prstGeom prst="wedgeRoundRectCallout">
            <a:avLst>
              <a:gd name="adj1" fmla="val 60083"/>
              <a:gd name="adj2" fmla="val 348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Actual</a:t>
            </a:r>
            <a:r>
              <a:rPr lang="nl-NL" sz="1600" dirty="0"/>
              <a:t> </a:t>
            </a:r>
            <a:r>
              <a:rPr lang="nl-NL" sz="1600" dirty="0" err="1"/>
              <a:t>neighbor</a:t>
            </a:r>
            <a:endParaRPr lang="nl-NL" sz="1600" dirty="0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B69087D6-3EB6-1B78-C950-E91797CAACAF}"/>
              </a:ext>
            </a:extLst>
          </p:cNvPr>
          <p:cNvSpPr/>
          <p:nvPr/>
        </p:nvSpPr>
        <p:spPr>
          <a:xfrm>
            <a:off x="3695173" y="2736928"/>
            <a:ext cx="1316781" cy="604299"/>
          </a:xfrm>
          <a:prstGeom prst="wedgeRoundRectCallout">
            <a:avLst>
              <a:gd name="adj1" fmla="val -72763"/>
              <a:gd name="adj2" fmla="val 230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/>
              <a:t>Base stem</a:t>
            </a:r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B8309792-50A3-206E-D2BC-F15E98161DFA}"/>
              </a:ext>
            </a:extLst>
          </p:cNvPr>
          <p:cNvSpPr/>
          <p:nvPr/>
        </p:nvSpPr>
        <p:spPr>
          <a:xfrm rot="3800708">
            <a:off x="9033146" y="2755498"/>
            <a:ext cx="439358" cy="324470"/>
          </a:xfrm>
          <a:prstGeom prst="arc">
            <a:avLst>
              <a:gd name="adj1" fmla="val 20616408"/>
              <a:gd name="adj2" fmla="val 16251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142EF42C-34A4-745B-7DA7-5870D4AED1EA}"/>
              </a:ext>
            </a:extLst>
          </p:cNvPr>
          <p:cNvSpPr/>
          <p:nvPr/>
        </p:nvSpPr>
        <p:spPr>
          <a:xfrm rot="3777905">
            <a:off x="8982331" y="4137597"/>
            <a:ext cx="439358" cy="324470"/>
          </a:xfrm>
          <a:prstGeom prst="arc">
            <a:avLst>
              <a:gd name="adj1" fmla="val 21081956"/>
              <a:gd name="adj2" fmla="val 41163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9544BB69-0D83-EA04-46AA-515E94A2F47A}"/>
              </a:ext>
            </a:extLst>
          </p:cNvPr>
          <p:cNvSpPr/>
          <p:nvPr/>
        </p:nvSpPr>
        <p:spPr>
          <a:xfrm>
            <a:off x="9298545" y="4437966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50ED6748-14D2-9FAB-8790-46D7F17F7953}"/>
              </a:ext>
            </a:extLst>
          </p:cNvPr>
          <p:cNvSpPr/>
          <p:nvPr/>
        </p:nvSpPr>
        <p:spPr>
          <a:xfrm>
            <a:off x="9368698" y="3054710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DEC6917-E974-4B4F-449F-267CC7A4701D}"/>
              </a:ext>
            </a:extLst>
          </p:cNvPr>
          <p:cNvSpPr txBox="1"/>
          <p:nvPr/>
        </p:nvSpPr>
        <p:spPr>
          <a:xfrm>
            <a:off x="6890397" y="4437966"/>
            <a:ext cx="2407571" cy="1237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center of </a:t>
            </a:r>
            <a:r>
              <a:rPr lang="nl-NL" dirty="0" err="1"/>
              <a:t>the</a:t>
            </a:r>
            <a:r>
              <a:rPr lang="nl-NL" dirty="0"/>
              <a:t> stem is </a:t>
            </a:r>
            <a:r>
              <a:rPr lang="nl-NL" dirty="0" err="1"/>
              <a:t>too</a:t>
            </a:r>
            <a:r>
              <a:rPr lang="nl-NL" dirty="0"/>
              <a:t> close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base vector, </a:t>
            </a:r>
            <a:r>
              <a:rPr lang="nl-NL" dirty="0" err="1"/>
              <a:t>the</a:t>
            </a:r>
            <a:r>
              <a:rPr lang="nl-NL" dirty="0"/>
              <a:t> score approches 0</a:t>
            </a:r>
          </a:p>
        </p:txBody>
      </p:sp>
    </p:spTree>
    <p:extLst>
      <p:ext uri="{BB962C8B-B14F-4D97-AF65-F5344CB8AC3E}">
        <p14:creationId xmlns:p14="http://schemas.microsoft.com/office/powerpoint/2010/main" val="63967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C670-1A1A-DBC9-3788-6DA9F7E7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621670-8225-005B-26D9-4F1BF336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4C282A5-E253-36CC-D5B6-93396F9084C9}"/>
              </a:ext>
            </a:extLst>
          </p:cNvPr>
          <p:cNvSpPr/>
          <p:nvPr/>
        </p:nvSpPr>
        <p:spPr>
          <a:xfrm>
            <a:off x="6763742" y="938642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9005565-7734-FAE7-70C4-33489E66DD13}"/>
              </a:ext>
            </a:extLst>
          </p:cNvPr>
          <p:cNvCxnSpPr>
            <a:cxnSpLocks/>
          </p:cNvCxnSpPr>
          <p:nvPr/>
        </p:nvCxnSpPr>
        <p:spPr>
          <a:xfrm flipH="1">
            <a:off x="9253294" y="1247216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3F6FCF-64DF-B831-2A7F-CABCA049B6DF}"/>
              </a:ext>
            </a:extLst>
          </p:cNvPr>
          <p:cNvSpPr/>
          <p:nvPr/>
        </p:nvSpPr>
        <p:spPr>
          <a:xfrm rot="20146179">
            <a:off x="9304641" y="3626897"/>
            <a:ext cx="57345" cy="1703263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AE7276D-8463-4BAB-3A5D-DD793E7E852A}"/>
              </a:ext>
            </a:extLst>
          </p:cNvPr>
          <p:cNvSpPr/>
          <p:nvPr/>
        </p:nvSpPr>
        <p:spPr>
          <a:xfrm>
            <a:off x="9252825" y="1347105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394D021-6C58-8E0F-CE1C-8A562A300951}"/>
              </a:ext>
            </a:extLst>
          </p:cNvPr>
          <p:cNvSpPr/>
          <p:nvPr/>
        </p:nvSpPr>
        <p:spPr>
          <a:xfrm rot="20797478">
            <a:off x="9357268" y="281471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4D4323-E578-B68D-AE25-CA02C8653A02}"/>
              </a:ext>
            </a:extLst>
          </p:cNvPr>
          <p:cNvSpPr txBox="1"/>
          <p:nvPr/>
        </p:nvSpPr>
        <p:spPr>
          <a:xfrm>
            <a:off x="74003" y="202803"/>
            <a:ext cx="53183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Center </a:t>
            </a:r>
            <a:r>
              <a:rPr lang="nl-NL" sz="2800" dirty="0" err="1"/>
              <a:t>problem</a:t>
            </a:r>
            <a:r>
              <a:rPr lang="nl-NL" sz="2800" dirty="0"/>
              <a:t> in Scoring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39B196C6-3BFE-5520-05DC-4A1F427611C7}"/>
              </a:ext>
            </a:extLst>
          </p:cNvPr>
          <p:cNvSpPr/>
          <p:nvPr/>
        </p:nvSpPr>
        <p:spPr>
          <a:xfrm rot="3800708">
            <a:off x="9033146" y="2755498"/>
            <a:ext cx="439358" cy="324470"/>
          </a:xfrm>
          <a:prstGeom prst="arc">
            <a:avLst>
              <a:gd name="adj1" fmla="val 20616408"/>
              <a:gd name="adj2" fmla="val 16251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7C2BD353-550F-378B-88DF-F4ED5C18B427}"/>
              </a:ext>
            </a:extLst>
          </p:cNvPr>
          <p:cNvSpPr/>
          <p:nvPr/>
        </p:nvSpPr>
        <p:spPr>
          <a:xfrm rot="3777905">
            <a:off x="8982331" y="4137597"/>
            <a:ext cx="439358" cy="324470"/>
          </a:xfrm>
          <a:prstGeom prst="arc">
            <a:avLst>
              <a:gd name="adj1" fmla="val 21081956"/>
              <a:gd name="adj2" fmla="val 41163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B2411358-016B-3523-0013-7036440A7A50}"/>
              </a:ext>
            </a:extLst>
          </p:cNvPr>
          <p:cNvSpPr/>
          <p:nvPr/>
        </p:nvSpPr>
        <p:spPr>
          <a:xfrm>
            <a:off x="9298545" y="4437966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CCB69A63-7D75-89CB-CEA1-D8C9C02C48C4}"/>
              </a:ext>
            </a:extLst>
          </p:cNvPr>
          <p:cNvSpPr/>
          <p:nvPr/>
        </p:nvSpPr>
        <p:spPr>
          <a:xfrm>
            <a:off x="9368698" y="3054710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491C4B8-AFA9-06EA-2C93-28AF34ECADB6}"/>
              </a:ext>
            </a:extLst>
          </p:cNvPr>
          <p:cNvSpPr txBox="1"/>
          <p:nvPr/>
        </p:nvSpPr>
        <p:spPr>
          <a:xfrm>
            <a:off x="6890397" y="4437966"/>
            <a:ext cx="2407571" cy="1237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center of </a:t>
            </a:r>
            <a:r>
              <a:rPr lang="nl-NL" dirty="0" err="1"/>
              <a:t>the</a:t>
            </a:r>
            <a:r>
              <a:rPr lang="nl-NL" dirty="0"/>
              <a:t> stem is </a:t>
            </a:r>
            <a:r>
              <a:rPr lang="nl-NL" dirty="0" err="1"/>
              <a:t>too</a:t>
            </a:r>
            <a:r>
              <a:rPr lang="nl-NL" dirty="0"/>
              <a:t> close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base vector, </a:t>
            </a:r>
            <a:r>
              <a:rPr lang="nl-NL" dirty="0" err="1"/>
              <a:t>the</a:t>
            </a:r>
            <a:r>
              <a:rPr lang="nl-NL" dirty="0"/>
              <a:t> score approches 0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DD7725-16A6-0E43-9082-DBA9F5E8CE9E}"/>
              </a:ext>
            </a:extLst>
          </p:cNvPr>
          <p:cNvSpPr txBox="1"/>
          <p:nvPr/>
        </p:nvSpPr>
        <p:spPr>
          <a:xfrm>
            <a:off x="5738312" y="340877"/>
            <a:ext cx="716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radius = </a:t>
            </a:r>
            <a:r>
              <a:rPr lang="nl-NL" dirty="0" err="1"/>
              <a:t>abs</a:t>
            </a:r>
            <a:r>
              <a:rPr lang="nl-NL" dirty="0"/>
              <a:t>(</a:t>
            </a:r>
            <a:r>
              <a:rPr lang="nl-NL" dirty="0" err="1"/>
              <a:t>np.linalg.norm</a:t>
            </a:r>
            <a:r>
              <a:rPr lang="nl-NL" dirty="0"/>
              <a:t>(</a:t>
            </a:r>
            <a:r>
              <a:rPr lang="nl-NL" dirty="0" err="1"/>
              <a:t>inter</a:t>
            </a:r>
            <a:r>
              <a:rPr lang="nl-NL" dirty="0"/>
              <a:t> - c2) - (l2[0]+l2[1])/2)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B11DD5F-3866-1F3B-DEA1-952C0EF6CDE6}"/>
              </a:ext>
            </a:extLst>
          </p:cNvPr>
          <p:cNvCxnSpPr>
            <a:stCxn id="23" idx="0"/>
          </p:cNvCxnSpPr>
          <p:nvPr/>
        </p:nvCxnSpPr>
        <p:spPr>
          <a:xfrm>
            <a:off x="8983799" y="3701923"/>
            <a:ext cx="269026" cy="597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弧形 10">
            <a:extLst>
              <a:ext uri="{FF2B5EF4-FFF2-40B4-BE49-F238E27FC236}">
                <a16:creationId xmlns:a16="http://schemas.microsoft.com/office/drawing/2014/main" id="{C5528968-4A11-FF52-4730-5C52CA3BBB14}"/>
              </a:ext>
            </a:extLst>
          </p:cNvPr>
          <p:cNvSpPr/>
          <p:nvPr/>
        </p:nvSpPr>
        <p:spPr>
          <a:xfrm rot="16037657">
            <a:off x="8949174" y="3560540"/>
            <a:ext cx="439358" cy="613685"/>
          </a:xfrm>
          <a:prstGeom prst="arc">
            <a:avLst>
              <a:gd name="adj1" fmla="val 18505712"/>
              <a:gd name="adj2" fmla="val 16251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图片 13" descr="电视上的卡通&#10;&#10;AI 生成的内容可能不正确。">
            <a:extLst>
              <a:ext uri="{FF2B5EF4-FFF2-40B4-BE49-F238E27FC236}">
                <a16:creationId xmlns:a16="http://schemas.microsoft.com/office/drawing/2014/main" id="{6CA126E1-FDBD-8D83-516C-E88E93F9C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3" y="710209"/>
            <a:ext cx="6057194" cy="6057194"/>
          </a:xfrm>
          <a:prstGeom prst="rect">
            <a:avLst/>
          </a:prstGeom>
        </p:spPr>
      </p:pic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592403B4-79D9-4D4C-5C90-8C70220D1582}"/>
              </a:ext>
            </a:extLst>
          </p:cNvPr>
          <p:cNvSpPr/>
          <p:nvPr/>
        </p:nvSpPr>
        <p:spPr>
          <a:xfrm>
            <a:off x="3665802" y="2798279"/>
            <a:ext cx="1316781" cy="604299"/>
          </a:xfrm>
          <a:prstGeom prst="wedgeRoundRectCallout">
            <a:avLst>
              <a:gd name="adj1" fmla="val -72763"/>
              <a:gd name="adj2" fmla="val 230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/>
              <a:t>Base stem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9C6F350E-5E1D-3758-04BF-732D8C5D34FA}"/>
              </a:ext>
            </a:extLst>
          </p:cNvPr>
          <p:cNvSpPr/>
          <p:nvPr/>
        </p:nvSpPr>
        <p:spPr>
          <a:xfrm>
            <a:off x="1691251" y="3936005"/>
            <a:ext cx="1316781" cy="604299"/>
          </a:xfrm>
          <a:prstGeom prst="wedgeRoundRectCallout">
            <a:avLst>
              <a:gd name="adj1" fmla="val 60083"/>
              <a:gd name="adj2" fmla="val 348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Actual</a:t>
            </a:r>
            <a:r>
              <a:rPr lang="nl-NL" sz="1600" dirty="0"/>
              <a:t> </a:t>
            </a:r>
            <a:r>
              <a:rPr lang="nl-NL" sz="1600" dirty="0" err="1"/>
              <a:t>neighbor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68049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4CC08-9356-B515-B051-0EEBC0DB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3EABA9F-5D28-CEDD-4E5F-549AFE87F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AB7FD9-F7CD-AF01-7D1A-877E3DD52665}"/>
              </a:ext>
            </a:extLst>
          </p:cNvPr>
          <p:cNvSpPr/>
          <p:nvPr/>
        </p:nvSpPr>
        <p:spPr>
          <a:xfrm>
            <a:off x="6583110" y="878989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CA12713-8EFF-B43A-93E0-28561C4F9E29}"/>
              </a:ext>
            </a:extLst>
          </p:cNvPr>
          <p:cNvCxnSpPr>
            <a:cxnSpLocks/>
          </p:cNvCxnSpPr>
          <p:nvPr/>
        </p:nvCxnSpPr>
        <p:spPr>
          <a:xfrm flipH="1">
            <a:off x="7619491" y="1095355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ADF819-1932-291A-8482-53A5BC00146B}"/>
              </a:ext>
            </a:extLst>
          </p:cNvPr>
          <p:cNvSpPr/>
          <p:nvPr/>
        </p:nvSpPr>
        <p:spPr>
          <a:xfrm rot="20146179">
            <a:off x="7670838" y="3475036"/>
            <a:ext cx="57345" cy="1703263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B8BF4CB-9542-A6A4-23D7-C555E843CD8A}"/>
              </a:ext>
            </a:extLst>
          </p:cNvPr>
          <p:cNvSpPr/>
          <p:nvPr/>
        </p:nvSpPr>
        <p:spPr>
          <a:xfrm>
            <a:off x="7619022" y="1195244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78E24B2-1CAD-A782-62FA-29EFDDEC13B2}"/>
              </a:ext>
            </a:extLst>
          </p:cNvPr>
          <p:cNvSpPr/>
          <p:nvPr/>
        </p:nvSpPr>
        <p:spPr>
          <a:xfrm rot="20797478">
            <a:off x="7723465" y="2662855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79EAC7-18DD-E343-525E-245ADD3D3AB1}"/>
              </a:ext>
            </a:extLst>
          </p:cNvPr>
          <p:cNvSpPr txBox="1"/>
          <p:nvPr/>
        </p:nvSpPr>
        <p:spPr>
          <a:xfrm>
            <a:off x="74003" y="202803"/>
            <a:ext cx="53183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4. Center </a:t>
            </a:r>
            <a:r>
              <a:rPr lang="nl-NL" sz="2800" dirty="0" err="1"/>
              <a:t>problem</a:t>
            </a:r>
            <a:r>
              <a:rPr lang="nl-NL" sz="2800" dirty="0"/>
              <a:t> in Scoring</a:t>
            </a:r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37BF7EFB-1F7C-B869-7545-39CCB5C44FB3}"/>
              </a:ext>
            </a:extLst>
          </p:cNvPr>
          <p:cNvSpPr/>
          <p:nvPr/>
        </p:nvSpPr>
        <p:spPr>
          <a:xfrm rot="3800708">
            <a:off x="7399343" y="2603637"/>
            <a:ext cx="439358" cy="324470"/>
          </a:xfrm>
          <a:prstGeom prst="arc">
            <a:avLst>
              <a:gd name="adj1" fmla="val 20616408"/>
              <a:gd name="adj2" fmla="val 16251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7900178D-E3E6-D0BA-AFD4-0D995824D62A}"/>
              </a:ext>
            </a:extLst>
          </p:cNvPr>
          <p:cNvSpPr/>
          <p:nvPr/>
        </p:nvSpPr>
        <p:spPr>
          <a:xfrm rot="3777905">
            <a:off x="7348528" y="3985736"/>
            <a:ext cx="439358" cy="324470"/>
          </a:xfrm>
          <a:prstGeom prst="arc">
            <a:avLst>
              <a:gd name="adj1" fmla="val 21081956"/>
              <a:gd name="adj2" fmla="val 41163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FED79A7D-458C-C395-1841-E39906D94FF5}"/>
              </a:ext>
            </a:extLst>
          </p:cNvPr>
          <p:cNvSpPr/>
          <p:nvPr/>
        </p:nvSpPr>
        <p:spPr>
          <a:xfrm>
            <a:off x="7664742" y="4286105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C763274E-A9B4-797C-984E-4314E5108BD0}"/>
              </a:ext>
            </a:extLst>
          </p:cNvPr>
          <p:cNvSpPr/>
          <p:nvPr/>
        </p:nvSpPr>
        <p:spPr>
          <a:xfrm>
            <a:off x="7734895" y="2902849"/>
            <a:ext cx="45719" cy="45719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7274AC-204A-A4E0-B38A-BD31AFC9CDF9}"/>
              </a:ext>
            </a:extLst>
          </p:cNvPr>
          <p:cNvCxnSpPr>
            <a:stCxn id="23" idx="0"/>
          </p:cNvCxnSpPr>
          <p:nvPr/>
        </p:nvCxnSpPr>
        <p:spPr>
          <a:xfrm>
            <a:off x="7349996" y="3550062"/>
            <a:ext cx="269026" cy="597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弧形 10">
            <a:extLst>
              <a:ext uri="{FF2B5EF4-FFF2-40B4-BE49-F238E27FC236}">
                <a16:creationId xmlns:a16="http://schemas.microsoft.com/office/drawing/2014/main" id="{D32F2C7A-79B4-BF63-265A-602934284CC2}"/>
              </a:ext>
            </a:extLst>
          </p:cNvPr>
          <p:cNvSpPr/>
          <p:nvPr/>
        </p:nvSpPr>
        <p:spPr>
          <a:xfrm rot="16037657">
            <a:off x="7315371" y="3408679"/>
            <a:ext cx="439358" cy="613685"/>
          </a:xfrm>
          <a:prstGeom prst="arc">
            <a:avLst>
              <a:gd name="adj1" fmla="val 18505712"/>
              <a:gd name="adj2" fmla="val 16251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图片 4" descr="电脑游戏的屏幕&#10;&#10;AI 生成的内容可能不正确。">
            <a:extLst>
              <a:ext uri="{FF2B5EF4-FFF2-40B4-BE49-F238E27FC236}">
                <a16:creationId xmlns:a16="http://schemas.microsoft.com/office/drawing/2014/main" id="{ECBEDB19-1AF8-C12C-E645-0847EDD58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1" y="807738"/>
            <a:ext cx="6050262" cy="6050262"/>
          </a:xfrm>
          <a:prstGeom prst="rect">
            <a:avLst/>
          </a:prstGeom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BAFD0656-33A5-0616-B219-C9C8B45E08C1}"/>
              </a:ext>
            </a:extLst>
          </p:cNvPr>
          <p:cNvSpPr/>
          <p:nvPr/>
        </p:nvSpPr>
        <p:spPr>
          <a:xfrm>
            <a:off x="305299" y="1744985"/>
            <a:ext cx="1316781" cy="604299"/>
          </a:xfrm>
          <a:prstGeom prst="wedgeRoundRectCallout">
            <a:avLst>
              <a:gd name="adj1" fmla="val 57063"/>
              <a:gd name="adj2" fmla="val -1513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/>
              <a:t>Base stem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51013CC0-BE75-E748-9D14-A0B98E21711B}"/>
              </a:ext>
            </a:extLst>
          </p:cNvPr>
          <p:cNvSpPr/>
          <p:nvPr/>
        </p:nvSpPr>
        <p:spPr>
          <a:xfrm>
            <a:off x="689812" y="3497003"/>
            <a:ext cx="1316781" cy="604299"/>
          </a:xfrm>
          <a:prstGeom prst="wedgeRoundRectCallout">
            <a:avLst>
              <a:gd name="adj1" fmla="val 60083"/>
              <a:gd name="adj2" fmla="val 348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Actual</a:t>
            </a:r>
            <a:r>
              <a:rPr lang="nl-NL" sz="1600" dirty="0"/>
              <a:t> </a:t>
            </a:r>
            <a:r>
              <a:rPr lang="nl-NL" sz="1600" dirty="0" err="1"/>
              <a:t>neighbor</a:t>
            </a:r>
            <a:endParaRPr lang="nl-NL" sz="160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714173F-F8E7-2915-1D98-90206BE48E0F}"/>
              </a:ext>
            </a:extLst>
          </p:cNvPr>
          <p:cNvSpPr/>
          <p:nvPr/>
        </p:nvSpPr>
        <p:spPr>
          <a:xfrm>
            <a:off x="2218412" y="1784658"/>
            <a:ext cx="1786787" cy="1422456"/>
          </a:xfrm>
          <a:prstGeom prst="wedgeRoundRectCallout">
            <a:avLst>
              <a:gd name="adj1" fmla="val -56841"/>
              <a:gd name="adj2" fmla="val 4762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This</a:t>
            </a:r>
            <a:r>
              <a:rPr lang="nl-NL" sz="1600" dirty="0"/>
              <a:t> stem </a:t>
            </a:r>
            <a:r>
              <a:rPr lang="nl-NL" sz="1600" dirty="0" err="1"/>
              <a:t>estimated</a:t>
            </a:r>
            <a:r>
              <a:rPr lang="nl-NL" sz="1600" dirty="0"/>
              <a:t>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lower</a:t>
            </a:r>
            <a:r>
              <a:rPr lang="nl-NL" sz="1600" dirty="0"/>
              <a:t> score </a:t>
            </a:r>
            <a:r>
              <a:rPr lang="nl-NL" sz="1600" dirty="0" err="1"/>
              <a:t>than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actual</a:t>
            </a:r>
            <a:r>
              <a:rPr lang="nl-NL" sz="1600" dirty="0"/>
              <a:t> </a:t>
            </a:r>
            <a:r>
              <a:rPr lang="nl-NL" sz="1600" dirty="0" err="1"/>
              <a:t>neighbor</a:t>
            </a:r>
            <a:endParaRPr lang="nl-NL" sz="1600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3E0FA4E-1531-3A24-9104-EBAA55DD35E7}"/>
              </a:ext>
            </a:extLst>
          </p:cNvPr>
          <p:cNvCxnSpPr>
            <a:cxnSpLocks/>
          </p:cNvCxnSpPr>
          <p:nvPr/>
        </p:nvCxnSpPr>
        <p:spPr>
          <a:xfrm flipH="1">
            <a:off x="9253294" y="1247216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129AB29-36D8-E2A2-F1B2-B7C8A70490D8}"/>
              </a:ext>
            </a:extLst>
          </p:cNvPr>
          <p:cNvSpPr/>
          <p:nvPr/>
        </p:nvSpPr>
        <p:spPr>
          <a:xfrm rot="20146179">
            <a:off x="9612551" y="4016499"/>
            <a:ext cx="57345" cy="1703263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9338969-EAE6-1495-0F02-AE2CE4824B1F}"/>
              </a:ext>
            </a:extLst>
          </p:cNvPr>
          <p:cNvSpPr/>
          <p:nvPr/>
        </p:nvSpPr>
        <p:spPr>
          <a:xfrm>
            <a:off x="9252825" y="1347105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8E33BF34-B0EA-6B8D-3DDE-50E4A672AEA7}"/>
              </a:ext>
            </a:extLst>
          </p:cNvPr>
          <p:cNvSpPr/>
          <p:nvPr/>
        </p:nvSpPr>
        <p:spPr>
          <a:xfrm rot="5400000">
            <a:off x="9063066" y="4374825"/>
            <a:ext cx="439358" cy="798694"/>
          </a:xfrm>
          <a:prstGeom prst="arc">
            <a:avLst>
              <a:gd name="adj1" fmla="val 17157605"/>
              <a:gd name="adj2" fmla="val 41163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59B6A9C2-DED3-F6CA-3E3A-CC89ED006E7D}"/>
              </a:ext>
            </a:extLst>
          </p:cNvPr>
          <p:cNvSpPr/>
          <p:nvPr/>
        </p:nvSpPr>
        <p:spPr>
          <a:xfrm>
            <a:off x="9593035" y="4802489"/>
            <a:ext cx="115872" cy="131282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80EA51-314B-74B7-6731-D4095878DE04}"/>
              </a:ext>
            </a:extLst>
          </p:cNvPr>
          <p:cNvSpPr txBox="1"/>
          <p:nvPr/>
        </p:nvSpPr>
        <p:spPr>
          <a:xfrm>
            <a:off x="5785606" y="318114"/>
            <a:ext cx="716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radius = </a:t>
            </a:r>
            <a:r>
              <a:rPr lang="nl-NL" dirty="0" err="1"/>
              <a:t>abs</a:t>
            </a:r>
            <a:r>
              <a:rPr lang="nl-NL" dirty="0"/>
              <a:t>(</a:t>
            </a:r>
            <a:r>
              <a:rPr lang="nl-NL" dirty="0" err="1"/>
              <a:t>np.linalg.norm</a:t>
            </a:r>
            <a:r>
              <a:rPr lang="nl-NL" dirty="0"/>
              <a:t>(</a:t>
            </a:r>
            <a:r>
              <a:rPr lang="nl-NL" dirty="0" err="1"/>
              <a:t>inter</a:t>
            </a:r>
            <a:r>
              <a:rPr lang="nl-NL" dirty="0"/>
              <a:t> - c2) - (l2[0]+l2[1])/2)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ABE9C7-14E4-FB27-E758-43F8A1D97516}"/>
              </a:ext>
            </a:extLst>
          </p:cNvPr>
          <p:cNvSpPr txBox="1"/>
          <p:nvPr/>
        </p:nvSpPr>
        <p:spPr>
          <a:xfrm>
            <a:off x="9402271" y="3356587"/>
            <a:ext cx="2407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Now</a:t>
            </a:r>
            <a:r>
              <a:rPr lang="nl-NL" altLang="zh-CN" dirty="0"/>
              <a:t> we put </a:t>
            </a:r>
            <a:r>
              <a:rPr lang="nl-NL" altLang="zh-CN" dirty="0" err="1"/>
              <a:t>this</a:t>
            </a:r>
            <a:r>
              <a:rPr lang="nl-NL" altLang="zh-CN" dirty="0"/>
              <a:t> 0, </a:t>
            </a:r>
            <a:r>
              <a:rPr lang="nl-NL" altLang="zh-CN" dirty="0" err="1"/>
              <a:t>when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top is </a:t>
            </a:r>
            <a:r>
              <a:rPr lang="nl-NL" altLang="zh-CN" dirty="0" err="1"/>
              <a:t>too</a:t>
            </a:r>
            <a:r>
              <a:rPr lang="nl-NL" altLang="zh-CN" dirty="0"/>
              <a:t> close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base vector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86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2E2E-7BAA-7887-D042-D4E88007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2E40D30C-2D44-72F3-1D3E-E4D4E429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6A81A6-960B-3709-9B63-07143091874B}"/>
              </a:ext>
            </a:extLst>
          </p:cNvPr>
          <p:cNvSpPr txBox="1"/>
          <p:nvPr/>
        </p:nvSpPr>
        <p:spPr>
          <a:xfrm>
            <a:off x="764140" y="1098353"/>
            <a:ext cx="58058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3. Inaccurate PCA </a:t>
            </a:r>
            <a:r>
              <a:rPr lang="nl-NL" sz="2800" dirty="0" err="1"/>
              <a:t>direction</a:t>
            </a:r>
            <a:r>
              <a:rPr lang="nl-NL" sz="2800" dirty="0"/>
              <a:t> computing</a:t>
            </a:r>
          </a:p>
          <a:p>
            <a:endParaRPr lang="nl-NL" sz="2800" dirty="0"/>
          </a:p>
          <a:p>
            <a:r>
              <a:rPr lang="nl-NL" altLang="zh-CN" sz="2800" dirty="0"/>
              <a:t>PCA </a:t>
            </a:r>
            <a:r>
              <a:rPr lang="nl-NL" altLang="zh-CN" sz="2800" dirty="0" err="1"/>
              <a:t>direction</a:t>
            </a:r>
            <a:r>
              <a:rPr lang="nl-NL" altLang="zh-CN" sz="2800" dirty="0"/>
              <a:t> of </a:t>
            </a:r>
            <a:r>
              <a:rPr lang="nl-NL" altLang="zh-CN" sz="2800" dirty="0" err="1"/>
              <a:t>rhombus</a:t>
            </a:r>
            <a:r>
              <a:rPr lang="nl-NL" altLang="zh-CN" sz="2800" dirty="0"/>
              <a:t> or long </a:t>
            </a:r>
            <a:r>
              <a:rPr lang="nl-NL" altLang="zh-CN" sz="2800" dirty="0" err="1"/>
              <a:t>rectangle</a:t>
            </a:r>
            <a:r>
              <a:rPr lang="nl-NL" altLang="zh-CN" sz="2800" dirty="0"/>
              <a:t> is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diagonal</a:t>
            </a:r>
            <a:r>
              <a:rPr lang="nl-NL" altLang="zh-CN" sz="2800" dirty="0"/>
              <a:t> </a:t>
            </a:r>
            <a:r>
              <a:rPr lang="nl-NL" altLang="zh-CN" sz="2800" dirty="0" err="1"/>
              <a:t>instead</a:t>
            </a:r>
            <a:r>
              <a:rPr lang="nl-NL" altLang="zh-CN" sz="2800" dirty="0"/>
              <a:t> of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central</a:t>
            </a:r>
            <a:r>
              <a:rPr lang="nl-NL" altLang="zh-CN" sz="2800" dirty="0"/>
              <a:t> </a:t>
            </a:r>
            <a:r>
              <a:rPr lang="nl-NL" altLang="zh-CN" sz="2800" dirty="0" err="1"/>
              <a:t>axis</a:t>
            </a:r>
            <a:endParaRPr lang="nl-NL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F3BD08-AF4C-2ACF-1CEC-C94A80D0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17" y="104524"/>
            <a:ext cx="5182323" cy="6687483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57A3D9E1-563C-66EC-D917-D79DFBFEBF0C}"/>
              </a:ext>
            </a:extLst>
          </p:cNvPr>
          <p:cNvSpPr/>
          <p:nvPr/>
        </p:nvSpPr>
        <p:spPr>
          <a:xfrm>
            <a:off x="9617529" y="514350"/>
            <a:ext cx="1102178" cy="669471"/>
          </a:xfrm>
          <a:prstGeom prst="wedgeRoundRectCallout">
            <a:avLst>
              <a:gd name="adj1" fmla="val -53241"/>
              <a:gd name="adj2" fmla="val -6798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Base stem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EB3D03D5-71F9-8D9F-6DAA-FC8666275B6E}"/>
              </a:ext>
            </a:extLst>
          </p:cNvPr>
          <p:cNvSpPr/>
          <p:nvPr/>
        </p:nvSpPr>
        <p:spPr>
          <a:xfrm>
            <a:off x="7592676" y="3094263"/>
            <a:ext cx="1270544" cy="669471"/>
          </a:xfrm>
          <a:prstGeom prst="wedgeRoundRectCallout">
            <a:avLst>
              <a:gd name="adj1" fmla="val 61910"/>
              <a:gd name="adj2" fmla="val -7749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Actual</a:t>
            </a:r>
            <a:r>
              <a:rPr lang="nl-NL" dirty="0"/>
              <a:t> </a:t>
            </a:r>
            <a:r>
              <a:rPr lang="nl-NL" dirty="0" err="1"/>
              <a:t>neighbor</a:t>
            </a:r>
            <a:endParaRPr lang="nl-NL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38D665CC-AF96-374B-D70E-9AFA7928638B}"/>
              </a:ext>
            </a:extLst>
          </p:cNvPr>
          <p:cNvSpPr/>
          <p:nvPr/>
        </p:nvSpPr>
        <p:spPr>
          <a:xfrm>
            <a:off x="10168618" y="6008914"/>
            <a:ext cx="1614170" cy="669471"/>
          </a:xfrm>
          <a:prstGeom prst="wedgeRoundRectCallout">
            <a:avLst>
              <a:gd name="adj1" fmla="val -53241"/>
              <a:gd name="adj2" fmla="val -6798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Wrong </a:t>
            </a:r>
            <a:r>
              <a:rPr lang="nl-NL" dirty="0" err="1"/>
              <a:t>connection</a:t>
            </a:r>
            <a:endParaRPr lang="nl-NL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A1E6B77-8D52-54D6-F209-391D6ECE813A}"/>
              </a:ext>
            </a:extLst>
          </p:cNvPr>
          <p:cNvCxnSpPr>
            <a:cxnSpLocks/>
          </p:cNvCxnSpPr>
          <p:nvPr/>
        </p:nvCxnSpPr>
        <p:spPr>
          <a:xfrm>
            <a:off x="9365392" y="583589"/>
            <a:ext cx="331650" cy="28454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420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sz="2800" dirty="0" err="1"/>
              <a:t>Improve</a:t>
            </a:r>
            <a:r>
              <a:rPr lang="nl-NL" sz="2800" dirty="0"/>
              <a:t> Stem </a:t>
            </a:r>
            <a:r>
              <a:rPr lang="nl-NL" sz="2800" dirty="0" err="1"/>
              <a:t>Pairing</a:t>
            </a:r>
            <a:r>
              <a:rPr lang="nl-NL" sz="2800" dirty="0"/>
              <a:t> </a:t>
            </a:r>
            <a:r>
              <a:rPr lang="nl-NL" sz="2800" dirty="0" err="1"/>
              <a:t>Algorithm</a:t>
            </a:r>
            <a:endParaRPr lang="nl-NL" sz="2800" dirty="0"/>
          </a:p>
          <a:p>
            <a:pPr marL="514350" indent="-514350">
              <a:buAutoNum type="arabicParenBoth"/>
            </a:pP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356</Words>
  <Application>Microsoft Office PowerPoint</Application>
  <PresentationFormat>宽屏</PresentationFormat>
  <Paragraphs>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Arial</vt:lpstr>
      <vt:lpstr>Bierstadt</vt:lpstr>
      <vt:lpstr>Neue Haas Grotesk Text Pro</vt:lpstr>
      <vt:lpstr>GestaltVTI</vt:lpstr>
      <vt:lpstr>Correction on 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26</cp:revision>
  <dcterms:created xsi:type="dcterms:W3CDTF">2025-09-24T08:15:25Z</dcterms:created>
  <dcterms:modified xsi:type="dcterms:W3CDTF">2025-10-15T09:05:24Z</dcterms:modified>
</cp:coreProperties>
</file>