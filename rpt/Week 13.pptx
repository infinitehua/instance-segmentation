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10"/>
  </p:notesMasterIdLst>
  <p:sldIdLst>
    <p:sldId id="256" r:id="rId2"/>
    <p:sldId id="279" r:id="rId3"/>
    <p:sldId id="280" r:id="rId4"/>
    <p:sldId id="281" r:id="rId5"/>
    <p:sldId id="282" r:id="rId6"/>
    <p:sldId id="283" r:id="rId7"/>
    <p:sldId id="291" r:id="rId8"/>
    <p:sldId id="29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879AA2-1C16-4A7E-8DBB-0DE4CA399ADA}" type="datetimeFigureOut">
              <a:rPr lang="nl-NL" smtClean="0"/>
              <a:t>26-11-2025</a:t>
            </a:fld>
            <a:endParaRPr lang="nl-NL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nl-NL"/>
              <a:t>单击此处编辑母版文本样式</a:t>
            </a:r>
          </a:p>
          <a:p>
            <a:pPr lvl="1"/>
            <a:r>
              <a:rPr lang="zh-CN" altLang="nl-NL"/>
              <a:t>二级</a:t>
            </a:r>
          </a:p>
          <a:p>
            <a:pPr lvl="2"/>
            <a:r>
              <a:rPr lang="zh-CN" altLang="nl-NL"/>
              <a:t>三级</a:t>
            </a:r>
          </a:p>
          <a:p>
            <a:pPr lvl="3"/>
            <a:r>
              <a:rPr lang="zh-CN" altLang="nl-NL"/>
              <a:t>四级</a:t>
            </a:r>
          </a:p>
          <a:p>
            <a:pPr lvl="4"/>
            <a:r>
              <a:rPr lang="zh-CN" altLang="nl-NL"/>
              <a:t>五级</a:t>
            </a:r>
            <a:endParaRPr lang="nl-NL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65684-97EB-460C-9E25-8771E1DCF07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405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65684-97EB-460C-9E25-8771E1DCF07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8039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174FD-C6F5-50C4-F076-9EFD178D2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455BA4-294D-82DB-D5EF-85D8973FA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9032AB-14B1-0F4B-3D7E-8E4F577C8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79117A-97AC-4542-5F3D-97695422A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65684-97EB-460C-9E25-8771E1DCF07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0576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5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4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1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4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4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0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9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9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0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6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8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AD8A0319-AE46-77C0-E20B-0BFF79B7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69" b="726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983913-82E9-0231-BFD7-5D2FB4EF169E}"/>
              </a:ext>
            </a:extLst>
          </p:cNvPr>
          <p:cNvSpPr/>
          <p:nvPr/>
        </p:nvSpPr>
        <p:spPr>
          <a:xfrm>
            <a:off x="5788479" y="0"/>
            <a:ext cx="644976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2F46A7-62AF-5535-A89E-4BC72FD67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8767" y="799032"/>
            <a:ext cx="7049188" cy="3969960"/>
          </a:xfrm>
        </p:spPr>
        <p:txBody>
          <a:bodyPr anchor="t">
            <a:normAutofit/>
          </a:bodyPr>
          <a:lstStyle/>
          <a:p>
            <a:pPr algn="ctr"/>
            <a:r>
              <a:rPr lang="nl-NL" sz="4400" dirty="0">
                <a:solidFill>
                  <a:schemeClr val="bg1"/>
                </a:solidFill>
              </a:rPr>
              <a:t>Stem </a:t>
            </a:r>
            <a:r>
              <a:rPr lang="nl-NL" sz="4400" dirty="0" err="1">
                <a:solidFill>
                  <a:schemeClr val="bg1"/>
                </a:solidFill>
              </a:rPr>
              <a:t>Pa</a:t>
            </a:r>
            <a:r>
              <a:rPr lang="nl-NL" altLang="zh-CN" sz="4400" dirty="0" err="1">
                <a:solidFill>
                  <a:schemeClr val="bg1"/>
                </a:solidFill>
              </a:rPr>
              <a:t>i</a:t>
            </a:r>
            <a:r>
              <a:rPr lang="nl-NL" sz="4400" dirty="0" err="1">
                <a:solidFill>
                  <a:schemeClr val="bg1"/>
                </a:solidFill>
              </a:rPr>
              <a:t>ring</a:t>
            </a:r>
            <a:br>
              <a:rPr lang="nl-NL" sz="4400" dirty="0">
                <a:solidFill>
                  <a:schemeClr val="bg1"/>
                </a:solidFill>
              </a:rPr>
            </a:br>
            <a:r>
              <a:rPr lang="nl-NL" sz="4400" dirty="0" err="1">
                <a:solidFill>
                  <a:schemeClr val="bg1"/>
                </a:solidFill>
              </a:rPr>
              <a:t>and</a:t>
            </a:r>
            <a:r>
              <a:rPr lang="nl-NL" sz="4400" dirty="0">
                <a:solidFill>
                  <a:schemeClr val="bg1"/>
                </a:solidFill>
              </a:rPr>
              <a:t> </a:t>
            </a:r>
            <a:br>
              <a:rPr lang="nl-NL" sz="4400" dirty="0">
                <a:solidFill>
                  <a:schemeClr val="bg1"/>
                </a:solidFill>
              </a:rPr>
            </a:br>
            <a:r>
              <a:rPr lang="nl-NL" sz="4400" dirty="0">
                <a:solidFill>
                  <a:schemeClr val="bg1"/>
                </a:solidFill>
              </a:rPr>
              <a:t>Top </a:t>
            </a:r>
            <a:r>
              <a:rPr lang="nl-NL" sz="4400" dirty="0" err="1">
                <a:solidFill>
                  <a:schemeClr val="bg1"/>
                </a:solidFill>
              </a:rPr>
              <a:t>Flower</a:t>
            </a:r>
            <a:r>
              <a:rPr lang="nl-NL" sz="4400" dirty="0">
                <a:solidFill>
                  <a:schemeClr val="bg1"/>
                </a:solidFill>
              </a:rPr>
              <a:t> </a:t>
            </a:r>
            <a:r>
              <a:rPr lang="nl-NL" sz="4400" dirty="0" err="1">
                <a:solidFill>
                  <a:schemeClr val="bg1"/>
                </a:solidFill>
              </a:rPr>
              <a:t>Selection</a:t>
            </a:r>
            <a:endParaRPr lang="nl-NL" sz="4400" dirty="0">
              <a:solidFill>
                <a:schemeClr val="bg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850C22-AD4C-689C-7C2C-25DA475AB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087" y="3332996"/>
            <a:ext cx="4381634" cy="1157436"/>
          </a:xfrm>
        </p:spPr>
        <p:txBody>
          <a:bodyPr anchor="b">
            <a:normAutofit/>
          </a:bodyPr>
          <a:lstStyle/>
          <a:p>
            <a:r>
              <a:rPr lang="nl-NL" sz="2800" dirty="0">
                <a:solidFill>
                  <a:schemeClr val="bg1"/>
                </a:solidFill>
              </a:rPr>
              <a:t>Week 13 Hua Jiang</a:t>
            </a:r>
          </a:p>
        </p:txBody>
      </p:sp>
      <p:pic>
        <p:nvPicPr>
          <p:cNvPr id="10" name="图片 9" descr="图片包含 监控, 桌子, 照片, 侧面&#10;&#10;AI 生成的内容可能不正确。">
            <a:extLst>
              <a:ext uri="{FF2B5EF4-FFF2-40B4-BE49-F238E27FC236}">
                <a16:creationId xmlns:a16="http://schemas.microsoft.com/office/drawing/2014/main" id="{A0277795-A87B-ECDA-24CC-693EFA89D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58" y="937591"/>
            <a:ext cx="5355866" cy="535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21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624B-7869-A8F7-73D4-CBBC4E734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778AF324-6C44-CDF3-A9CC-85C5A9B54B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-15059" y="1"/>
            <a:ext cx="12200741" cy="45103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470D960-081B-BF05-12D2-0F4C87D66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450" y="63911"/>
            <a:ext cx="7979232" cy="589039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7DC4914-7D25-4CCD-D103-18B385C323C4}"/>
              </a:ext>
            </a:extLst>
          </p:cNvPr>
          <p:cNvSpPr txBox="1"/>
          <p:nvPr/>
        </p:nvSpPr>
        <p:spPr>
          <a:xfrm>
            <a:off x="102038" y="340544"/>
            <a:ext cx="35536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Tested the overall performance based on Sem’s dataset. (224 images)</a:t>
            </a:r>
            <a:endParaRPr lang="nl-NL" altLang="zh-CN" sz="2400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0ED5E5EA-84AE-8E95-D327-10C1953B1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01" y="4510317"/>
            <a:ext cx="4123949" cy="1399032"/>
          </a:xfrm>
        </p:spPr>
        <p:txBody>
          <a:bodyPr>
            <a:normAutofit fontScale="85000" lnSpcReduction="10000"/>
          </a:bodyPr>
          <a:lstStyle/>
          <a:p>
            <a:r>
              <a:rPr lang="nl-NL" altLang="zh-CN" dirty="0"/>
              <a:t>! </a:t>
            </a:r>
            <a:r>
              <a:rPr lang="nl-NL" altLang="zh-CN" dirty="0" err="1"/>
              <a:t>This</a:t>
            </a:r>
            <a:r>
              <a:rPr lang="nl-NL" altLang="zh-CN" dirty="0"/>
              <a:t> experiment tests </a:t>
            </a:r>
            <a:r>
              <a:rPr lang="nl-NL" altLang="zh-CN" dirty="0" err="1"/>
              <a:t>only</a:t>
            </a:r>
            <a:r>
              <a:rPr lang="nl-NL" altLang="zh-CN" dirty="0"/>
              <a:t> </a:t>
            </a:r>
            <a:r>
              <a:rPr lang="nl-NL" altLang="zh-CN" dirty="0" err="1"/>
              <a:t>the</a:t>
            </a:r>
            <a:r>
              <a:rPr lang="nl-NL" altLang="zh-CN" dirty="0"/>
              <a:t> stem </a:t>
            </a:r>
            <a:r>
              <a:rPr lang="nl-NL" altLang="zh-CN" dirty="0" err="1"/>
              <a:t>pairing</a:t>
            </a:r>
            <a:r>
              <a:rPr lang="nl-NL" altLang="zh-CN" dirty="0"/>
              <a:t> </a:t>
            </a:r>
            <a:r>
              <a:rPr lang="nl-NL" altLang="zh-CN" dirty="0" err="1"/>
              <a:t>algorithm</a:t>
            </a:r>
            <a:r>
              <a:rPr lang="nl-NL" altLang="zh-CN" dirty="0"/>
              <a:t> </a:t>
            </a:r>
            <a:r>
              <a:rPr lang="nl-NL" altLang="zh-CN" dirty="0" err="1"/>
              <a:t>given</a:t>
            </a:r>
            <a:r>
              <a:rPr lang="nl-NL" altLang="zh-CN" dirty="0"/>
              <a:t> </a:t>
            </a:r>
            <a:r>
              <a:rPr lang="nl-NL" altLang="zh-CN" dirty="0" err="1"/>
              <a:t>masks</a:t>
            </a:r>
            <a:r>
              <a:rPr lang="nl-NL" altLang="zh-CN" dirty="0"/>
              <a:t> </a:t>
            </a:r>
            <a:r>
              <a:rPr lang="nl-NL" altLang="zh-CN" dirty="0" err="1"/>
              <a:t>annotations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7252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27CF9-EF1D-332F-2962-93C02340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127249A2-B63C-963C-CC72-DFE247459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AB7A3F6-0542-D06D-EB6A-5591612BCA2B}"/>
              </a:ext>
            </a:extLst>
          </p:cNvPr>
          <p:cNvSpPr txBox="1"/>
          <p:nvPr/>
        </p:nvSpPr>
        <p:spPr>
          <a:xfrm>
            <a:off x="47933" y="155222"/>
            <a:ext cx="106728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'</a:t>
            </a:r>
            <a:r>
              <a:rPr lang="en-US" altLang="zh-CN" sz="2400" dirty="0" err="1"/>
              <a:t>total_gt_clusters</a:t>
            </a:r>
            <a:r>
              <a:rPr lang="en-US" altLang="zh-CN" sz="2400" dirty="0"/>
              <a:t>': 1282, </a:t>
            </a:r>
          </a:p>
          <a:p>
            <a:r>
              <a:rPr lang="en-US" altLang="zh-CN" sz="2400" dirty="0"/>
              <a:t>'</a:t>
            </a:r>
            <a:r>
              <a:rPr lang="en-US" altLang="zh-CN" sz="2400" dirty="0" err="1"/>
              <a:t>total_pred_clusters</a:t>
            </a:r>
            <a:r>
              <a:rPr lang="en-US" altLang="zh-CN" sz="2400" dirty="0"/>
              <a:t>': 1358, </a:t>
            </a:r>
          </a:p>
          <a:p>
            <a:r>
              <a:rPr lang="en-US" altLang="zh-CN" sz="2400" dirty="0"/>
              <a:t>'matched': 1239</a:t>
            </a:r>
          </a:p>
          <a:p>
            <a:endParaRPr lang="en-US" altLang="zh-CN" sz="2400" dirty="0"/>
          </a:p>
          <a:p>
            <a:r>
              <a:rPr lang="en-US" altLang="zh-CN" sz="2400" dirty="0"/>
              <a:t>'</a:t>
            </a:r>
            <a:r>
              <a:rPr lang="en-US" altLang="zh-CN" sz="2400" dirty="0" err="1"/>
              <a:t>precision_matched</a:t>
            </a:r>
            <a:r>
              <a:rPr lang="en-US" altLang="zh-CN" sz="2400" dirty="0"/>
              <a:t>': 0.9123711340206185, </a:t>
            </a:r>
          </a:p>
          <a:p>
            <a:r>
              <a:rPr lang="en-US" altLang="zh-CN" sz="2400" dirty="0"/>
              <a:t>'</a:t>
            </a:r>
            <a:r>
              <a:rPr lang="en-US" altLang="zh-CN" sz="2400" dirty="0" err="1"/>
              <a:t>recall_matched</a:t>
            </a:r>
            <a:r>
              <a:rPr lang="en-US" altLang="zh-CN" sz="2400" dirty="0"/>
              <a:t>': 0.9664586583463338, </a:t>
            </a:r>
          </a:p>
          <a:p>
            <a:r>
              <a:rPr lang="en-US" altLang="zh-CN" sz="2400" dirty="0"/>
              <a:t>'f1_matched': 0.9386363636363636, </a:t>
            </a:r>
          </a:p>
          <a:p>
            <a:endParaRPr lang="en-US" altLang="zh-CN" sz="2400" dirty="0"/>
          </a:p>
          <a:p>
            <a:r>
              <a:rPr lang="en-US" altLang="zh-CN" sz="2400" dirty="0"/>
              <a:t>'</a:t>
            </a:r>
            <a:r>
              <a:rPr lang="en-US" altLang="zh-CN" sz="2400" dirty="0" err="1"/>
              <a:t>precision_mean</a:t>
            </a:r>
            <a:r>
              <a:rPr lang="en-US" altLang="zh-CN" sz="2400" dirty="0"/>
              <a:t>': 0.8990786604391044, </a:t>
            </a:r>
          </a:p>
          <a:p>
            <a:r>
              <a:rPr lang="en-US" altLang="zh-CN" sz="2400" dirty="0"/>
              <a:t>'</a:t>
            </a:r>
            <a:r>
              <a:rPr lang="en-US" altLang="zh-CN" sz="2400" dirty="0" err="1"/>
              <a:t>recall_mean</a:t>
            </a:r>
            <a:r>
              <a:rPr lang="en-US" altLang="zh-CN" sz="2400" dirty="0"/>
              <a:t>': 0.9451226238283218, </a:t>
            </a:r>
          </a:p>
          <a:p>
            <a:r>
              <a:rPr lang="en-US" altLang="zh-CN" sz="2400" dirty="0"/>
              <a:t>'f1_mean': 0.9191995500242673, </a:t>
            </a:r>
          </a:p>
          <a:p>
            <a:endParaRPr lang="nl-NL" altLang="zh-CN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444ABC-D11E-9A58-A26E-78AEBBE9ECC6}"/>
              </a:ext>
            </a:extLst>
          </p:cNvPr>
          <p:cNvSpPr/>
          <p:nvPr/>
        </p:nvSpPr>
        <p:spPr>
          <a:xfrm>
            <a:off x="7943851" y="832757"/>
            <a:ext cx="2841171" cy="26778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0A71EC-30C8-9BD8-7574-3CE9C7B2B753}"/>
              </a:ext>
            </a:extLst>
          </p:cNvPr>
          <p:cNvSpPr/>
          <p:nvPr/>
        </p:nvSpPr>
        <p:spPr>
          <a:xfrm>
            <a:off x="7943850" y="832757"/>
            <a:ext cx="1412421" cy="137976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E5626E-70A7-19A9-C0E1-F3690AA78F32}"/>
              </a:ext>
            </a:extLst>
          </p:cNvPr>
          <p:cNvSpPr/>
          <p:nvPr/>
        </p:nvSpPr>
        <p:spPr>
          <a:xfrm>
            <a:off x="9356271" y="2212522"/>
            <a:ext cx="1412421" cy="129812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363FB6-2BBD-84D3-7D85-6F9E40F0A7EC}"/>
              </a:ext>
            </a:extLst>
          </p:cNvPr>
          <p:cNvSpPr txBox="1"/>
          <p:nvPr/>
        </p:nvSpPr>
        <p:spPr>
          <a:xfrm rot="10800000">
            <a:off x="7006808" y="1256306"/>
            <a:ext cx="461665" cy="14630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Prediction</a:t>
            </a:r>
            <a:endParaRPr lang="nl-NL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54B1BC-3ADC-43FF-A635-919CE34136C9}"/>
              </a:ext>
            </a:extLst>
          </p:cNvPr>
          <p:cNvSpPr txBox="1"/>
          <p:nvPr/>
        </p:nvSpPr>
        <p:spPr>
          <a:xfrm rot="16200000">
            <a:off x="9471700" y="-892358"/>
            <a:ext cx="461665" cy="24022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Ground Truth</a:t>
            </a:r>
            <a:endParaRPr lang="nl-NL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FB0C5A-637E-ACD0-9D0D-1F9C80043F15}"/>
              </a:ext>
            </a:extLst>
          </p:cNvPr>
          <p:cNvSpPr txBox="1"/>
          <p:nvPr/>
        </p:nvSpPr>
        <p:spPr>
          <a:xfrm rot="16200000">
            <a:off x="9125438" y="-553915"/>
            <a:ext cx="461665" cy="24022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Positive</a:t>
            </a:r>
            <a:endParaRPr lang="nl-NL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588BD7-B865-6E91-B921-C1E17F37F74E}"/>
              </a:ext>
            </a:extLst>
          </p:cNvPr>
          <p:cNvSpPr txBox="1"/>
          <p:nvPr/>
        </p:nvSpPr>
        <p:spPr>
          <a:xfrm rot="16200000">
            <a:off x="10498092" y="-553915"/>
            <a:ext cx="461665" cy="24022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Negative</a:t>
            </a:r>
            <a:endParaRPr lang="nl-NL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265CB2-FC1C-E6F9-ADAC-D55BE74BAEB9}"/>
              </a:ext>
            </a:extLst>
          </p:cNvPr>
          <p:cNvSpPr txBox="1"/>
          <p:nvPr/>
        </p:nvSpPr>
        <p:spPr>
          <a:xfrm rot="10800000">
            <a:off x="7482184" y="-414427"/>
            <a:ext cx="461665" cy="24022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Positive</a:t>
            </a:r>
            <a:endParaRPr lang="nl-NL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733540-A9CE-8567-3AB3-C2185DA6AC17}"/>
              </a:ext>
            </a:extLst>
          </p:cNvPr>
          <p:cNvSpPr txBox="1"/>
          <p:nvPr/>
        </p:nvSpPr>
        <p:spPr>
          <a:xfrm rot="10800000">
            <a:off x="7457260" y="991547"/>
            <a:ext cx="461665" cy="24022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Negative</a:t>
            </a:r>
            <a:endParaRPr lang="nl-NL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4C238D-0DCF-356D-7C69-8BDB436838AF}"/>
              </a:ext>
            </a:extLst>
          </p:cNvPr>
          <p:cNvSpPr txBox="1"/>
          <p:nvPr/>
        </p:nvSpPr>
        <p:spPr>
          <a:xfrm rot="16200000">
            <a:off x="9394447" y="322177"/>
            <a:ext cx="461665" cy="24022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TP</a:t>
            </a:r>
            <a:endParaRPr lang="nl-NL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A8FB7B1-1EB9-9833-04A5-84E565081D3B}"/>
              </a:ext>
            </a:extLst>
          </p:cNvPr>
          <p:cNvSpPr txBox="1"/>
          <p:nvPr/>
        </p:nvSpPr>
        <p:spPr>
          <a:xfrm rot="16200000">
            <a:off x="9370514" y="1646923"/>
            <a:ext cx="461665" cy="24022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FN</a:t>
            </a:r>
            <a:endParaRPr lang="nl-NL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506C58-4473-EC9E-E460-5D6121F1868A}"/>
              </a:ext>
            </a:extLst>
          </p:cNvPr>
          <p:cNvSpPr txBox="1"/>
          <p:nvPr/>
        </p:nvSpPr>
        <p:spPr>
          <a:xfrm rot="16200000">
            <a:off x="10854545" y="354452"/>
            <a:ext cx="461665" cy="24022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FP</a:t>
            </a:r>
            <a:endParaRPr lang="nl-NL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25ECA84-1777-AF67-6EA3-ADAB40692DD9}"/>
              </a:ext>
            </a:extLst>
          </p:cNvPr>
          <p:cNvSpPr txBox="1"/>
          <p:nvPr/>
        </p:nvSpPr>
        <p:spPr>
          <a:xfrm rot="16200000">
            <a:off x="10816715" y="1684129"/>
            <a:ext cx="461665" cy="24022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TN</a:t>
            </a:r>
            <a:endParaRPr lang="nl-NL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3048C52-64EE-41F1-3A2B-A3EBDC0E4669}"/>
              </a:ext>
            </a:extLst>
          </p:cNvPr>
          <p:cNvSpPr txBox="1"/>
          <p:nvPr/>
        </p:nvSpPr>
        <p:spPr>
          <a:xfrm>
            <a:off x="5844209" y="3603124"/>
            <a:ext cx="6570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Recall: TP/(TP + FN) – accuracy in GT</a:t>
            </a:r>
          </a:p>
          <a:p>
            <a:r>
              <a:rPr lang="en-US" dirty="0"/>
              <a:t>Precision: TP/(TP + FP) – accuracy in Prediction</a:t>
            </a:r>
          </a:p>
          <a:p>
            <a:r>
              <a:rPr lang="nl-NL" dirty="0"/>
              <a:t>F1 Score = 2 * (Precision * </a:t>
            </a:r>
            <a:r>
              <a:rPr lang="nl-NL" dirty="0" err="1"/>
              <a:t>Recall</a:t>
            </a:r>
            <a:r>
              <a:rPr lang="nl-NL" dirty="0"/>
              <a:t>) / (Precision + </a:t>
            </a:r>
            <a:r>
              <a:rPr lang="nl-NL" dirty="0" err="1"/>
              <a:t>Recall</a:t>
            </a:r>
            <a:r>
              <a:rPr lang="nl-NL" dirty="0"/>
              <a:t>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676256-3950-749F-B4A0-136EF3AE0A4D}"/>
              </a:ext>
            </a:extLst>
          </p:cNvPr>
          <p:cNvSpPr/>
          <p:nvPr/>
        </p:nvSpPr>
        <p:spPr>
          <a:xfrm>
            <a:off x="1415332" y="4756823"/>
            <a:ext cx="45719" cy="11688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C705608-E236-1862-3C6D-8ED2F8E178CA}"/>
              </a:ext>
            </a:extLst>
          </p:cNvPr>
          <p:cNvSpPr/>
          <p:nvPr/>
        </p:nvSpPr>
        <p:spPr>
          <a:xfrm rot="703812" flipH="1">
            <a:off x="1457261" y="4323450"/>
            <a:ext cx="49913" cy="451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4C78BF-998F-A1E6-39A0-7ABF4E2B1E7B}"/>
              </a:ext>
            </a:extLst>
          </p:cNvPr>
          <p:cNvSpPr/>
          <p:nvPr/>
        </p:nvSpPr>
        <p:spPr>
          <a:xfrm>
            <a:off x="1459357" y="4765830"/>
            <a:ext cx="45719" cy="116884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847FF48-58BA-CC7E-7383-ADF79F8115D4}"/>
              </a:ext>
            </a:extLst>
          </p:cNvPr>
          <p:cNvSpPr/>
          <p:nvPr/>
        </p:nvSpPr>
        <p:spPr>
          <a:xfrm rot="703812" flipH="1">
            <a:off x="1386976" y="5926027"/>
            <a:ext cx="49913" cy="45102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8BBA4A-AC82-4C4F-F78E-F6C39685D9DB}"/>
              </a:ext>
            </a:extLst>
          </p:cNvPr>
          <p:cNvSpPr txBox="1"/>
          <p:nvPr/>
        </p:nvSpPr>
        <p:spPr>
          <a:xfrm>
            <a:off x="1842712" y="4719640"/>
            <a:ext cx="8714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 err="1"/>
              <a:t>IoU</a:t>
            </a:r>
            <a:r>
              <a:rPr lang="nl-NL" altLang="zh-CN" dirty="0"/>
              <a:t> = overlapping area/ </a:t>
            </a:r>
            <a:r>
              <a:rPr lang="nl-NL" altLang="zh-CN" dirty="0" err="1"/>
              <a:t>total</a:t>
            </a:r>
            <a:r>
              <a:rPr lang="nl-NL" altLang="zh-CN" dirty="0"/>
              <a:t> area, </a:t>
            </a:r>
            <a:r>
              <a:rPr lang="nl-NL" altLang="zh-CN" dirty="0" err="1"/>
              <a:t>precision</a:t>
            </a:r>
            <a:r>
              <a:rPr lang="nl-NL" altLang="zh-CN" dirty="0"/>
              <a:t> is </a:t>
            </a:r>
            <a:r>
              <a:rPr lang="nl-NL" altLang="zh-CN" dirty="0" err="1"/>
              <a:t>defined</a:t>
            </a:r>
            <a:r>
              <a:rPr lang="nl-NL" altLang="zh-CN" dirty="0"/>
              <a:t> </a:t>
            </a:r>
            <a:r>
              <a:rPr lang="nl-NL" altLang="zh-CN" dirty="0" err="1"/>
              <a:t>by</a:t>
            </a:r>
            <a:r>
              <a:rPr lang="nl-NL" altLang="zh-CN" dirty="0"/>
              <a:t> </a:t>
            </a:r>
            <a:r>
              <a:rPr lang="nl-NL" altLang="zh-CN" dirty="0" err="1"/>
              <a:t>IoU</a:t>
            </a:r>
            <a:endParaRPr lang="nl-NL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05FF9A5-4D18-A02B-3857-938B16022DCC}"/>
              </a:ext>
            </a:extLst>
          </p:cNvPr>
          <p:cNvSpPr txBox="1"/>
          <p:nvPr/>
        </p:nvSpPr>
        <p:spPr>
          <a:xfrm>
            <a:off x="1842712" y="5142690"/>
            <a:ext cx="8983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 err="1"/>
              <a:t>Matched</a:t>
            </a:r>
            <a:r>
              <a:rPr lang="nl-NL" altLang="zh-CN" dirty="0"/>
              <a:t>:</a:t>
            </a:r>
            <a:r>
              <a:rPr lang="zh-CN" altLang="nl-NL" dirty="0"/>
              <a:t> </a:t>
            </a:r>
            <a:r>
              <a:rPr lang="nl-NL" altLang="zh-CN" dirty="0"/>
              <a:t>The </a:t>
            </a:r>
            <a:r>
              <a:rPr lang="nl-NL" altLang="zh-CN" dirty="0" err="1"/>
              <a:t>IoU</a:t>
            </a:r>
            <a:r>
              <a:rPr lang="nl-NL" altLang="zh-CN" dirty="0"/>
              <a:t> </a:t>
            </a:r>
            <a:r>
              <a:rPr lang="nl-NL" altLang="zh-CN" dirty="0" err="1"/>
              <a:t>between</a:t>
            </a:r>
            <a:r>
              <a:rPr lang="zh-CN" altLang="nl-NL" dirty="0"/>
              <a:t> </a:t>
            </a:r>
            <a:r>
              <a:rPr lang="nl-NL" altLang="zh-CN" dirty="0"/>
              <a:t>a</a:t>
            </a:r>
            <a:r>
              <a:rPr lang="zh-CN" altLang="nl-NL" dirty="0"/>
              <a:t> </a:t>
            </a:r>
            <a:r>
              <a:rPr lang="nl-NL" altLang="zh-CN" dirty="0"/>
              <a:t>GT </a:t>
            </a:r>
            <a:r>
              <a:rPr lang="nl-NL" altLang="zh-CN" dirty="0" err="1"/>
              <a:t>flower</a:t>
            </a:r>
            <a:r>
              <a:rPr lang="zh-CN" altLang="nl-NL" dirty="0"/>
              <a:t> </a:t>
            </a:r>
            <a:r>
              <a:rPr lang="nl-NL" altLang="zh-CN" dirty="0"/>
              <a:t>stem</a:t>
            </a:r>
            <a:r>
              <a:rPr lang="zh-CN" altLang="nl-NL" dirty="0"/>
              <a:t> </a:t>
            </a:r>
            <a:r>
              <a:rPr lang="nl-NL" altLang="zh-CN" dirty="0" err="1"/>
              <a:t>and</a:t>
            </a:r>
            <a:r>
              <a:rPr lang="nl-NL" altLang="zh-CN" dirty="0"/>
              <a:t> </a:t>
            </a:r>
            <a:r>
              <a:rPr lang="nl-NL" altLang="zh-CN" dirty="0" err="1"/>
              <a:t>its</a:t>
            </a:r>
            <a:r>
              <a:rPr lang="nl-NL" altLang="zh-CN" dirty="0"/>
              <a:t> </a:t>
            </a:r>
            <a:r>
              <a:rPr lang="nl-NL" altLang="zh-CN" dirty="0" err="1"/>
              <a:t>prediction</a:t>
            </a:r>
            <a:r>
              <a:rPr lang="nl-NL" altLang="zh-CN" dirty="0"/>
              <a:t> is </a:t>
            </a:r>
            <a:r>
              <a:rPr lang="nl-NL" altLang="zh-CN" dirty="0" err="1"/>
              <a:t>larger</a:t>
            </a:r>
            <a:r>
              <a:rPr lang="nl-NL" altLang="zh-CN" dirty="0"/>
              <a:t> </a:t>
            </a:r>
            <a:r>
              <a:rPr lang="nl-NL" altLang="zh-CN" dirty="0" err="1"/>
              <a:t>than</a:t>
            </a:r>
            <a:r>
              <a:rPr lang="nl-NL" altLang="zh-CN" dirty="0"/>
              <a:t> 0.5</a:t>
            </a:r>
            <a:endParaRPr lang="nl-NL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64E018E-4E26-D2AB-8E29-FCF7C2DE0BF4}"/>
              </a:ext>
            </a:extLst>
          </p:cNvPr>
          <p:cNvSpPr/>
          <p:nvPr/>
        </p:nvSpPr>
        <p:spPr>
          <a:xfrm>
            <a:off x="457531" y="4765829"/>
            <a:ext cx="45719" cy="11688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000BF5-0364-DCCC-B36F-ABA7F4559383}"/>
              </a:ext>
            </a:extLst>
          </p:cNvPr>
          <p:cNvSpPr/>
          <p:nvPr/>
        </p:nvSpPr>
        <p:spPr>
          <a:xfrm rot="703812" flipH="1">
            <a:off x="499460" y="4332456"/>
            <a:ext cx="49913" cy="4510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93A559-B31E-E017-AE08-D333E541DF49}"/>
              </a:ext>
            </a:extLst>
          </p:cNvPr>
          <p:cNvSpPr/>
          <p:nvPr/>
        </p:nvSpPr>
        <p:spPr>
          <a:xfrm>
            <a:off x="501556" y="4774836"/>
            <a:ext cx="45719" cy="116884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36FFCD-5829-F73F-13B8-5C8C6BF354F1}"/>
              </a:ext>
            </a:extLst>
          </p:cNvPr>
          <p:cNvSpPr/>
          <p:nvPr/>
        </p:nvSpPr>
        <p:spPr>
          <a:xfrm rot="703812" flipH="1">
            <a:off x="429175" y="5935033"/>
            <a:ext cx="49913" cy="4510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箭头: 左 31">
            <a:extLst>
              <a:ext uri="{FF2B5EF4-FFF2-40B4-BE49-F238E27FC236}">
                <a16:creationId xmlns:a16="http://schemas.microsoft.com/office/drawing/2014/main" id="{B321B047-03C5-6E03-6C4F-022BEAA9221E}"/>
              </a:ext>
            </a:extLst>
          </p:cNvPr>
          <p:cNvSpPr/>
          <p:nvPr/>
        </p:nvSpPr>
        <p:spPr>
          <a:xfrm>
            <a:off x="728202" y="5274780"/>
            <a:ext cx="448201" cy="150938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6E85BD9-E9C7-F0C4-711D-A8DE641C255A}"/>
              </a:ext>
            </a:extLst>
          </p:cNvPr>
          <p:cNvSpPr txBox="1"/>
          <p:nvPr/>
        </p:nvSpPr>
        <p:spPr>
          <a:xfrm>
            <a:off x="1555897" y="5782205"/>
            <a:ext cx="211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 err="1"/>
              <a:t>Two</a:t>
            </a:r>
            <a:r>
              <a:rPr lang="nl-NL" altLang="zh-CN" dirty="0"/>
              <a:t> clusters</a:t>
            </a:r>
            <a:endParaRPr lang="nl-NL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7436A9B-0B2F-0A40-8F26-0B3AB27ECF78}"/>
              </a:ext>
            </a:extLst>
          </p:cNvPr>
          <p:cNvSpPr txBox="1"/>
          <p:nvPr/>
        </p:nvSpPr>
        <p:spPr>
          <a:xfrm>
            <a:off x="0" y="6397823"/>
            <a:ext cx="211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/>
              <a:t>Three clusters</a:t>
            </a:r>
            <a:endParaRPr lang="nl-NL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F9936BE-6CFF-C3AD-EC8B-B4BFE1B7A6D6}"/>
              </a:ext>
            </a:extLst>
          </p:cNvPr>
          <p:cNvSpPr txBox="1"/>
          <p:nvPr/>
        </p:nvSpPr>
        <p:spPr>
          <a:xfrm>
            <a:off x="932335" y="4399883"/>
            <a:ext cx="211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>
                <a:solidFill>
                  <a:srgbClr val="FF0000"/>
                </a:solidFill>
              </a:rPr>
              <a:t>GT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B6F9F02-8CF9-33D2-7D59-A05462A7D1A8}"/>
              </a:ext>
            </a:extLst>
          </p:cNvPr>
          <p:cNvSpPr txBox="1"/>
          <p:nvPr/>
        </p:nvSpPr>
        <p:spPr>
          <a:xfrm>
            <a:off x="1044610" y="5960512"/>
            <a:ext cx="211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>
                <a:solidFill>
                  <a:srgbClr val="FF0000"/>
                </a:solidFill>
              </a:rPr>
              <a:t>P</a:t>
            </a:r>
            <a:endParaRPr lang="nl-N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9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CB5DE-F819-1537-5B83-7EE02B61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BD15126-3339-157F-42CE-160A995F05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E56BCC5-7004-7522-E1C2-99A725BF9EE3}"/>
              </a:ext>
            </a:extLst>
          </p:cNvPr>
          <p:cNvSpPr txBox="1"/>
          <p:nvPr/>
        </p:nvSpPr>
        <p:spPr>
          <a:xfrm>
            <a:off x="196607" y="105132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Outliers:</a:t>
            </a:r>
            <a:endParaRPr lang="nl-NL" altLang="zh-CN" sz="2400" dirty="0"/>
          </a:p>
        </p:txBody>
      </p:sp>
      <p:pic>
        <p:nvPicPr>
          <p:cNvPr id="5" name="图片 4" descr="图片包含 容器, 蓝色, 桌子, 小&#10;&#10;AI 生成的内容可能不正确。">
            <a:extLst>
              <a:ext uri="{FF2B5EF4-FFF2-40B4-BE49-F238E27FC236}">
                <a16:creationId xmlns:a16="http://schemas.microsoft.com/office/drawing/2014/main" id="{E5E2360C-93DD-06A2-C7CD-97C10AF11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8" y="1021839"/>
            <a:ext cx="3824481" cy="3824481"/>
          </a:xfrm>
          <a:prstGeom prst="rect">
            <a:avLst/>
          </a:prstGeom>
        </p:spPr>
      </p:pic>
      <p:pic>
        <p:nvPicPr>
          <p:cNvPr id="11" name="图片 10" descr="水中的倒影&#10;&#10;AI 生成的内容可能不正确。">
            <a:extLst>
              <a:ext uri="{FF2B5EF4-FFF2-40B4-BE49-F238E27FC236}">
                <a16:creationId xmlns:a16="http://schemas.microsoft.com/office/drawing/2014/main" id="{A161DA8B-A691-B6D5-8415-BFEA503B1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917" y="1021839"/>
            <a:ext cx="3824481" cy="3824481"/>
          </a:xfrm>
          <a:prstGeom prst="rect">
            <a:avLst/>
          </a:prstGeom>
        </p:spPr>
      </p:pic>
      <p:pic>
        <p:nvPicPr>
          <p:cNvPr id="13" name="图片 12" descr="图片包含 桌子, 盘子, 大, 蛋糕&#10;&#10;AI 生成的内容可能不正确。">
            <a:extLst>
              <a:ext uri="{FF2B5EF4-FFF2-40B4-BE49-F238E27FC236}">
                <a16:creationId xmlns:a16="http://schemas.microsoft.com/office/drawing/2014/main" id="{933F20D9-B1B8-5AF3-3E87-10B3D1CFF9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546" y="1021839"/>
            <a:ext cx="3882166" cy="382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080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07F40-2C68-0015-0FE1-1425BC28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E9B6F644-221D-9FE6-72C4-1E07AF99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A1C7D6C-F916-6092-D493-3A47D4C4BA3D}"/>
              </a:ext>
            </a:extLst>
          </p:cNvPr>
          <p:cNvSpPr txBox="1"/>
          <p:nvPr/>
        </p:nvSpPr>
        <p:spPr>
          <a:xfrm>
            <a:off x="125892" y="189470"/>
            <a:ext cx="115943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Top Selection algorithm developed by Zi,</a:t>
            </a:r>
          </a:p>
          <a:p>
            <a:endParaRPr lang="en-US" altLang="zh-CN" sz="2400" dirty="0"/>
          </a:p>
          <a:p>
            <a:r>
              <a:rPr lang="nl-NL" altLang="zh-CN" sz="2400" dirty="0" err="1"/>
              <a:t>Accuracy</a:t>
            </a:r>
            <a:r>
              <a:rPr lang="nl-NL" altLang="zh-CN" sz="2400" dirty="0"/>
              <a:t>: 0.91, on 178 images, </a:t>
            </a:r>
            <a:r>
              <a:rPr lang="nl-NL" altLang="zh-CN" sz="2400" dirty="0" err="1"/>
              <a:t>given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masks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annotations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and</a:t>
            </a:r>
            <a:r>
              <a:rPr lang="nl-NL" altLang="zh-CN" sz="2400" dirty="0"/>
              <a:t> GT clusters</a:t>
            </a:r>
          </a:p>
        </p:txBody>
      </p:sp>
      <p:pic>
        <p:nvPicPr>
          <p:cNvPr id="7" name="图片 6" descr="蓝色的花&#10;&#10;AI 生成的内容可能不正确。">
            <a:extLst>
              <a:ext uri="{FF2B5EF4-FFF2-40B4-BE49-F238E27FC236}">
                <a16:creationId xmlns:a16="http://schemas.microsoft.com/office/drawing/2014/main" id="{10CE14C2-A532-E24F-28D7-BA2F33666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91" y="1764239"/>
            <a:ext cx="3682783" cy="3682783"/>
          </a:xfrm>
          <a:prstGeom prst="rect">
            <a:avLst/>
          </a:prstGeom>
        </p:spPr>
      </p:pic>
      <p:pic>
        <p:nvPicPr>
          <p:cNvPr id="9" name="图片 8" descr="水下的鱼&#10;&#10;AI 生成的内容可能不正确。">
            <a:extLst>
              <a:ext uri="{FF2B5EF4-FFF2-40B4-BE49-F238E27FC236}">
                <a16:creationId xmlns:a16="http://schemas.microsoft.com/office/drawing/2014/main" id="{941C7F82-60D0-7928-46F2-14E36FCE0E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040" y="1764239"/>
            <a:ext cx="3682783" cy="3682783"/>
          </a:xfrm>
          <a:prstGeom prst="rect">
            <a:avLst/>
          </a:prstGeom>
        </p:spPr>
      </p:pic>
      <p:pic>
        <p:nvPicPr>
          <p:cNvPr id="12" name="图片 11" descr="图片包含 监控, 桌子, 照片, 大&#10;&#10;AI 生成的内容可能不正确。">
            <a:extLst>
              <a:ext uri="{FF2B5EF4-FFF2-40B4-BE49-F238E27FC236}">
                <a16:creationId xmlns:a16="http://schemas.microsoft.com/office/drawing/2014/main" id="{A95FF026-B625-FAD4-255F-8BCCCC385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760" y="1764239"/>
            <a:ext cx="3682783" cy="368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85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C3605-88A9-3367-2F25-5EB2799F8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401FF5FB-0942-D9CF-C2E5-BA97895198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3C7294B-9906-41F4-188C-BC030252783B}"/>
              </a:ext>
            </a:extLst>
          </p:cNvPr>
          <p:cNvSpPr txBox="1"/>
          <p:nvPr/>
        </p:nvSpPr>
        <p:spPr>
          <a:xfrm>
            <a:off x="0" y="97181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Add the profile information to stem pairing, solve the merge problem</a:t>
            </a:r>
            <a:endParaRPr lang="nl-NL" altLang="zh-CN" sz="2400" dirty="0"/>
          </a:p>
        </p:txBody>
      </p:sp>
      <p:pic>
        <p:nvPicPr>
          <p:cNvPr id="5" name="图片 4" descr="紫色的花朵&#10;&#10;AI 生成的内容可能不正确。">
            <a:extLst>
              <a:ext uri="{FF2B5EF4-FFF2-40B4-BE49-F238E27FC236}">
                <a16:creationId xmlns:a16="http://schemas.microsoft.com/office/drawing/2014/main" id="{73BEA28B-5E7B-43FF-5FFC-F1ACC1FA72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147" y="814391"/>
            <a:ext cx="5695784" cy="5695784"/>
          </a:xfrm>
          <a:prstGeom prst="rect">
            <a:avLst/>
          </a:prstGeom>
        </p:spPr>
      </p:pic>
      <p:pic>
        <p:nvPicPr>
          <p:cNvPr id="9" name="图片 8" descr="紫色的花朵&#10;&#10;AI 生成的内容可能不正确。">
            <a:extLst>
              <a:ext uri="{FF2B5EF4-FFF2-40B4-BE49-F238E27FC236}">
                <a16:creationId xmlns:a16="http://schemas.microsoft.com/office/drawing/2014/main" id="{703E22C0-D215-D201-8CD9-204AE966DA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4391"/>
            <a:ext cx="5695784" cy="5695784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09350859-2C38-47AC-CC25-4AE7EDEC9462}"/>
              </a:ext>
            </a:extLst>
          </p:cNvPr>
          <p:cNvSpPr/>
          <p:nvPr/>
        </p:nvSpPr>
        <p:spPr>
          <a:xfrm>
            <a:off x="5392309" y="3507232"/>
            <a:ext cx="1407381" cy="3101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0694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DC887-5F3F-3E9C-0E5E-C59598ECE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A6DDFB5E-CDFF-4ECA-37BD-9F42385A46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96AD073-75F3-48EB-E860-8C50F448AF29}"/>
              </a:ext>
            </a:extLst>
          </p:cNvPr>
          <p:cNvSpPr txBox="1"/>
          <p:nvPr/>
        </p:nvSpPr>
        <p:spPr>
          <a:xfrm>
            <a:off x="0" y="97181"/>
            <a:ext cx="1067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Add the profile information to stem pairing, solve the merge problem</a:t>
            </a:r>
            <a:endParaRPr lang="nl-NL" altLang="zh-CN" sz="2400" dirty="0"/>
          </a:p>
        </p:txBody>
      </p:sp>
      <p:pic>
        <p:nvPicPr>
          <p:cNvPr id="3" name="图片 2" descr="图片包含 桌子, 大, 华美, 食物&#10;&#10;AI 生成的内容可能不正确。">
            <a:extLst>
              <a:ext uri="{FF2B5EF4-FFF2-40B4-BE49-F238E27FC236}">
                <a16:creationId xmlns:a16="http://schemas.microsoft.com/office/drawing/2014/main" id="{FA8402D0-CDE9-44AB-D29F-556DE64A74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043" y="834888"/>
            <a:ext cx="5458570" cy="5458570"/>
          </a:xfrm>
          <a:prstGeom prst="rect">
            <a:avLst/>
          </a:prstGeom>
        </p:spPr>
      </p:pic>
      <p:pic>
        <p:nvPicPr>
          <p:cNvPr id="12" name="图片 11" descr="图片包含 桌子, 盘子, 大, 蓝色&#10;&#10;AI 生成的内容可能不正确。">
            <a:extLst>
              <a:ext uri="{FF2B5EF4-FFF2-40B4-BE49-F238E27FC236}">
                <a16:creationId xmlns:a16="http://schemas.microsoft.com/office/drawing/2014/main" id="{DC471912-0B9B-2885-07FE-E9FD6CCB14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888"/>
            <a:ext cx="5458570" cy="5458570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593C5A85-3076-28F1-E0F2-A3C454A7B9E8}"/>
              </a:ext>
            </a:extLst>
          </p:cNvPr>
          <p:cNvSpPr/>
          <p:nvPr/>
        </p:nvSpPr>
        <p:spPr>
          <a:xfrm>
            <a:off x="5336413" y="3429000"/>
            <a:ext cx="1407381" cy="3101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EC968C-2425-88CA-89D5-B5BFF4E336C9}"/>
              </a:ext>
            </a:extLst>
          </p:cNvPr>
          <p:cNvSpPr txBox="1"/>
          <p:nvPr/>
        </p:nvSpPr>
        <p:spPr>
          <a:xfrm>
            <a:off x="100716" y="6424589"/>
            <a:ext cx="5995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/>
              <a:t>Model </a:t>
            </a:r>
            <a:r>
              <a:rPr lang="nl-NL" altLang="zh-CN" dirty="0" err="1"/>
              <a:t>Inderence</a:t>
            </a:r>
            <a:r>
              <a:rPr lang="nl-NL" altLang="zh-CN" dirty="0"/>
              <a:t>:</a:t>
            </a:r>
            <a:r>
              <a:rPr lang="zh-CN" altLang="nl-NL" dirty="0"/>
              <a:t> </a:t>
            </a:r>
            <a:r>
              <a:rPr lang="nl-NL" altLang="zh-CN" dirty="0"/>
              <a:t>2.1 s,    Stem </a:t>
            </a:r>
            <a:r>
              <a:rPr lang="nl-NL" altLang="zh-CN" dirty="0" err="1"/>
              <a:t>Pairing</a:t>
            </a:r>
            <a:r>
              <a:rPr lang="nl-NL" altLang="zh-CN" dirty="0"/>
              <a:t>: 2.9 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18341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89256-DAFF-4D00-4475-BACC05D8B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天空中的彩色图案">
            <a:extLst>
              <a:ext uri="{FF2B5EF4-FFF2-40B4-BE49-F238E27FC236}">
                <a16:creationId xmlns:a16="http://schemas.microsoft.com/office/drawing/2014/main" id="{D037D59B-DA0E-48B2-E853-0A87094A1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87" b="25631"/>
          <a:stretch>
            <a:fillRect/>
          </a:stretch>
        </p:blipFill>
        <p:spPr>
          <a:xfrm>
            <a:off x="0" y="0"/>
            <a:ext cx="12200741" cy="45103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CAC6210-FCBE-1000-19D8-069AAF55B282}"/>
              </a:ext>
            </a:extLst>
          </p:cNvPr>
          <p:cNvSpPr txBox="1"/>
          <p:nvPr/>
        </p:nvSpPr>
        <p:spPr>
          <a:xfrm>
            <a:off x="93026" y="87464"/>
            <a:ext cx="117941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sz="2400" dirty="0" err="1"/>
              <a:t>Future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works</a:t>
            </a:r>
            <a:r>
              <a:rPr lang="zh-CN" altLang="nl-NL" sz="2400" dirty="0"/>
              <a:t>：</a:t>
            </a:r>
            <a:endParaRPr lang="nl-NL" altLang="zh-CN" sz="2400" dirty="0"/>
          </a:p>
          <a:p>
            <a:endParaRPr lang="nl-NL" altLang="zh-CN" sz="2400" dirty="0"/>
          </a:p>
          <a:p>
            <a:r>
              <a:rPr lang="nl-NL" altLang="zh-CN" sz="2400" dirty="0"/>
              <a:t>1. Test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performance of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mask</a:t>
            </a:r>
            <a:r>
              <a:rPr lang="nl-NL" altLang="zh-CN" sz="2400" dirty="0"/>
              <a:t> </a:t>
            </a:r>
            <a:r>
              <a:rPr lang="nl-NL" altLang="zh-CN" sz="2400" dirty="0" err="1"/>
              <a:t>detection</a:t>
            </a:r>
            <a:r>
              <a:rPr lang="nl-NL" altLang="zh-CN" sz="2400" dirty="0"/>
              <a:t> + stem pairing.</a:t>
            </a:r>
          </a:p>
          <a:p>
            <a:endParaRPr lang="nl-NL" altLang="zh-CN" sz="2400" dirty="0"/>
          </a:p>
          <a:p>
            <a:r>
              <a:rPr lang="nl-NL" altLang="zh-CN" sz="2400" dirty="0"/>
              <a:t>2. </a:t>
            </a:r>
            <a:r>
              <a:rPr lang="nl-NL" altLang="zh-CN" sz="2400" dirty="0" err="1"/>
              <a:t>Merge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stem </a:t>
            </a:r>
            <a:r>
              <a:rPr lang="nl-NL" altLang="zh-CN" sz="2400" dirty="0" err="1"/>
              <a:t>pairing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algorithm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with</a:t>
            </a:r>
            <a:r>
              <a:rPr lang="nl-NL" altLang="zh-CN" sz="2400" dirty="0"/>
              <a:t> top </a:t>
            </a:r>
            <a:r>
              <a:rPr lang="nl-NL" altLang="zh-CN" sz="2400" dirty="0" err="1"/>
              <a:t>selection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algorithm</a:t>
            </a:r>
            <a:r>
              <a:rPr lang="nl-NL" altLang="zh-CN" sz="2400" dirty="0"/>
              <a:t>.</a:t>
            </a:r>
          </a:p>
          <a:p>
            <a:endParaRPr lang="nl-NL" altLang="zh-CN" sz="2400" dirty="0"/>
          </a:p>
          <a:p>
            <a:r>
              <a:rPr lang="nl-NL" altLang="zh-CN" sz="2400" dirty="0"/>
              <a:t>3.Test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performance of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stem </a:t>
            </a:r>
            <a:r>
              <a:rPr lang="nl-NL" altLang="zh-CN" sz="2400" dirty="0" err="1"/>
              <a:t>pairing</a:t>
            </a:r>
            <a:r>
              <a:rPr lang="nl-NL" altLang="zh-CN" sz="2400" dirty="0"/>
              <a:t> + top </a:t>
            </a:r>
            <a:r>
              <a:rPr lang="nl-NL" altLang="zh-CN" sz="2400" dirty="0" err="1"/>
              <a:t>selection</a:t>
            </a:r>
            <a:r>
              <a:rPr lang="nl-NL" altLang="zh-CN" sz="2400" dirty="0"/>
              <a:t> </a:t>
            </a:r>
            <a:r>
              <a:rPr lang="nl-NL" altLang="zh-CN" sz="2400" dirty="0" err="1"/>
              <a:t>algorithm</a:t>
            </a:r>
            <a:endParaRPr lang="nl-NL" altLang="zh-CN" sz="2400" dirty="0"/>
          </a:p>
          <a:p>
            <a:endParaRPr lang="nl-NL" altLang="zh-CN" sz="2400" dirty="0"/>
          </a:p>
          <a:p>
            <a:r>
              <a:rPr lang="nl-NL" altLang="zh-CN" sz="2400" dirty="0"/>
              <a:t>4.Test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performance of </a:t>
            </a:r>
            <a:r>
              <a:rPr lang="nl-NL" altLang="zh-CN" sz="2400" dirty="0" err="1"/>
              <a:t>the</a:t>
            </a:r>
            <a:r>
              <a:rPr lang="nl-NL" altLang="zh-CN" sz="2400" dirty="0"/>
              <a:t> </a:t>
            </a:r>
            <a:r>
              <a:rPr lang="nl-NL" altLang="zh-CN" sz="2400" dirty="0" err="1"/>
              <a:t>whole</a:t>
            </a:r>
            <a:r>
              <a:rPr lang="nl-NL" altLang="zh-CN" sz="2400" dirty="0"/>
              <a:t> pipeline (</a:t>
            </a:r>
            <a:r>
              <a:rPr lang="nl-NL" altLang="zh-CN" sz="2400" dirty="0" err="1"/>
              <a:t>mask</a:t>
            </a:r>
            <a:r>
              <a:rPr lang="nl-NL" altLang="zh-CN" sz="2400" dirty="0"/>
              <a:t> </a:t>
            </a:r>
            <a:r>
              <a:rPr lang="nl-NL" altLang="zh-CN" sz="2400" dirty="0" err="1"/>
              <a:t>detection</a:t>
            </a:r>
            <a:r>
              <a:rPr lang="nl-NL" altLang="zh-CN" sz="2400" dirty="0"/>
              <a:t> + stem </a:t>
            </a:r>
            <a:r>
              <a:rPr lang="nl-NL" altLang="zh-CN" sz="2400" dirty="0" err="1"/>
              <a:t>pairing</a:t>
            </a:r>
            <a:r>
              <a:rPr lang="nl-NL" altLang="zh-CN" sz="2400" dirty="0"/>
              <a:t> + top </a:t>
            </a:r>
            <a:r>
              <a:rPr lang="nl-NL" altLang="zh-CN" sz="2400" dirty="0" err="1"/>
              <a:t>selection</a:t>
            </a:r>
            <a:r>
              <a:rPr lang="nl-NL" altLang="zh-CN" sz="2400" dirty="0"/>
              <a:t>)</a:t>
            </a:r>
          </a:p>
          <a:p>
            <a:endParaRPr lang="nl-NL" altLang="zh-CN" sz="2400" dirty="0"/>
          </a:p>
          <a:p>
            <a:r>
              <a:rPr lang="nl-NL" altLang="zh-CN" sz="2400" dirty="0"/>
              <a:t>5. New dataset?</a:t>
            </a:r>
          </a:p>
        </p:txBody>
      </p:sp>
    </p:spTree>
    <p:extLst>
      <p:ext uri="{BB962C8B-B14F-4D97-AF65-F5344CB8AC3E}">
        <p14:creationId xmlns:p14="http://schemas.microsoft.com/office/powerpoint/2010/main" val="74693666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0</TotalTime>
  <Words>304</Words>
  <Application>Microsoft Office PowerPoint</Application>
  <PresentationFormat>宽屏</PresentationFormat>
  <Paragraphs>54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Microsoft YaHei</vt:lpstr>
      <vt:lpstr>Aptos</vt:lpstr>
      <vt:lpstr>Arial</vt:lpstr>
      <vt:lpstr>Bierstadt</vt:lpstr>
      <vt:lpstr>Neue Haas Grotesk Text Pro</vt:lpstr>
      <vt:lpstr>GestaltVTI</vt:lpstr>
      <vt:lpstr>Stem Pairing and  Top Flower Selection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Jiang</dc:creator>
  <cp:lastModifiedBy>Hua Jiang</cp:lastModifiedBy>
  <cp:revision>55</cp:revision>
  <dcterms:created xsi:type="dcterms:W3CDTF">2025-09-24T08:15:25Z</dcterms:created>
  <dcterms:modified xsi:type="dcterms:W3CDTF">2025-11-26T17:24:45Z</dcterms:modified>
</cp:coreProperties>
</file>