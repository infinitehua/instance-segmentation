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sldIdLst>
    <p:sldId id="256" r:id="rId2"/>
    <p:sldId id="257" r:id="rId3"/>
    <p:sldId id="25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7" r:id="rId12"/>
    <p:sldId id="276" r:id="rId13"/>
    <p:sldId id="278" r:id="rId14"/>
    <p:sldId id="26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b"/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54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536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944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116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643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146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909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92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95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105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462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80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74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b="1" kern="1200" spc="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000" kern="1200" spc="16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16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16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AD8A0319-AE46-77C0-E20B-0BFF79B784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69" b="7262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D983913-82E9-0231-BFD7-5D2FB4EF169E}"/>
              </a:ext>
            </a:extLst>
          </p:cNvPr>
          <p:cNvSpPr/>
          <p:nvPr/>
        </p:nvSpPr>
        <p:spPr>
          <a:xfrm>
            <a:off x="5968093" y="-10"/>
            <a:ext cx="622388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32F46A7-62AF-5535-A89E-4BC72FD67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41874" y="1616829"/>
            <a:ext cx="7170964" cy="3969960"/>
          </a:xfrm>
        </p:spPr>
        <p:txBody>
          <a:bodyPr anchor="t">
            <a:normAutofit/>
          </a:bodyPr>
          <a:lstStyle/>
          <a:p>
            <a:pPr algn="ctr"/>
            <a:r>
              <a:rPr lang="nl-NL" sz="4400" dirty="0">
                <a:solidFill>
                  <a:schemeClr val="bg1"/>
                </a:solidFill>
              </a:rPr>
              <a:t>Stem </a:t>
            </a:r>
            <a:r>
              <a:rPr lang="nl-NL" sz="4400" dirty="0" err="1">
                <a:solidFill>
                  <a:schemeClr val="bg1"/>
                </a:solidFill>
              </a:rPr>
              <a:t>Pa</a:t>
            </a:r>
            <a:r>
              <a:rPr lang="nl-NL" altLang="zh-CN" sz="4400" dirty="0" err="1">
                <a:solidFill>
                  <a:schemeClr val="bg1"/>
                </a:solidFill>
              </a:rPr>
              <a:t>i</a:t>
            </a:r>
            <a:r>
              <a:rPr lang="nl-NL" sz="4400" dirty="0" err="1">
                <a:solidFill>
                  <a:schemeClr val="bg1"/>
                </a:solidFill>
              </a:rPr>
              <a:t>ring</a:t>
            </a:r>
            <a:endParaRPr lang="nl-NL" sz="4400" dirty="0">
              <a:solidFill>
                <a:schemeClr val="bg1"/>
              </a:solidFill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6850C22-AD4C-689C-7C2C-25DA475AB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3087" y="3332996"/>
            <a:ext cx="4381634" cy="1157436"/>
          </a:xfrm>
        </p:spPr>
        <p:txBody>
          <a:bodyPr anchor="b">
            <a:normAutofit/>
          </a:bodyPr>
          <a:lstStyle/>
          <a:p>
            <a:r>
              <a:rPr lang="nl-NL" sz="2800" dirty="0">
                <a:solidFill>
                  <a:schemeClr val="bg1"/>
                </a:solidFill>
              </a:rPr>
              <a:t>Week 6 Hua Jiang</a:t>
            </a:r>
          </a:p>
        </p:txBody>
      </p:sp>
      <p:pic>
        <p:nvPicPr>
          <p:cNvPr id="7" name="图片 6" descr="水里有许多花&#10;&#10;AI 生成的内容可能不正确。">
            <a:extLst>
              <a:ext uri="{FF2B5EF4-FFF2-40B4-BE49-F238E27FC236}">
                <a16:creationId xmlns:a16="http://schemas.microsoft.com/office/drawing/2014/main" id="{05C011A5-81C5-AE2A-5D14-CE15CD207A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387" y="1085203"/>
            <a:ext cx="5159868" cy="5159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4214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EBCCE-DA7C-8BF9-9B1D-5857329C7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969D07C2-A297-E1B3-CBD8-A15F2D7E3E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15059" y="1"/>
            <a:ext cx="12200741" cy="4510316"/>
          </a:xfrm>
          <a:prstGeom prst="rect">
            <a:avLst/>
          </a:prstGeom>
        </p:spPr>
      </p:pic>
      <p:sp>
        <p:nvSpPr>
          <p:cNvPr id="7" name="副标题 6">
            <a:extLst>
              <a:ext uri="{FF2B5EF4-FFF2-40B4-BE49-F238E27FC236}">
                <a16:creationId xmlns:a16="http://schemas.microsoft.com/office/drawing/2014/main" id="{3E0DD66E-A8A8-20C0-428C-99570176E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454" y="4587319"/>
            <a:ext cx="10101315" cy="1399032"/>
          </a:xfrm>
        </p:spPr>
        <p:txBody>
          <a:bodyPr>
            <a:normAutofit/>
          </a:bodyPr>
          <a:lstStyle/>
          <a:p>
            <a:r>
              <a:rPr lang="nl-NL" altLang="zh-CN" dirty="0"/>
              <a:t>I design a </a:t>
            </a:r>
            <a:r>
              <a:rPr lang="nl-NL" altLang="zh-CN" dirty="0" err="1"/>
              <a:t>handcrafted</a:t>
            </a:r>
            <a:r>
              <a:rPr lang="nl-NL" altLang="zh-CN" dirty="0"/>
              <a:t> </a:t>
            </a:r>
            <a:r>
              <a:rPr lang="nl-NL" altLang="zh-CN" dirty="0" err="1"/>
              <a:t>algorithm</a:t>
            </a:r>
            <a:r>
              <a:rPr lang="nl-NL" altLang="zh-CN" dirty="0"/>
              <a:t> </a:t>
            </a:r>
            <a:r>
              <a:rPr lang="nl-NL" altLang="zh-CN" dirty="0" err="1"/>
              <a:t>for</a:t>
            </a:r>
            <a:r>
              <a:rPr lang="nl-NL" altLang="zh-CN" dirty="0"/>
              <a:t> stem </a:t>
            </a:r>
            <a:r>
              <a:rPr lang="nl-NL" altLang="zh-CN" dirty="0" err="1"/>
              <a:t>pairing</a:t>
            </a:r>
            <a:r>
              <a:rPr lang="nl-NL" altLang="zh-CN" dirty="0"/>
              <a:t> </a:t>
            </a:r>
            <a:r>
              <a:rPr lang="nl-NL" altLang="zh-CN" dirty="0" err="1"/>
              <a:t>based</a:t>
            </a:r>
            <a:r>
              <a:rPr lang="nl-NL" altLang="zh-CN" dirty="0"/>
              <a:t> on </a:t>
            </a:r>
            <a:r>
              <a:rPr lang="nl-NL" altLang="zh-CN" dirty="0" err="1"/>
              <a:t>mask-rcnn</a:t>
            </a:r>
            <a:r>
              <a:rPr lang="nl-NL" altLang="zh-CN" dirty="0"/>
              <a:t> output</a:t>
            </a:r>
            <a:endParaRPr lang="nl-NL" dirty="0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BC4C9815-FE84-8C4D-54A8-27F8445A1718}"/>
              </a:ext>
            </a:extLst>
          </p:cNvPr>
          <p:cNvSpPr/>
          <p:nvPr/>
        </p:nvSpPr>
        <p:spPr>
          <a:xfrm>
            <a:off x="5213602" y="2067553"/>
            <a:ext cx="1751938" cy="294198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6" name="图片 5" descr="水里有许多花&#10;&#10;AI 生成的内容可能不正确。">
            <a:extLst>
              <a:ext uri="{FF2B5EF4-FFF2-40B4-BE49-F238E27FC236}">
                <a16:creationId xmlns:a16="http://schemas.microsoft.com/office/drawing/2014/main" id="{6D9DB68D-2D53-352B-FD19-C60956A36B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322" y="86636"/>
            <a:ext cx="4533899" cy="4533899"/>
          </a:xfrm>
          <a:prstGeom prst="rect">
            <a:avLst/>
          </a:prstGeom>
        </p:spPr>
      </p:pic>
      <p:pic>
        <p:nvPicPr>
          <p:cNvPr id="9" name="图片 8" descr="蓝色花瓶里插满了鲜花&#10;&#10;AI 生成的内容可能不正确。">
            <a:extLst>
              <a:ext uri="{FF2B5EF4-FFF2-40B4-BE49-F238E27FC236}">
                <a16:creationId xmlns:a16="http://schemas.microsoft.com/office/drawing/2014/main" id="{CF0237A8-34B2-4E03-1622-2A1E7B77B2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121" y="94801"/>
            <a:ext cx="4533899" cy="4533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568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1401A-8E65-082D-F767-F5F297E46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DA6D4707-E2E6-CDD8-7FA8-CB1B3027C4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8741" y="0"/>
            <a:ext cx="12200741" cy="4510316"/>
          </a:xfrm>
          <a:prstGeom prst="rect">
            <a:avLst/>
          </a:prstGeom>
        </p:spPr>
      </p:pic>
      <p:sp>
        <p:nvSpPr>
          <p:cNvPr id="7" name="副标题 6">
            <a:extLst>
              <a:ext uri="{FF2B5EF4-FFF2-40B4-BE49-F238E27FC236}">
                <a16:creationId xmlns:a16="http://schemas.microsoft.com/office/drawing/2014/main" id="{A0F844DC-728F-63D2-0EB8-2CE092821A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636" y="4646287"/>
            <a:ext cx="4994693" cy="1399032"/>
          </a:xfrm>
        </p:spPr>
        <p:txBody>
          <a:bodyPr>
            <a:normAutofit/>
          </a:bodyPr>
          <a:lstStyle/>
          <a:p>
            <a:r>
              <a:rPr lang="nl-NL" altLang="zh-CN" dirty="0"/>
              <a:t>A maximum </a:t>
            </a:r>
            <a:r>
              <a:rPr lang="nl-NL" altLang="zh-CN" dirty="0" err="1"/>
              <a:t>curvature</a:t>
            </a:r>
            <a:r>
              <a:rPr lang="nl-NL" altLang="zh-CN" dirty="0"/>
              <a:t> of </a:t>
            </a:r>
            <a:r>
              <a:rPr lang="nl-NL" altLang="zh-CN" dirty="0" err="1"/>
              <a:t>the</a:t>
            </a:r>
            <a:r>
              <a:rPr lang="nl-NL" altLang="zh-CN" dirty="0"/>
              <a:t> </a:t>
            </a:r>
            <a:r>
              <a:rPr lang="nl-NL" altLang="zh-CN" dirty="0" err="1"/>
              <a:t>bending</a:t>
            </a:r>
            <a:r>
              <a:rPr lang="nl-NL" altLang="zh-CN" dirty="0"/>
              <a:t> stem</a:t>
            </a:r>
            <a:endParaRPr lang="nl-NL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66F9445-DDAC-3910-0184-670C58321CEF}"/>
              </a:ext>
            </a:extLst>
          </p:cNvPr>
          <p:cNvSpPr txBox="1"/>
          <p:nvPr/>
        </p:nvSpPr>
        <p:spPr>
          <a:xfrm>
            <a:off x="583147" y="1221528"/>
            <a:ext cx="51576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/>
              <a:t>1. Filtering: a </a:t>
            </a:r>
            <a:r>
              <a:rPr lang="nl-NL" sz="2400" dirty="0" err="1"/>
              <a:t>section</a:t>
            </a:r>
            <a:r>
              <a:rPr lang="nl-NL" sz="2400" dirty="0"/>
              <a:t> is </a:t>
            </a:r>
            <a:r>
              <a:rPr lang="nl-NL" sz="2400" dirty="0" err="1"/>
              <a:t>computed</a:t>
            </a:r>
            <a:r>
              <a:rPr lang="nl-NL" sz="2400" dirty="0"/>
              <a:t> </a:t>
            </a:r>
            <a:r>
              <a:rPr lang="nl-NL" sz="2400" dirty="0" err="1"/>
              <a:t>to</a:t>
            </a:r>
            <a:r>
              <a:rPr lang="nl-NL" sz="2400" dirty="0"/>
              <a:t> </a:t>
            </a:r>
            <a:r>
              <a:rPr lang="nl-NL" altLang="zh-CN" sz="2400" dirty="0" err="1"/>
              <a:t>find</a:t>
            </a:r>
            <a:r>
              <a:rPr lang="nl-NL" sz="2400" dirty="0"/>
              <a:t> </a:t>
            </a:r>
            <a:r>
              <a:rPr lang="nl-NL" sz="2400" dirty="0" err="1"/>
              <a:t>potential</a:t>
            </a:r>
            <a:r>
              <a:rPr lang="nl-NL" sz="2400" dirty="0"/>
              <a:t> stem pairs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EFC9D19-4D02-1184-6FAB-CCF0643792EB}"/>
              </a:ext>
            </a:extLst>
          </p:cNvPr>
          <p:cNvSpPr/>
          <p:nvPr/>
        </p:nvSpPr>
        <p:spPr>
          <a:xfrm>
            <a:off x="6422094" y="242926"/>
            <a:ext cx="5067300" cy="48051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72323B09-0FFC-6DA1-A4A9-54191C337AC6}"/>
              </a:ext>
            </a:extLst>
          </p:cNvPr>
          <p:cNvCxnSpPr>
            <a:cxnSpLocks/>
          </p:cNvCxnSpPr>
          <p:nvPr/>
        </p:nvCxnSpPr>
        <p:spPr>
          <a:xfrm flipH="1">
            <a:off x="8875724" y="726490"/>
            <a:ext cx="44098" cy="3919797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62B126C-9B16-C55F-618D-448E076840AF}"/>
              </a:ext>
            </a:extLst>
          </p:cNvPr>
          <p:cNvSpPr/>
          <p:nvPr/>
        </p:nvSpPr>
        <p:spPr>
          <a:xfrm rot="1658645">
            <a:off x="8696713" y="2586932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277E43C-F7D3-BFA6-7631-56C7C56EFB73}"/>
              </a:ext>
            </a:extLst>
          </p:cNvPr>
          <p:cNvSpPr/>
          <p:nvPr/>
        </p:nvSpPr>
        <p:spPr>
          <a:xfrm rot="2106093">
            <a:off x="8397119" y="3125667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5B393896-C650-12CE-A921-5A250568FC70}"/>
              </a:ext>
            </a:extLst>
          </p:cNvPr>
          <p:cNvSpPr/>
          <p:nvPr/>
        </p:nvSpPr>
        <p:spPr>
          <a:xfrm rot="19682516">
            <a:off x="8391843" y="672489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AC10CBA-225E-14F0-1B07-1550E59C89C6}"/>
              </a:ext>
            </a:extLst>
          </p:cNvPr>
          <p:cNvSpPr/>
          <p:nvPr/>
        </p:nvSpPr>
        <p:spPr>
          <a:xfrm rot="20146179">
            <a:off x="8673564" y="1255599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D51FB922-04EA-092C-9493-E41580F9C997}"/>
              </a:ext>
            </a:extLst>
          </p:cNvPr>
          <p:cNvSpPr/>
          <p:nvPr/>
        </p:nvSpPr>
        <p:spPr>
          <a:xfrm rot="2626670">
            <a:off x="8079232" y="3586052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2F7F49F3-4682-6B36-2329-6E8E4EAC9E97}"/>
              </a:ext>
            </a:extLst>
          </p:cNvPr>
          <p:cNvSpPr/>
          <p:nvPr/>
        </p:nvSpPr>
        <p:spPr>
          <a:xfrm>
            <a:off x="8868863" y="1988876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B907A290-095B-2A96-BF5A-AA5C70D3643E}"/>
              </a:ext>
            </a:extLst>
          </p:cNvPr>
          <p:cNvSpPr/>
          <p:nvPr/>
        </p:nvSpPr>
        <p:spPr>
          <a:xfrm rot="19009040">
            <a:off x="7975471" y="139996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1A90F8A9-2821-04EA-8C9C-F2F3A1762626}"/>
              </a:ext>
            </a:extLst>
          </p:cNvPr>
          <p:cNvCxnSpPr>
            <a:cxnSpLocks/>
          </p:cNvCxnSpPr>
          <p:nvPr/>
        </p:nvCxnSpPr>
        <p:spPr>
          <a:xfrm>
            <a:off x="8092358" y="739445"/>
            <a:ext cx="1782484" cy="3246262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872F8BDC-C6A6-859A-2634-0543B9AB2007}"/>
              </a:ext>
            </a:extLst>
          </p:cNvPr>
          <p:cNvCxnSpPr>
            <a:cxnSpLocks/>
          </p:cNvCxnSpPr>
          <p:nvPr/>
        </p:nvCxnSpPr>
        <p:spPr>
          <a:xfrm flipH="1">
            <a:off x="7925593" y="764102"/>
            <a:ext cx="1754912" cy="3301849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5" name="弧形 44">
            <a:extLst>
              <a:ext uri="{FF2B5EF4-FFF2-40B4-BE49-F238E27FC236}">
                <a16:creationId xmlns:a16="http://schemas.microsoft.com/office/drawing/2014/main" id="{477F8FB0-C8F4-40E4-29D7-FA74567DC6D9}"/>
              </a:ext>
            </a:extLst>
          </p:cNvPr>
          <p:cNvSpPr/>
          <p:nvPr/>
        </p:nvSpPr>
        <p:spPr>
          <a:xfrm rot="19962843">
            <a:off x="8632305" y="1954457"/>
            <a:ext cx="284789" cy="81022"/>
          </a:xfrm>
          <a:prstGeom prst="arc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6F080F2-029E-FAF7-4924-6E05B2B53849}"/>
              </a:ext>
            </a:extLst>
          </p:cNvPr>
          <p:cNvSpPr txBox="1"/>
          <p:nvPr/>
        </p:nvSpPr>
        <p:spPr>
          <a:xfrm>
            <a:off x="8572615" y="1630515"/>
            <a:ext cx="7662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/>
              <a:t>20</a:t>
            </a:r>
            <a:r>
              <a:rPr lang="nl-NL" altLang="zh-CN" sz="1400" dirty="0"/>
              <a:t>°</a:t>
            </a:r>
            <a:endParaRPr lang="nl-NL" sz="1400" dirty="0"/>
          </a:p>
        </p:txBody>
      </p:sp>
    </p:spTree>
    <p:extLst>
      <p:ext uri="{BB962C8B-B14F-4D97-AF65-F5344CB8AC3E}">
        <p14:creationId xmlns:p14="http://schemas.microsoft.com/office/powerpoint/2010/main" val="3175984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C4105-F5C5-4B03-0A68-5FC992B80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403CFAF4-5F03-1439-4797-78048B5EF7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8741" y="0"/>
            <a:ext cx="12200741" cy="451031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4E8B595-BD08-16CE-94DC-BA91258487AB}"/>
              </a:ext>
            </a:extLst>
          </p:cNvPr>
          <p:cNvSpPr txBox="1"/>
          <p:nvPr/>
        </p:nvSpPr>
        <p:spPr>
          <a:xfrm>
            <a:off x="521335" y="1584029"/>
            <a:ext cx="51576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/>
              <a:t>1.1. </a:t>
            </a:r>
            <a:r>
              <a:rPr lang="nl-NL" sz="2400" dirty="0" err="1"/>
              <a:t>Further</a:t>
            </a:r>
            <a:r>
              <a:rPr lang="nl-NL" sz="2400" dirty="0"/>
              <a:t> </a:t>
            </a:r>
            <a:r>
              <a:rPr lang="nl-NL" sz="2400" dirty="0" err="1"/>
              <a:t>restrict</a:t>
            </a:r>
            <a:r>
              <a:rPr lang="nl-NL" sz="2400" dirty="0"/>
              <a:t>: </a:t>
            </a:r>
            <a:r>
              <a:rPr lang="nl-NL" sz="2400" dirty="0" err="1"/>
              <a:t>orientation</a:t>
            </a:r>
            <a:r>
              <a:rPr lang="nl-NL" sz="2400" dirty="0"/>
              <a:t> </a:t>
            </a:r>
            <a:r>
              <a:rPr lang="nl-NL" sz="2400" dirty="0" err="1"/>
              <a:t>and</a:t>
            </a:r>
            <a:r>
              <a:rPr lang="nl-NL" sz="2400" dirty="0"/>
              <a:t> </a:t>
            </a:r>
            <a:r>
              <a:rPr lang="nl-NL" sz="2400" dirty="0" err="1"/>
              <a:t>position</a:t>
            </a:r>
            <a:endParaRPr lang="nl-NL" sz="24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5C1134D-10E8-6EDE-E2F4-D6CF7471297D}"/>
              </a:ext>
            </a:extLst>
          </p:cNvPr>
          <p:cNvSpPr/>
          <p:nvPr/>
        </p:nvSpPr>
        <p:spPr>
          <a:xfrm>
            <a:off x="6422094" y="242926"/>
            <a:ext cx="5067300" cy="48051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34EC0EA-AA95-FE82-BD86-180E8996FE6C}"/>
              </a:ext>
            </a:extLst>
          </p:cNvPr>
          <p:cNvCxnSpPr>
            <a:cxnSpLocks/>
          </p:cNvCxnSpPr>
          <p:nvPr/>
        </p:nvCxnSpPr>
        <p:spPr>
          <a:xfrm flipH="1">
            <a:off x="8875724" y="726490"/>
            <a:ext cx="44098" cy="3919797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9063B67F-FCDB-86AD-D8E0-5626F4CB9EA2}"/>
              </a:ext>
            </a:extLst>
          </p:cNvPr>
          <p:cNvSpPr/>
          <p:nvPr/>
        </p:nvSpPr>
        <p:spPr>
          <a:xfrm rot="20574834">
            <a:off x="9569966" y="3582988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D4B91BAF-4DFB-316E-B11F-EC239B19BCB6}"/>
              </a:ext>
            </a:extLst>
          </p:cNvPr>
          <p:cNvSpPr/>
          <p:nvPr/>
        </p:nvSpPr>
        <p:spPr>
          <a:xfrm rot="1537587">
            <a:off x="8277780" y="3592486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C1D7A28-BB3E-8D4F-4D94-627447AEDEEB}"/>
              </a:ext>
            </a:extLst>
          </p:cNvPr>
          <p:cNvSpPr/>
          <p:nvPr/>
        </p:nvSpPr>
        <p:spPr>
          <a:xfrm rot="19682516">
            <a:off x="8391843" y="672489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E786F65-BAE9-DCD9-88E6-0E122FD95F14}"/>
              </a:ext>
            </a:extLst>
          </p:cNvPr>
          <p:cNvSpPr/>
          <p:nvPr/>
        </p:nvSpPr>
        <p:spPr>
          <a:xfrm rot="20146179">
            <a:off x="8612300" y="3086888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4047579-2E25-54C9-E709-A92129339828}"/>
              </a:ext>
            </a:extLst>
          </p:cNvPr>
          <p:cNvSpPr/>
          <p:nvPr/>
        </p:nvSpPr>
        <p:spPr>
          <a:xfrm rot="1457713">
            <a:off x="9404773" y="560085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4D3BBE0A-CC4F-8FAC-05A7-A9B4098D0691}"/>
              </a:ext>
            </a:extLst>
          </p:cNvPr>
          <p:cNvSpPr/>
          <p:nvPr/>
        </p:nvSpPr>
        <p:spPr>
          <a:xfrm>
            <a:off x="8868863" y="1988876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D79C0DCC-E93F-DCA8-0083-4678FBF987C8}"/>
              </a:ext>
            </a:extLst>
          </p:cNvPr>
          <p:cNvSpPr/>
          <p:nvPr/>
        </p:nvSpPr>
        <p:spPr>
          <a:xfrm rot="20797478">
            <a:off x="8853894" y="3886394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0EF49D43-75AB-5B9E-0797-3ECBDAAAB683}"/>
              </a:ext>
            </a:extLst>
          </p:cNvPr>
          <p:cNvCxnSpPr>
            <a:cxnSpLocks/>
          </p:cNvCxnSpPr>
          <p:nvPr/>
        </p:nvCxnSpPr>
        <p:spPr>
          <a:xfrm>
            <a:off x="8092358" y="739445"/>
            <a:ext cx="1782484" cy="3246262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80906E68-4B2B-B4EF-DE4F-17B25CE47F91}"/>
              </a:ext>
            </a:extLst>
          </p:cNvPr>
          <p:cNvCxnSpPr>
            <a:cxnSpLocks/>
          </p:cNvCxnSpPr>
          <p:nvPr/>
        </p:nvCxnSpPr>
        <p:spPr>
          <a:xfrm flipH="1">
            <a:off x="7925593" y="764102"/>
            <a:ext cx="1754912" cy="3301849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5" name="弧形 44">
            <a:extLst>
              <a:ext uri="{FF2B5EF4-FFF2-40B4-BE49-F238E27FC236}">
                <a16:creationId xmlns:a16="http://schemas.microsoft.com/office/drawing/2014/main" id="{A9FF58CF-42B3-9DB7-A57B-E32041FCA568}"/>
              </a:ext>
            </a:extLst>
          </p:cNvPr>
          <p:cNvSpPr/>
          <p:nvPr/>
        </p:nvSpPr>
        <p:spPr>
          <a:xfrm rot="19962843">
            <a:off x="8632305" y="1954457"/>
            <a:ext cx="284789" cy="81022"/>
          </a:xfrm>
          <a:prstGeom prst="arc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DC75DB4-0B87-05D4-3EB4-BB1BC3034F1C}"/>
              </a:ext>
            </a:extLst>
          </p:cNvPr>
          <p:cNvSpPr txBox="1"/>
          <p:nvPr/>
        </p:nvSpPr>
        <p:spPr>
          <a:xfrm>
            <a:off x="8507443" y="1639880"/>
            <a:ext cx="7662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/>
              <a:t>20</a:t>
            </a:r>
            <a:r>
              <a:rPr lang="nl-NL" altLang="zh-CN" sz="1400" dirty="0"/>
              <a:t>°</a:t>
            </a:r>
            <a:endParaRPr lang="nl-NL" sz="1400" dirty="0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8A5BC33-A05B-F4B5-A116-C9FB83FD971A}"/>
              </a:ext>
            </a:extLst>
          </p:cNvPr>
          <p:cNvCxnSpPr>
            <a:cxnSpLocks/>
          </p:cNvCxnSpPr>
          <p:nvPr/>
        </p:nvCxnSpPr>
        <p:spPr>
          <a:xfrm>
            <a:off x="8647783" y="2992666"/>
            <a:ext cx="0" cy="818645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3EF142B-2E26-D8C0-90FB-0B9F86E141A0}"/>
              </a:ext>
            </a:extLst>
          </p:cNvPr>
          <p:cNvCxnSpPr>
            <a:cxnSpLocks/>
          </p:cNvCxnSpPr>
          <p:nvPr/>
        </p:nvCxnSpPr>
        <p:spPr>
          <a:xfrm flipH="1" flipV="1">
            <a:off x="8407979" y="2831781"/>
            <a:ext cx="251726" cy="5598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FFD5CB22-F766-6852-20C7-62653278A825}"/>
              </a:ext>
            </a:extLst>
          </p:cNvPr>
          <p:cNvSpPr txBox="1"/>
          <p:nvPr/>
        </p:nvSpPr>
        <p:spPr>
          <a:xfrm>
            <a:off x="8106034" y="2838777"/>
            <a:ext cx="7662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/>
              <a:t>12.5</a:t>
            </a:r>
            <a:r>
              <a:rPr lang="nl-NL" altLang="zh-CN" sz="1400" dirty="0"/>
              <a:t>°</a:t>
            </a:r>
            <a:endParaRPr lang="nl-NL" sz="1400" dirty="0"/>
          </a:p>
        </p:txBody>
      </p:sp>
      <p:sp>
        <p:nvSpPr>
          <p:cNvPr id="12" name="弧形 11">
            <a:extLst>
              <a:ext uri="{FF2B5EF4-FFF2-40B4-BE49-F238E27FC236}">
                <a16:creationId xmlns:a16="http://schemas.microsoft.com/office/drawing/2014/main" id="{9F1405E4-844B-F8C8-EEBA-E7D9666A4176}"/>
              </a:ext>
            </a:extLst>
          </p:cNvPr>
          <p:cNvSpPr/>
          <p:nvPr/>
        </p:nvSpPr>
        <p:spPr>
          <a:xfrm rot="19962843">
            <a:off x="8402054" y="3099849"/>
            <a:ext cx="284789" cy="81022"/>
          </a:xfrm>
          <a:prstGeom prst="arc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0E26D5A8-92D4-F1F3-69E6-84EAB1FF5354}"/>
              </a:ext>
            </a:extLst>
          </p:cNvPr>
          <p:cNvCxnSpPr>
            <a:cxnSpLocks/>
          </p:cNvCxnSpPr>
          <p:nvPr/>
        </p:nvCxnSpPr>
        <p:spPr>
          <a:xfrm flipH="1">
            <a:off x="8433380" y="2233341"/>
            <a:ext cx="480771" cy="18554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弧形 15">
            <a:extLst>
              <a:ext uri="{FF2B5EF4-FFF2-40B4-BE49-F238E27FC236}">
                <a16:creationId xmlns:a16="http://schemas.microsoft.com/office/drawing/2014/main" id="{70049F3A-52F8-946D-63CD-FC9509545F5B}"/>
              </a:ext>
            </a:extLst>
          </p:cNvPr>
          <p:cNvSpPr/>
          <p:nvPr/>
        </p:nvSpPr>
        <p:spPr>
          <a:xfrm rot="10483564">
            <a:off x="8751293" y="2771984"/>
            <a:ext cx="284789" cy="81022"/>
          </a:xfrm>
          <a:prstGeom prst="arc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208EBD8-A489-4E63-D397-743B59C99061}"/>
              </a:ext>
            </a:extLst>
          </p:cNvPr>
          <p:cNvSpPr txBox="1"/>
          <p:nvPr/>
        </p:nvSpPr>
        <p:spPr>
          <a:xfrm>
            <a:off x="8671361" y="2823530"/>
            <a:ext cx="7662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/>
              <a:t>10</a:t>
            </a:r>
            <a:r>
              <a:rPr lang="nl-NL" altLang="zh-CN" sz="1400" dirty="0"/>
              <a:t>°</a:t>
            </a:r>
            <a:endParaRPr lang="nl-NL" sz="14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1FF1378-66FE-0B05-ADD0-15ECCE675011}"/>
              </a:ext>
            </a:extLst>
          </p:cNvPr>
          <p:cNvSpPr txBox="1"/>
          <p:nvPr/>
        </p:nvSpPr>
        <p:spPr>
          <a:xfrm>
            <a:off x="8507443" y="248969"/>
            <a:ext cx="1754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dirty="0" err="1"/>
              <a:t>upper</a:t>
            </a:r>
            <a:endParaRPr lang="nl-NL" sz="20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17D18B0-0308-4E87-8054-A421A9F1F3C1}"/>
              </a:ext>
            </a:extLst>
          </p:cNvPr>
          <p:cNvSpPr txBox="1"/>
          <p:nvPr/>
        </p:nvSpPr>
        <p:spPr>
          <a:xfrm>
            <a:off x="8616794" y="4551829"/>
            <a:ext cx="1754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dirty="0" err="1"/>
              <a:t>lower</a:t>
            </a:r>
            <a:endParaRPr lang="nl-NL" sz="20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425804C-6464-192E-3040-E1F69C47F49C}"/>
              </a:ext>
            </a:extLst>
          </p:cNvPr>
          <p:cNvSpPr txBox="1"/>
          <p:nvPr/>
        </p:nvSpPr>
        <p:spPr>
          <a:xfrm>
            <a:off x="9560437" y="2204441"/>
            <a:ext cx="1754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/>
              <a:t>right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C93AE51-4E27-EE1B-67DD-8328A83B3750}"/>
              </a:ext>
            </a:extLst>
          </p:cNvPr>
          <p:cNvSpPr txBox="1"/>
          <p:nvPr/>
        </p:nvSpPr>
        <p:spPr>
          <a:xfrm>
            <a:off x="7579216" y="2189181"/>
            <a:ext cx="1754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 err="1"/>
              <a:t>left</a:t>
            </a:r>
            <a:endParaRPr lang="nl-NL" sz="1400" dirty="0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63C6B205-2A4F-5E53-A6CD-528B19BA650E}"/>
              </a:ext>
            </a:extLst>
          </p:cNvPr>
          <p:cNvCxnSpPr>
            <a:cxnSpLocks/>
          </p:cNvCxnSpPr>
          <p:nvPr/>
        </p:nvCxnSpPr>
        <p:spPr>
          <a:xfrm flipH="1" flipV="1">
            <a:off x="8178834" y="520023"/>
            <a:ext cx="283289" cy="463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27C74AEB-A2B7-25E9-8569-AC342D775A73}"/>
              </a:ext>
            </a:extLst>
          </p:cNvPr>
          <p:cNvCxnSpPr>
            <a:cxnSpLocks/>
          </p:cNvCxnSpPr>
          <p:nvPr/>
        </p:nvCxnSpPr>
        <p:spPr>
          <a:xfrm flipV="1">
            <a:off x="9398168" y="409147"/>
            <a:ext cx="218990" cy="5057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15E22560-3F54-30E8-FA6E-AC47A13B18BA}"/>
              </a:ext>
            </a:extLst>
          </p:cNvPr>
          <p:cNvCxnSpPr>
            <a:cxnSpLocks/>
          </p:cNvCxnSpPr>
          <p:nvPr/>
        </p:nvCxnSpPr>
        <p:spPr>
          <a:xfrm flipH="1" flipV="1">
            <a:off x="9451368" y="3374233"/>
            <a:ext cx="178855" cy="5206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CB7341DA-6F06-429A-697A-321609DF879E}"/>
              </a:ext>
            </a:extLst>
          </p:cNvPr>
          <p:cNvCxnSpPr>
            <a:cxnSpLocks/>
          </p:cNvCxnSpPr>
          <p:nvPr/>
        </p:nvCxnSpPr>
        <p:spPr>
          <a:xfrm flipV="1">
            <a:off x="8212287" y="3463910"/>
            <a:ext cx="275422" cy="553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2" name="副标题 41">
            <a:extLst>
              <a:ext uri="{FF2B5EF4-FFF2-40B4-BE49-F238E27FC236}">
                <a16:creationId xmlns:a16="http://schemas.microsoft.com/office/drawing/2014/main" id="{5FABC597-FCF5-A443-B6B9-6C28C4EAC4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39670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D2E2E-7BAA-7887-D042-D4E880070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2E40D30C-2D44-72F3-1D3E-E4D4E429AF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8741" y="0"/>
            <a:ext cx="12200741" cy="451031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76A81A6-960B-3709-9B63-07143091874B}"/>
              </a:ext>
            </a:extLst>
          </p:cNvPr>
          <p:cNvSpPr txBox="1"/>
          <p:nvPr/>
        </p:nvSpPr>
        <p:spPr>
          <a:xfrm>
            <a:off x="314960" y="104524"/>
            <a:ext cx="51576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/>
              <a:t>1.1. </a:t>
            </a:r>
            <a:r>
              <a:rPr lang="nl-NL" sz="2400" dirty="0" err="1"/>
              <a:t>Further</a:t>
            </a:r>
            <a:r>
              <a:rPr lang="nl-NL" sz="2400" dirty="0"/>
              <a:t> </a:t>
            </a:r>
            <a:r>
              <a:rPr lang="nl-NL" sz="2400" dirty="0" err="1"/>
              <a:t>restrict</a:t>
            </a:r>
            <a:r>
              <a:rPr lang="nl-NL" sz="2400" dirty="0"/>
              <a:t>: </a:t>
            </a:r>
            <a:r>
              <a:rPr lang="nl-NL" sz="2400" dirty="0" err="1"/>
              <a:t>orientation</a:t>
            </a:r>
            <a:r>
              <a:rPr lang="nl-NL" sz="2400" dirty="0"/>
              <a:t> </a:t>
            </a:r>
            <a:r>
              <a:rPr lang="nl-NL" sz="2400" dirty="0" err="1"/>
              <a:t>and</a:t>
            </a:r>
            <a:r>
              <a:rPr lang="nl-NL" sz="2400" dirty="0"/>
              <a:t> </a:t>
            </a:r>
            <a:r>
              <a:rPr lang="nl-NL" sz="2400" dirty="0" err="1"/>
              <a:t>position</a:t>
            </a:r>
            <a:endParaRPr lang="nl-NL" sz="2400" dirty="0"/>
          </a:p>
        </p:txBody>
      </p:sp>
      <p:sp>
        <p:nvSpPr>
          <p:cNvPr id="42" name="副标题 41">
            <a:extLst>
              <a:ext uri="{FF2B5EF4-FFF2-40B4-BE49-F238E27FC236}">
                <a16:creationId xmlns:a16="http://schemas.microsoft.com/office/drawing/2014/main" id="{7A0B53A2-D1C5-2780-5433-AD185B266B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 dirty="0"/>
          </a:p>
        </p:txBody>
      </p:sp>
      <p:pic>
        <p:nvPicPr>
          <p:cNvPr id="6" name="图片 5" descr="图片包含 室内, 桌子, 水, 大&#10;&#10;AI 生成的内容可能不正确。">
            <a:extLst>
              <a:ext uri="{FF2B5EF4-FFF2-40B4-BE49-F238E27FC236}">
                <a16:creationId xmlns:a16="http://schemas.microsoft.com/office/drawing/2014/main" id="{B960F5F3-EB6F-F9C0-2BBA-932960897A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38455"/>
            <a:ext cx="5441137" cy="5441137"/>
          </a:xfrm>
          <a:prstGeom prst="rect">
            <a:avLst/>
          </a:prstGeom>
        </p:spPr>
      </p:pic>
      <p:pic>
        <p:nvPicPr>
          <p:cNvPr id="44" name="图片 43" descr="图片包含 室内, 桌子, 花, 花瓶&#10;&#10;AI 生成的内容可能不正确。">
            <a:extLst>
              <a:ext uri="{FF2B5EF4-FFF2-40B4-BE49-F238E27FC236}">
                <a16:creationId xmlns:a16="http://schemas.microsoft.com/office/drawing/2014/main" id="{51E14AB0-6702-D8F2-7BAF-89F11D9A15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05" y="1040045"/>
            <a:ext cx="5026152" cy="5026152"/>
          </a:xfrm>
          <a:prstGeom prst="rect">
            <a:avLst/>
          </a:prstGeom>
        </p:spPr>
      </p:pic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389A59CB-6418-5EA8-ABCA-8D6D585E2453}"/>
              </a:ext>
            </a:extLst>
          </p:cNvPr>
          <p:cNvCxnSpPr>
            <a:cxnSpLocks/>
          </p:cNvCxnSpPr>
          <p:nvPr/>
        </p:nvCxnSpPr>
        <p:spPr>
          <a:xfrm flipH="1">
            <a:off x="7275524" y="978408"/>
            <a:ext cx="1967536" cy="4481271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B4F39BE8-8971-D52A-3E57-359ACCAEABDD}"/>
              </a:ext>
            </a:extLst>
          </p:cNvPr>
          <p:cNvCxnSpPr>
            <a:cxnSpLocks/>
          </p:cNvCxnSpPr>
          <p:nvPr/>
        </p:nvCxnSpPr>
        <p:spPr>
          <a:xfrm>
            <a:off x="8127492" y="1493841"/>
            <a:ext cx="0" cy="4118559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5C3B9689-2AB5-D6B0-EFB9-A0FE41E721FF}"/>
              </a:ext>
            </a:extLst>
          </p:cNvPr>
          <p:cNvCxnSpPr>
            <a:cxnSpLocks/>
          </p:cNvCxnSpPr>
          <p:nvPr/>
        </p:nvCxnSpPr>
        <p:spPr>
          <a:xfrm flipH="1">
            <a:off x="6720814" y="2125980"/>
            <a:ext cx="2813356" cy="2743876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0420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1BF37-07FC-CABA-377E-445874CB2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B267FE18-B1F5-E571-568C-592226D892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107801" y="0"/>
            <a:ext cx="12200741" cy="451031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59D353B-AF11-C387-3661-BD5CCDBD7A8D}"/>
              </a:ext>
            </a:extLst>
          </p:cNvPr>
          <p:cNvSpPr txBox="1"/>
          <p:nvPr/>
        </p:nvSpPr>
        <p:spPr>
          <a:xfrm>
            <a:off x="220981" y="1221528"/>
            <a:ext cx="55041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/>
              <a:t>2. Score Computing:</a:t>
            </a:r>
          </a:p>
          <a:p>
            <a:r>
              <a:rPr lang="nl-NL" sz="2400" dirty="0"/>
              <a:t>Score = r*</a:t>
            </a:r>
            <a:r>
              <a:rPr lang="nl-NL" sz="2400" dirty="0" err="1"/>
              <a:t>ang</a:t>
            </a:r>
            <a:endParaRPr lang="nl-NL" sz="2400" dirty="0"/>
          </a:p>
          <a:p>
            <a:endParaRPr lang="nl-NL" sz="2400" dirty="0"/>
          </a:p>
          <a:p>
            <a:r>
              <a:rPr lang="nl-NL" sz="2400" dirty="0"/>
              <a:t>The </a:t>
            </a:r>
            <a:r>
              <a:rPr lang="nl-NL" sz="2400" dirty="0" err="1"/>
              <a:t>lower</a:t>
            </a:r>
            <a:r>
              <a:rPr lang="nl-NL" sz="2400" dirty="0"/>
              <a:t> </a:t>
            </a:r>
            <a:r>
              <a:rPr lang="nl-NL" sz="2400" dirty="0" err="1"/>
              <a:t>the</a:t>
            </a:r>
            <a:r>
              <a:rPr lang="nl-NL" sz="2400" dirty="0"/>
              <a:t> </a:t>
            </a:r>
            <a:r>
              <a:rPr lang="nl-NL" sz="2400" dirty="0" err="1"/>
              <a:t>better</a:t>
            </a:r>
            <a:r>
              <a:rPr lang="nl-NL" sz="2400" dirty="0"/>
              <a:t> – priority </a:t>
            </a:r>
            <a:r>
              <a:rPr lang="nl-NL" sz="2400" dirty="0" err="1"/>
              <a:t>belongs</a:t>
            </a:r>
            <a:r>
              <a:rPr lang="nl-NL" sz="2400" dirty="0"/>
              <a:t> </a:t>
            </a:r>
            <a:r>
              <a:rPr lang="nl-NL" sz="2400" dirty="0" err="1"/>
              <a:t>to</a:t>
            </a:r>
            <a:r>
              <a:rPr lang="nl-NL" sz="2400" dirty="0"/>
              <a:t> </a:t>
            </a:r>
            <a:r>
              <a:rPr lang="nl-NL" sz="2400" dirty="0" err="1"/>
              <a:t>the</a:t>
            </a:r>
            <a:r>
              <a:rPr lang="nl-NL" sz="2400" dirty="0"/>
              <a:t> </a:t>
            </a:r>
            <a:r>
              <a:rPr lang="nl-NL" sz="2400" dirty="0" err="1"/>
              <a:t>one</a:t>
            </a:r>
            <a:r>
              <a:rPr lang="nl-NL" sz="2400" dirty="0"/>
              <a:t> closer </a:t>
            </a:r>
            <a:r>
              <a:rPr lang="nl-NL" sz="2400" dirty="0" err="1"/>
              <a:t>and</a:t>
            </a:r>
            <a:r>
              <a:rPr lang="nl-NL" sz="2400" dirty="0"/>
              <a:t> </a:t>
            </a:r>
            <a:r>
              <a:rPr lang="nl-NL" sz="2400" dirty="0" err="1"/>
              <a:t>with</a:t>
            </a:r>
            <a:r>
              <a:rPr lang="nl-NL" sz="2400" dirty="0"/>
              <a:t> smaller </a:t>
            </a:r>
            <a:r>
              <a:rPr lang="nl-NL" sz="2400" dirty="0" err="1"/>
              <a:t>orientation</a:t>
            </a:r>
            <a:r>
              <a:rPr lang="nl-NL" sz="2400" dirty="0"/>
              <a:t> </a:t>
            </a:r>
            <a:r>
              <a:rPr lang="nl-NL" sz="2400" dirty="0" err="1"/>
              <a:t>difference</a:t>
            </a:r>
            <a:r>
              <a:rPr lang="nl-NL" sz="2400" dirty="0"/>
              <a:t> 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2D6FE40-B150-FA6F-B8EF-D9B9DB70A566}"/>
              </a:ext>
            </a:extLst>
          </p:cNvPr>
          <p:cNvSpPr/>
          <p:nvPr/>
        </p:nvSpPr>
        <p:spPr>
          <a:xfrm>
            <a:off x="5817193" y="166922"/>
            <a:ext cx="5393394" cy="53621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67836E81-46BF-7546-1831-35700CE087DF}"/>
              </a:ext>
            </a:extLst>
          </p:cNvPr>
          <p:cNvCxnSpPr>
            <a:cxnSpLocks/>
          </p:cNvCxnSpPr>
          <p:nvPr/>
        </p:nvCxnSpPr>
        <p:spPr>
          <a:xfrm flipH="1">
            <a:off x="8520751" y="300096"/>
            <a:ext cx="59902" cy="4582852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BDC16816-E859-3015-4BC0-1898819A378C}"/>
              </a:ext>
            </a:extLst>
          </p:cNvPr>
          <p:cNvSpPr/>
          <p:nvPr/>
        </p:nvSpPr>
        <p:spPr>
          <a:xfrm rot="1658645">
            <a:off x="7251656" y="2585142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73C6690-D643-6D8D-7054-45E1A0D27E1D}"/>
              </a:ext>
            </a:extLst>
          </p:cNvPr>
          <p:cNvSpPr/>
          <p:nvPr/>
        </p:nvSpPr>
        <p:spPr>
          <a:xfrm rot="2106093">
            <a:off x="7367900" y="2807561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3856B26E-CF79-07F0-30D1-97D0797F2FA1}"/>
              </a:ext>
            </a:extLst>
          </p:cNvPr>
          <p:cNvSpPr/>
          <p:nvPr/>
        </p:nvSpPr>
        <p:spPr>
          <a:xfrm>
            <a:off x="8923022" y="348381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9E4A234-07B0-6D90-E30E-1D8587FD2D5D}"/>
              </a:ext>
            </a:extLst>
          </p:cNvPr>
          <p:cNvSpPr/>
          <p:nvPr/>
        </p:nvSpPr>
        <p:spPr>
          <a:xfrm rot="20146179">
            <a:off x="7956926" y="304981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156CDFDE-6123-BBEC-75D4-37B4883F14B8}"/>
              </a:ext>
            </a:extLst>
          </p:cNvPr>
          <p:cNvSpPr/>
          <p:nvPr/>
        </p:nvSpPr>
        <p:spPr>
          <a:xfrm rot="2626670">
            <a:off x="8388203" y="4029604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B32510C5-7A3F-7781-0FEA-B1908AA5DF0C}"/>
              </a:ext>
            </a:extLst>
          </p:cNvPr>
          <p:cNvSpPr/>
          <p:nvPr/>
        </p:nvSpPr>
        <p:spPr>
          <a:xfrm>
            <a:off x="8513890" y="2225537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49EA7F0C-5EC3-5990-D882-CB6B594F8E4D}"/>
              </a:ext>
            </a:extLst>
          </p:cNvPr>
          <p:cNvSpPr/>
          <p:nvPr/>
        </p:nvSpPr>
        <p:spPr>
          <a:xfrm rot="19009040">
            <a:off x="7046774" y="1205206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B8F0CCAB-FD86-07CD-C4A5-8D89728B50C8}"/>
              </a:ext>
            </a:extLst>
          </p:cNvPr>
          <p:cNvCxnSpPr>
            <a:cxnSpLocks/>
          </p:cNvCxnSpPr>
          <p:nvPr/>
        </p:nvCxnSpPr>
        <p:spPr>
          <a:xfrm>
            <a:off x="7514630" y="590519"/>
            <a:ext cx="2551390" cy="4753638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97D7C74A-3B23-809F-C07C-DE71254CD526}"/>
              </a:ext>
            </a:extLst>
          </p:cNvPr>
          <p:cNvCxnSpPr>
            <a:cxnSpLocks/>
          </p:cNvCxnSpPr>
          <p:nvPr/>
        </p:nvCxnSpPr>
        <p:spPr>
          <a:xfrm flipH="1">
            <a:off x="7173616" y="300096"/>
            <a:ext cx="2519024" cy="4858644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5" name="弧形 44">
            <a:extLst>
              <a:ext uri="{FF2B5EF4-FFF2-40B4-BE49-F238E27FC236}">
                <a16:creationId xmlns:a16="http://schemas.microsoft.com/office/drawing/2014/main" id="{01BAEC83-B63D-DE8F-1B75-1F812EB2A563}"/>
              </a:ext>
            </a:extLst>
          </p:cNvPr>
          <p:cNvSpPr/>
          <p:nvPr/>
        </p:nvSpPr>
        <p:spPr>
          <a:xfrm rot="19962843">
            <a:off x="8277332" y="2191118"/>
            <a:ext cx="284789" cy="81022"/>
          </a:xfrm>
          <a:prstGeom prst="arc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F35B9A3C-0F04-8AF8-7B92-3C7AC468D0B4}"/>
              </a:ext>
            </a:extLst>
          </p:cNvPr>
          <p:cNvSpPr txBox="1"/>
          <p:nvPr/>
        </p:nvSpPr>
        <p:spPr>
          <a:xfrm>
            <a:off x="8217642" y="1867176"/>
            <a:ext cx="7662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/>
              <a:t>20</a:t>
            </a:r>
            <a:r>
              <a:rPr lang="nl-NL" altLang="zh-CN" sz="1400" dirty="0"/>
              <a:t>°</a:t>
            </a:r>
            <a:endParaRPr lang="nl-NL" sz="1400" dirty="0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C5773281-6CF2-72EA-216B-213619DE8140}"/>
              </a:ext>
            </a:extLst>
          </p:cNvPr>
          <p:cNvCxnSpPr>
            <a:cxnSpLocks/>
          </p:cNvCxnSpPr>
          <p:nvPr/>
        </p:nvCxnSpPr>
        <p:spPr>
          <a:xfrm>
            <a:off x="7852069" y="258749"/>
            <a:ext cx="691103" cy="1498966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弧形 23">
            <a:extLst>
              <a:ext uri="{FF2B5EF4-FFF2-40B4-BE49-F238E27FC236}">
                <a16:creationId xmlns:a16="http://schemas.microsoft.com/office/drawing/2014/main" id="{D2D15CA0-7C01-69D9-5C58-F923DDB929E0}"/>
              </a:ext>
            </a:extLst>
          </p:cNvPr>
          <p:cNvSpPr/>
          <p:nvPr/>
        </p:nvSpPr>
        <p:spPr>
          <a:xfrm rot="20347365">
            <a:off x="7917265" y="343374"/>
            <a:ext cx="945252" cy="324663"/>
          </a:xfrm>
          <a:prstGeom prst="arc">
            <a:avLst>
              <a:gd name="adj1" fmla="val 11238430"/>
              <a:gd name="adj2" fmla="val 20153787"/>
            </a:avLst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9993B04-87CE-FEB4-3D5F-40B124ED17CA}"/>
              </a:ext>
            </a:extLst>
          </p:cNvPr>
          <p:cNvSpPr txBox="1"/>
          <p:nvPr/>
        </p:nvSpPr>
        <p:spPr>
          <a:xfrm>
            <a:off x="7961805" y="1021154"/>
            <a:ext cx="766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r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FDBF145-D781-858A-5C85-2BCDFDC24521}"/>
              </a:ext>
            </a:extLst>
          </p:cNvPr>
          <p:cNvSpPr txBox="1"/>
          <p:nvPr/>
        </p:nvSpPr>
        <p:spPr>
          <a:xfrm>
            <a:off x="8282645" y="938609"/>
            <a:ext cx="766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ang</a:t>
            </a:r>
            <a:endParaRPr lang="nl-NL" dirty="0"/>
          </a:p>
        </p:txBody>
      </p:sp>
      <p:sp>
        <p:nvSpPr>
          <p:cNvPr id="30" name="弧形 29">
            <a:extLst>
              <a:ext uri="{FF2B5EF4-FFF2-40B4-BE49-F238E27FC236}">
                <a16:creationId xmlns:a16="http://schemas.microsoft.com/office/drawing/2014/main" id="{FAB8523F-AAC9-C4B9-22AD-BBEAADA49B8C}"/>
              </a:ext>
            </a:extLst>
          </p:cNvPr>
          <p:cNvSpPr/>
          <p:nvPr/>
        </p:nvSpPr>
        <p:spPr>
          <a:xfrm rot="19962843">
            <a:off x="8233779" y="1368960"/>
            <a:ext cx="351148" cy="104854"/>
          </a:xfrm>
          <a:prstGeom prst="arc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F6D6C78D-5A9B-3C59-E2CF-C8EBDCB83BAA}"/>
              </a:ext>
            </a:extLst>
          </p:cNvPr>
          <p:cNvCxnSpPr>
            <a:cxnSpLocks/>
          </p:cNvCxnSpPr>
          <p:nvPr/>
        </p:nvCxnSpPr>
        <p:spPr>
          <a:xfrm flipH="1">
            <a:off x="7741605" y="3706299"/>
            <a:ext cx="1242296" cy="1307111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弧形 33">
            <a:extLst>
              <a:ext uri="{FF2B5EF4-FFF2-40B4-BE49-F238E27FC236}">
                <a16:creationId xmlns:a16="http://schemas.microsoft.com/office/drawing/2014/main" id="{50696F5E-B2F0-994D-A1C6-CBC34824D1B5}"/>
              </a:ext>
            </a:extLst>
          </p:cNvPr>
          <p:cNvSpPr/>
          <p:nvPr/>
        </p:nvSpPr>
        <p:spPr>
          <a:xfrm rot="12541080">
            <a:off x="8205924" y="4161797"/>
            <a:ext cx="945252" cy="324663"/>
          </a:xfrm>
          <a:prstGeom prst="arc">
            <a:avLst>
              <a:gd name="adj1" fmla="val 17460583"/>
              <a:gd name="adj2" fmla="val 20153787"/>
            </a:avLst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1778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853CE-244E-9B94-7551-43EB95B29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BCF9F8DF-6F37-B65B-818F-C46A619C1E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107801" y="0"/>
            <a:ext cx="12200741" cy="451031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C236506-E5E1-1EAE-C010-D693ADCAC5AF}"/>
              </a:ext>
            </a:extLst>
          </p:cNvPr>
          <p:cNvSpPr txBox="1"/>
          <p:nvPr/>
        </p:nvSpPr>
        <p:spPr>
          <a:xfrm>
            <a:off x="615127" y="1651008"/>
            <a:ext cx="484631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/>
              <a:t>3. Iteration </a:t>
            </a:r>
            <a:r>
              <a:rPr lang="nl-NL" sz="2400" dirty="0" err="1"/>
              <a:t>and</a:t>
            </a:r>
            <a:r>
              <a:rPr lang="nl-NL" sz="2400" dirty="0"/>
              <a:t> </a:t>
            </a:r>
            <a:r>
              <a:rPr lang="nl-NL" sz="2400" dirty="0" err="1"/>
              <a:t>Pairing</a:t>
            </a:r>
            <a:endParaRPr lang="nl-NL" sz="2400" dirty="0"/>
          </a:p>
          <a:p>
            <a:endParaRPr lang="nl-NL" sz="2400" dirty="0"/>
          </a:p>
          <a:p>
            <a:r>
              <a:rPr lang="nl-NL" altLang="zh-CN" sz="2400" dirty="0"/>
              <a:t>In </a:t>
            </a:r>
            <a:r>
              <a:rPr lang="nl-NL" altLang="zh-CN" sz="2400" dirty="0" err="1"/>
              <a:t>one</a:t>
            </a:r>
            <a:r>
              <a:rPr lang="nl-NL" altLang="zh-CN" sz="2400" dirty="0"/>
              <a:t> iteration, </a:t>
            </a:r>
            <a:r>
              <a:rPr lang="nl-NL" altLang="zh-CN" sz="2400" dirty="0" err="1"/>
              <a:t>if</a:t>
            </a:r>
            <a:r>
              <a:rPr lang="nl-NL" altLang="zh-CN" sz="2400" dirty="0"/>
              <a:t> stem i </a:t>
            </a:r>
            <a:r>
              <a:rPr lang="nl-NL" altLang="zh-CN" sz="2400" dirty="0" err="1"/>
              <a:t>and</a:t>
            </a:r>
            <a:r>
              <a:rPr lang="nl-NL" altLang="zh-CN" sz="2400" dirty="0"/>
              <a:t> j are </a:t>
            </a:r>
            <a:r>
              <a:rPr lang="nl-NL" altLang="zh-CN" sz="2400" dirty="0" err="1"/>
              <a:t>each</a:t>
            </a:r>
            <a:r>
              <a:rPr lang="nl-NL" altLang="zh-CN" sz="2400" dirty="0"/>
              <a:t> </a:t>
            </a:r>
            <a:r>
              <a:rPr lang="nl-NL" altLang="zh-CN" sz="2400" dirty="0" err="1"/>
              <a:t>other’s</a:t>
            </a:r>
            <a:r>
              <a:rPr lang="nl-NL" altLang="zh-CN" sz="2400" dirty="0"/>
              <a:t> </a:t>
            </a:r>
            <a:r>
              <a:rPr lang="nl-NL" altLang="zh-CN" sz="2400" dirty="0" err="1"/>
              <a:t>lowest</a:t>
            </a:r>
            <a:r>
              <a:rPr lang="nl-NL" altLang="zh-CN" sz="2400" dirty="0"/>
              <a:t> score, </a:t>
            </a:r>
            <a:r>
              <a:rPr lang="nl-NL" altLang="zh-CN" sz="2400" dirty="0" err="1"/>
              <a:t>they</a:t>
            </a:r>
            <a:r>
              <a:rPr lang="nl-NL" altLang="zh-CN" sz="2400" dirty="0"/>
              <a:t> are </a:t>
            </a:r>
            <a:r>
              <a:rPr lang="nl-NL" altLang="zh-CN" sz="2400" dirty="0" err="1"/>
              <a:t>paired</a:t>
            </a:r>
            <a:endParaRPr lang="nl-NL" sz="2400" dirty="0"/>
          </a:p>
        </p:txBody>
      </p:sp>
      <p:pic>
        <p:nvPicPr>
          <p:cNvPr id="5" name="图片 4" descr="图片包含 室内, 桌子, 水, 大&#10;&#10;AI 生成的内容可能不正确。">
            <a:extLst>
              <a:ext uri="{FF2B5EF4-FFF2-40B4-BE49-F238E27FC236}">
                <a16:creationId xmlns:a16="http://schemas.microsoft.com/office/drawing/2014/main" id="{3B3AB66B-89B9-FA42-CAEC-0D14D34EFE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3580" y="10955"/>
            <a:ext cx="6235477" cy="6235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294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ADE8C-EA78-EC49-BF33-3D6ABF205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057CEF0E-17F8-7816-9902-A87B914FB0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99059" y="0"/>
            <a:ext cx="12200741" cy="451031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FFAD36C-3521-4236-EE2F-34CAE09FDC48}"/>
              </a:ext>
            </a:extLst>
          </p:cNvPr>
          <p:cNvSpPr txBox="1"/>
          <p:nvPr/>
        </p:nvSpPr>
        <p:spPr>
          <a:xfrm>
            <a:off x="423290" y="218021"/>
            <a:ext cx="109550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/>
              <a:t>3. Iteration </a:t>
            </a:r>
            <a:r>
              <a:rPr lang="nl-NL" sz="2400" dirty="0" err="1"/>
              <a:t>and</a:t>
            </a:r>
            <a:r>
              <a:rPr lang="nl-NL" sz="2400" dirty="0"/>
              <a:t> </a:t>
            </a:r>
            <a:r>
              <a:rPr lang="nl-NL" sz="2400" dirty="0" err="1"/>
              <a:t>Pairing</a:t>
            </a:r>
            <a:endParaRPr lang="nl-NL" sz="2400" dirty="0"/>
          </a:p>
          <a:p>
            <a:endParaRPr lang="nl-NL" sz="2400" dirty="0"/>
          </a:p>
          <a:p>
            <a:r>
              <a:rPr lang="nl-NL" sz="2400" dirty="0"/>
              <a:t>Trick: </a:t>
            </a:r>
            <a:r>
              <a:rPr lang="nl-NL" sz="2400" dirty="0" err="1"/>
              <a:t>If</a:t>
            </a:r>
            <a:r>
              <a:rPr lang="nl-NL" sz="2400" dirty="0"/>
              <a:t> </a:t>
            </a:r>
            <a:r>
              <a:rPr lang="nl-NL" sz="2400" dirty="0" err="1"/>
              <a:t>there</a:t>
            </a:r>
            <a:r>
              <a:rPr lang="nl-NL" sz="2400" dirty="0"/>
              <a:t> are multiple </a:t>
            </a:r>
            <a:r>
              <a:rPr lang="nl-NL" sz="2400" dirty="0" err="1"/>
              <a:t>candiates</a:t>
            </a:r>
            <a:r>
              <a:rPr lang="nl-NL" sz="2400" dirty="0"/>
              <a:t> </a:t>
            </a:r>
            <a:r>
              <a:rPr lang="nl-NL" sz="2400" dirty="0" err="1"/>
              <a:t>with</a:t>
            </a:r>
            <a:r>
              <a:rPr lang="nl-NL" sz="2400" dirty="0"/>
              <a:t> score </a:t>
            </a:r>
            <a:r>
              <a:rPr lang="nl-NL" sz="2400" dirty="0" err="1"/>
              <a:t>less</a:t>
            </a:r>
            <a:r>
              <a:rPr lang="nl-NL" sz="2400" dirty="0"/>
              <a:t> </a:t>
            </a:r>
            <a:r>
              <a:rPr lang="nl-NL" sz="2400" dirty="0" err="1"/>
              <a:t>than</a:t>
            </a:r>
            <a:r>
              <a:rPr lang="nl-NL" sz="2400" dirty="0"/>
              <a:t> 10, </a:t>
            </a:r>
            <a:r>
              <a:rPr lang="nl-NL" sz="2400" dirty="0" err="1"/>
              <a:t>the</a:t>
            </a:r>
            <a:r>
              <a:rPr lang="nl-NL" sz="2400" dirty="0"/>
              <a:t> </a:t>
            </a:r>
            <a:r>
              <a:rPr lang="nl-NL" sz="2400" dirty="0" err="1"/>
              <a:t>closest</a:t>
            </a:r>
            <a:r>
              <a:rPr lang="nl-NL" sz="2400" dirty="0"/>
              <a:t> </a:t>
            </a:r>
            <a:r>
              <a:rPr lang="nl-NL" sz="2400" dirty="0" err="1"/>
              <a:t>one</a:t>
            </a:r>
            <a:r>
              <a:rPr lang="nl-NL" sz="2400" dirty="0"/>
              <a:t> </a:t>
            </a:r>
            <a:r>
              <a:rPr lang="nl-NL" sz="2400" dirty="0" err="1"/>
              <a:t>will</a:t>
            </a:r>
            <a:r>
              <a:rPr lang="nl-NL" sz="2400" dirty="0"/>
              <a:t> </a:t>
            </a:r>
            <a:r>
              <a:rPr lang="nl-NL" sz="2400" dirty="0" err="1"/>
              <a:t>be</a:t>
            </a:r>
            <a:r>
              <a:rPr lang="nl-NL" sz="2400" dirty="0"/>
              <a:t> </a:t>
            </a:r>
            <a:r>
              <a:rPr lang="nl-NL" sz="2400" dirty="0" err="1"/>
              <a:t>picked</a:t>
            </a:r>
            <a:endParaRPr lang="nl-NL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3E63A90-60EC-C86C-699E-8A8A99DFA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290" y="1781321"/>
            <a:ext cx="8547912" cy="507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413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24C87-AB15-A2F1-77D7-5127A4545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DAB78776-15CE-F139-9AD8-B3FBDFEE72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99059" y="0"/>
            <a:ext cx="12200741" cy="451031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B761567-A485-DCE2-99CC-16A4E290B374}"/>
              </a:ext>
            </a:extLst>
          </p:cNvPr>
          <p:cNvSpPr txBox="1"/>
          <p:nvPr/>
        </p:nvSpPr>
        <p:spPr>
          <a:xfrm>
            <a:off x="678715" y="2034212"/>
            <a:ext cx="484631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/>
              <a:t>3. Iteration </a:t>
            </a:r>
            <a:r>
              <a:rPr lang="nl-NL" sz="2400" dirty="0" err="1"/>
              <a:t>and</a:t>
            </a:r>
            <a:r>
              <a:rPr lang="nl-NL" sz="2400" dirty="0"/>
              <a:t> </a:t>
            </a:r>
            <a:r>
              <a:rPr lang="nl-NL" sz="2400" dirty="0" err="1"/>
              <a:t>Pairing</a:t>
            </a:r>
            <a:endParaRPr lang="nl-NL" sz="2400" dirty="0"/>
          </a:p>
          <a:p>
            <a:endParaRPr lang="nl-NL" sz="2400" dirty="0"/>
          </a:p>
          <a:p>
            <a:r>
              <a:rPr lang="nl-NL" sz="2400" dirty="0"/>
              <a:t>Trick: </a:t>
            </a:r>
            <a:r>
              <a:rPr lang="nl-NL" sz="2400" dirty="0" err="1"/>
              <a:t>If</a:t>
            </a:r>
            <a:r>
              <a:rPr lang="nl-NL" sz="2400" dirty="0"/>
              <a:t> </a:t>
            </a:r>
            <a:r>
              <a:rPr lang="nl-NL" sz="2400" dirty="0" err="1"/>
              <a:t>there</a:t>
            </a:r>
            <a:r>
              <a:rPr lang="nl-NL" sz="2400" dirty="0"/>
              <a:t> are multiple </a:t>
            </a:r>
            <a:r>
              <a:rPr lang="nl-NL" sz="2400" dirty="0" err="1"/>
              <a:t>candiates</a:t>
            </a:r>
            <a:r>
              <a:rPr lang="nl-NL" sz="2400" dirty="0"/>
              <a:t> </a:t>
            </a:r>
            <a:r>
              <a:rPr lang="nl-NL" sz="2400" dirty="0" err="1"/>
              <a:t>with</a:t>
            </a:r>
            <a:r>
              <a:rPr lang="nl-NL" sz="2400" dirty="0"/>
              <a:t> score </a:t>
            </a:r>
            <a:r>
              <a:rPr lang="nl-NL" sz="2400" dirty="0" err="1"/>
              <a:t>less</a:t>
            </a:r>
            <a:r>
              <a:rPr lang="nl-NL" sz="2400" dirty="0"/>
              <a:t> </a:t>
            </a:r>
            <a:r>
              <a:rPr lang="nl-NL" sz="2400" dirty="0" err="1"/>
              <a:t>than</a:t>
            </a:r>
            <a:r>
              <a:rPr lang="nl-NL" sz="2400" dirty="0"/>
              <a:t> 5, </a:t>
            </a:r>
            <a:r>
              <a:rPr lang="nl-NL" sz="2400" dirty="0" err="1"/>
              <a:t>the</a:t>
            </a:r>
            <a:r>
              <a:rPr lang="nl-NL" sz="2400" dirty="0"/>
              <a:t> </a:t>
            </a:r>
            <a:r>
              <a:rPr lang="nl-NL" sz="2400" dirty="0" err="1"/>
              <a:t>closest</a:t>
            </a:r>
            <a:r>
              <a:rPr lang="nl-NL" sz="2400" dirty="0"/>
              <a:t> </a:t>
            </a:r>
            <a:r>
              <a:rPr lang="nl-NL" sz="2400" dirty="0" err="1"/>
              <a:t>one</a:t>
            </a:r>
            <a:r>
              <a:rPr lang="nl-NL" sz="2400" dirty="0"/>
              <a:t> </a:t>
            </a:r>
            <a:r>
              <a:rPr lang="nl-NL" sz="2400" dirty="0" err="1"/>
              <a:t>will</a:t>
            </a:r>
            <a:r>
              <a:rPr lang="nl-NL" sz="2400" dirty="0"/>
              <a:t> </a:t>
            </a:r>
            <a:r>
              <a:rPr lang="nl-NL" sz="2400" dirty="0" err="1"/>
              <a:t>be</a:t>
            </a:r>
            <a:r>
              <a:rPr lang="nl-NL" sz="2400" dirty="0"/>
              <a:t> </a:t>
            </a:r>
            <a:r>
              <a:rPr lang="nl-NL" sz="2400" dirty="0" err="1"/>
              <a:t>picked</a:t>
            </a:r>
            <a:endParaRPr lang="nl-NL" sz="2400" dirty="0"/>
          </a:p>
        </p:txBody>
      </p:sp>
      <p:pic>
        <p:nvPicPr>
          <p:cNvPr id="5" name="图片 4" descr="蓝色花瓶里插满了鲜花&#10;&#10;AI 生成的内容可能不正确。">
            <a:extLst>
              <a:ext uri="{FF2B5EF4-FFF2-40B4-BE49-F238E27FC236}">
                <a16:creationId xmlns:a16="http://schemas.microsoft.com/office/drawing/2014/main" id="{D1E1C1CE-0DE2-781D-2818-2BFCE36399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4399" y="203309"/>
            <a:ext cx="5999921" cy="5999921"/>
          </a:xfrm>
          <a:prstGeom prst="rect">
            <a:avLst/>
          </a:prstGeom>
        </p:spPr>
      </p:pic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5D11701B-2C24-A8E4-B53F-3277AB4DE554}"/>
              </a:ext>
            </a:extLst>
          </p:cNvPr>
          <p:cNvSpPr/>
          <p:nvPr/>
        </p:nvSpPr>
        <p:spPr>
          <a:xfrm>
            <a:off x="6001311" y="5375083"/>
            <a:ext cx="2107095" cy="733339"/>
          </a:xfrm>
          <a:prstGeom prst="wedgeRoundRectCallout">
            <a:avLst>
              <a:gd name="adj1" fmla="val 53305"/>
              <a:gd name="adj2" fmla="val -6836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altLang="zh-CN" sz="1400" dirty="0"/>
              <a:t>Even </a:t>
            </a:r>
            <a:r>
              <a:rPr lang="nl-NL" altLang="zh-CN" sz="1400" dirty="0" err="1"/>
              <a:t>with</a:t>
            </a:r>
            <a:r>
              <a:rPr lang="nl-NL" altLang="zh-CN" sz="1400" dirty="0"/>
              <a:t> </a:t>
            </a:r>
            <a:r>
              <a:rPr lang="nl-NL" altLang="zh-CN" sz="1400" dirty="0" err="1"/>
              <a:t>the</a:t>
            </a:r>
            <a:r>
              <a:rPr lang="nl-NL" altLang="zh-CN" sz="1400" dirty="0"/>
              <a:t> </a:t>
            </a:r>
            <a:r>
              <a:rPr lang="nl-NL" altLang="zh-CN" sz="1400" dirty="0" err="1"/>
              <a:t>lowest</a:t>
            </a:r>
            <a:r>
              <a:rPr lang="nl-NL" altLang="zh-CN" sz="1400" dirty="0"/>
              <a:t> score, </a:t>
            </a:r>
            <a:r>
              <a:rPr lang="nl-NL" altLang="zh-CN" sz="1400" dirty="0" err="1"/>
              <a:t>the</a:t>
            </a:r>
            <a:r>
              <a:rPr lang="nl-NL" altLang="zh-CN" sz="1400" dirty="0"/>
              <a:t> </a:t>
            </a:r>
            <a:r>
              <a:rPr lang="nl-NL" altLang="zh-CN" sz="1400" dirty="0" err="1"/>
              <a:t>further</a:t>
            </a:r>
            <a:r>
              <a:rPr lang="nl-NL" altLang="zh-CN" sz="1400" dirty="0"/>
              <a:t>, more </a:t>
            </a:r>
            <a:r>
              <a:rPr lang="nl-NL" altLang="zh-CN" sz="1400" dirty="0" err="1"/>
              <a:t>irrelavent</a:t>
            </a:r>
            <a:r>
              <a:rPr lang="nl-NL" altLang="zh-CN" sz="1400" dirty="0"/>
              <a:t>.</a:t>
            </a:r>
            <a:endParaRPr lang="nl-NL" sz="1400" dirty="0"/>
          </a:p>
        </p:txBody>
      </p:sp>
    </p:spTree>
    <p:extLst>
      <p:ext uri="{BB962C8B-B14F-4D97-AF65-F5344CB8AC3E}">
        <p14:creationId xmlns:p14="http://schemas.microsoft.com/office/powerpoint/2010/main" val="1898198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37B5E-7EFD-9126-A7DC-F60A6FCF6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E26DBAAE-3995-45A4-1DBC-BD1551CD2E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99059" y="0"/>
            <a:ext cx="12200741" cy="451031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3B2121C-056E-E62F-54F1-4CD2234FB548}"/>
              </a:ext>
            </a:extLst>
          </p:cNvPr>
          <p:cNvSpPr txBox="1"/>
          <p:nvPr/>
        </p:nvSpPr>
        <p:spPr>
          <a:xfrm>
            <a:off x="299614" y="102558"/>
            <a:ext cx="1043636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/>
              <a:t>3. Iteration </a:t>
            </a:r>
            <a:r>
              <a:rPr lang="nl-NL" sz="2400" dirty="0" err="1"/>
              <a:t>and</a:t>
            </a:r>
            <a:r>
              <a:rPr lang="nl-NL" sz="2400" dirty="0"/>
              <a:t> </a:t>
            </a:r>
            <a:r>
              <a:rPr lang="nl-NL" sz="2400" dirty="0" err="1"/>
              <a:t>Pairing</a:t>
            </a:r>
            <a:endParaRPr lang="nl-NL" sz="2400" dirty="0"/>
          </a:p>
          <a:p>
            <a:endParaRPr lang="nl-NL" sz="2400" dirty="0"/>
          </a:p>
          <a:p>
            <a:r>
              <a:rPr lang="nl-NL" sz="2400" dirty="0" err="1"/>
              <a:t>Once</a:t>
            </a:r>
            <a:r>
              <a:rPr lang="nl-NL" sz="2400" dirty="0"/>
              <a:t> </a:t>
            </a:r>
            <a:r>
              <a:rPr lang="nl-NL" sz="2400" dirty="0" err="1"/>
              <a:t>two</a:t>
            </a:r>
            <a:r>
              <a:rPr lang="nl-NL" sz="2400" dirty="0"/>
              <a:t> </a:t>
            </a:r>
            <a:r>
              <a:rPr lang="nl-NL" sz="2400" dirty="0" err="1"/>
              <a:t>stems</a:t>
            </a:r>
            <a:r>
              <a:rPr lang="nl-NL" sz="2400" dirty="0"/>
              <a:t> are </a:t>
            </a:r>
            <a:r>
              <a:rPr lang="nl-NL" sz="2400" dirty="0" err="1"/>
              <a:t>paired</a:t>
            </a:r>
            <a:r>
              <a:rPr lang="nl-NL" sz="2400" dirty="0"/>
              <a:t>, </a:t>
            </a:r>
            <a:r>
              <a:rPr lang="nl-NL" sz="2400" dirty="0" err="1"/>
              <a:t>they</a:t>
            </a:r>
            <a:r>
              <a:rPr lang="nl-NL" sz="2400" dirty="0"/>
              <a:t> </a:t>
            </a:r>
            <a:r>
              <a:rPr lang="nl-NL" sz="2400" dirty="0" err="1"/>
              <a:t>will</a:t>
            </a:r>
            <a:r>
              <a:rPr lang="nl-NL" sz="2400" dirty="0"/>
              <a:t> </a:t>
            </a:r>
            <a:r>
              <a:rPr lang="nl-NL" sz="2400" dirty="0" err="1"/>
              <a:t>be</a:t>
            </a:r>
            <a:r>
              <a:rPr lang="nl-NL" sz="2400" dirty="0"/>
              <a:t> </a:t>
            </a:r>
            <a:r>
              <a:rPr lang="nl-NL" sz="2400" dirty="0" err="1"/>
              <a:t>removed</a:t>
            </a:r>
            <a:r>
              <a:rPr lang="nl-NL" sz="2400" dirty="0"/>
              <a:t> </a:t>
            </a:r>
            <a:r>
              <a:rPr lang="nl-NL" sz="2400" dirty="0" err="1"/>
              <a:t>from</a:t>
            </a:r>
            <a:r>
              <a:rPr lang="nl-NL" sz="2400" dirty="0"/>
              <a:t> </a:t>
            </a:r>
            <a:r>
              <a:rPr lang="nl-NL" sz="2400" dirty="0" err="1"/>
              <a:t>the</a:t>
            </a:r>
            <a:r>
              <a:rPr lang="nl-NL" sz="2400" dirty="0"/>
              <a:t> set</a:t>
            </a:r>
          </a:p>
          <a:p>
            <a:endParaRPr lang="nl-NL" sz="2400" dirty="0"/>
          </a:p>
          <a:p>
            <a:r>
              <a:rPr lang="nl-NL" sz="2400" dirty="0"/>
              <a:t>Iteration </a:t>
            </a:r>
            <a:r>
              <a:rPr lang="nl-NL" sz="2400" dirty="0" err="1"/>
              <a:t>till</a:t>
            </a:r>
            <a:r>
              <a:rPr lang="nl-NL" sz="2400" dirty="0"/>
              <a:t> </a:t>
            </a:r>
            <a:r>
              <a:rPr lang="nl-NL" sz="2400" dirty="0" err="1"/>
              <a:t>there</a:t>
            </a:r>
            <a:r>
              <a:rPr lang="nl-NL" sz="2400" dirty="0"/>
              <a:t> is no more </a:t>
            </a:r>
            <a:r>
              <a:rPr lang="nl-NL" sz="2400" dirty="0" err="1"/>
              <a:t>pairing</a:t>
            </a:r>
            <a:endParaRPr lang="nl-NL" sz="24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3F267DA-F3DF-BCA0-753D-E56E9F929A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614" y="2041550"/>
            <a:ext cx="6417988" cy="381562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FE539EF-E4A2-7035-7FF3-0841DDA5D7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938" y="6342524"/>
            <a:ext cx="10336067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500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39153-649E-21B6-B7C6-D13BFA234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C4D3BD56-F012-A408-4323-3F6E401BAB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99059" y="0"/>
            <a:ext cx="12200741" cy="451031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2362F3F-D0FB-7224-823E-C52FE9D1DD82}"/>
              </a:ext>
            </a:extLst>
          </p:cNvPr>
          <p:cNvSpPr txBox="1"/>
          <p:nvPr/>
        </p:nvSpPr>
        <p:spPr>
          <a:xfrm>
            <a:off x="487680" y="1340289"/>
            <a:ext cx="537395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/>
              <a:t>3. Iteration </a:t>
            </a:r>
            <a:r>
              <a:rPr lang="nl-NL" sz="2400" dirty="0" err="1"/>
              <a:t>and</a:t>
            </a:r>
            <a:r>
              <a:rPr lang="nl-NL" sz="2400" dirty="0"/>
              <a:t> </a:t>
            </a:r>
            <a:r>
              <a:rPr lang="nl-NL" sz="2400" dirty="0" err="1"/>
              <a:t>Pairing</a:t>
            </a:r>
            <a:endParaRPr lang="nl-NL" sz="2400" dirty="0"/>
          </a:p>
          <a:p>
            <a:endParaRPr lang="nl-NL" sz="2400" dirty="0"/>
          </a:p>
          <a:p>
            <a:r>
              <a:rPr lang="nl-NL" sz="2400" dirty="0" err="1"/>
              <a:t>Once</a:t>
            </a:r>
            <a:r>
              <a:rPr lang="nl-NL" sz="2400" dirty="0"/>
              <a:t> </a:t>
            </a:r>
            <a:r>
              <a:rPr lang="nl-NL" sz="2400" dirty="0" err="1"/>
              <a:t>two</a:t>
            </a:r>
            <a:r>
              <a:rPr lang="nl-NL" sz="2400" dirty="0"/>
              <a:t> </a:t>
            </a:r>
            <a:r>
              <a:rPr lang="nl-NL" sz="2400" dirty="0" err="1"/>
              <a:t>stems</a:t>
            </a:r>
            <a:r>
              <a:rPr lang="nl-NL" sz="2400" dirty="0"/>
              <a:t> are </a:t>
            </a:r>
            <a:r>
              <a:rPr lang="nl-NL" sz="2400" dirty="0" err="1"/>
              <a:t>paired</a:t>
            </a:r>
            <a:r>
              <a:rPr lang="nl-NL" sz="2400" dirty="0"/>
              <a:t>, </a:t>
            </a:r>
            <a:r>
              <a:rPr lang="nl-NL" sz="2400" dirty="0" err="1"/>
              <a:t>they</a:t>
            </a:r>
            <a:r>
              <a:rPr lang="nl-NL" sz="2400" dirty="0"/>
              <a:t> </a:t>
            </a:r>
            <a:r>
              <a:rPr lang="nl-NL" sz="2400" dirty="0" err="1"/>
              <a:t>will</a:t>
            </a:r>
            <a:r>
              <a:rPr lang="nl-NL" sz="2400" dirty="0"/>
              <a:t> </a:t>
            </a:r>
            <a:r>
              <a:rPr lang="nl-NL" sz="2400" dirty="0" err="1"/>
              <a:t>be</a:t>
            </a:r>
            <a:r>
              <a:rPr lang="nl-NL" sz="2400" dirty="0"/>
              <a:t> </a:t>
            </a:r>
            <a:r>
              <a:rPr lang="nl-NL" sz="2400" dirty="0" err="1"/>
              <a:t>removed</a:t>
            </a:r>
            <a:r>
              <a:rPr lang="nl-NL" sz="2400" dirty="0"/>
              <a:t> </a:t>
            </a:r>
            <a:r>
              <a:rPr lang="nl-NL" sz="2400" dirty="0" err="1"/>
              <a:t>from</a:t>
            </a:r>
            <a:r>
              <a:rPr lang="nl-NL" sz="2400" dirty="0"/>
              <a:t> </a:t>
            </a:r>
            <a:r>
              <a:rPr lang="nl-NL" sz="2400" dirty="0" err="1"/>
              <a:t>the</a:t>
            </a:r>
            <a:r>
              <a:rPr lang="nl-NL" sz="2400" dirty="0"/>
              <a:t> set</a:t>
            </a:r>
          </a:p>
          <a:p>
            <a:endParaRPr lang="nl-NL" sz="2400" dirty="0"/>
          </a:p>
          <a:p>
            <a:r>
              <a:rPr lang="nl-NL" sz="2400" dirty="0"/>
              <a:t>Iteration </a:t>
            </a:r>
            <a:r>
              <a:rPr lang="nl-NL" sz="2400" dirty="0" err="1"/>
              <a:t>till</a:t>
            </a:r>
            <a:r>
              <a:rPr lang="nl-NL" sz="2400" dirty="0"/>
              <a:t> </a:t>
            </a:r>
            <a:r>
              <a:rPr lang="nl-NL" sz="2400" dirty="0" err="1"/>
              <a:t>there</a:t>
            </a:r>
            <a:r>
              <a:rPr lang="nl-NL" sz="2400" dirty="0"/>
              <a:t> is no more </a:t>
            </a:r>
            <a:r>
              <a:rPr lang="nl-NL" sz="2400" dirty="0" err="1"/>
              <a:t>pairing</a:t>
            </a:r>
            <a:endParaRPr lang="nl-NL" sz="2400" dirty="0"/>
          </a:p>
        </p:txBody>
      </p:sp>
      <p:pic>
        <p:nvPicPr>
          <p:cNvPr id="3" name="图片 2" descr="蓝色花瓶里插满了鲜花&#10;&#10;AI 生成的内容可能不正确。">
            <a:extLst>
              <a:ext uri="{FF2B5EF4-FFF2-40B4-BE49-F238E27FC236}">
                <a16:creationId xmlns:a16="http://schemas.microsoft.com/office/drawing/2014/main" id="{9F18B29B-4B08-FBFC-9C24-4DBB99E11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5130" y="0"/>
            <a:ext cx="6349778" cy="6349778"/>
          </a:xfrm>
          <a:prstGeom prst="rect">
            <a:avLst/>
          </a:prstGeom>
        </p:spPr>
      </p:pic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C991957B-A1BA-CB43-D9BB-8B539D863E80}"/>
              </a:ext>
            </a:extLst>
          </p:cNvPr>
          <p:cNvSpPr/>
          <p:nvPr/>
        </p:nvSpPr>
        <p:spPr>
          <a:xfrm>
            <a:off x="5861639" y="2868086"/>
            <a:ext cx="1941967" cy="613606"/>
          </a:xfrm>
          <a:prstGeom prst="wedgeRoundRectCallout">
            <a:avLst>
              <a:gd name="adj1" fmla="val 96346"/>
              <a:gd name="adj2" fmla="val 2757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A </a:t>
            </a:r>
            <a:r>
              <a:rPr lang="nl-NL" dirty="0" err="1"/>
              <a:t>little</a:t>
            </a:r>
            <a:r>
              <a:rPr lang="nl-NL" dirty="0"/>
              <a:t> </a:t>
            </a:r>
            <a:r>
              <a:rPr lang="nl-NL" dirty="0" err="1"/>
              <a:t>mistake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12189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1D7C5-44BB-4C09-EA78-49C3D7C10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7BA422FB-D25E-2AD0-961B-DC0E32C8F2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99059" y="0"/>
            <a:ext cx="12200741" cy="4510316"/>
          </a:xfrm>
          <a:prstGeom prst="rect">
            <a:avLst/>
          </a:prstGeom>
        </p:spPr>
      </p:pic>
      <p:pic>
        <p:nvPicPr>
          <p:cNvPr id="5" name="图片 4" descr="蓝色花瓶里插满了鲜花&#10;&#10;AI 生成的内容可能不正确。">
            <a:extLst>
              <a:ext uri="{FF2B5EF4-FFF2-40B4-BE49-F238E27FC236}">
                <a16:creationId xmlns:a16="http://schemas.microsoft.com/office/drawing/2014/main" id="{48DD95DF-5C5D-6E40-B0B0-FF34566394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934" y="190169"/>
            <a:ext cx="5920408" cy="5920408"/>
          </a:xfrm>
          <a:prstGeom prst="rect">
            <a:avLst/>
          </a:prstGeom>
        </p:spPr>
      </p:pic>
      <p:pic>
        <p:nvPicPr>
          <p:cNvPr id="9" name="图片 8" descr="图片包含 室内, 桌子, 水, 大&#10;&#10;AI 生成的内容可能不正确。">
            <a:extLst>
              <a:ext uri="{FF2B5EF4-FFF2-40B4-BE49-F238E27FC236}">
                <a16:creationId xmlns:a16="http://schemas.microsoft.com/office/drawing/2014/main" id="{E40CE81F-BFD2-8DC4-2CE0-F9B9987C8B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635" y="738809"/>
            <a:ext cx="4767470" cy="4767470"/>
          </a:xfrm>
          <a:prstGeom prst="rect">
            <a:avLst/>
          </a:prstGeom>
        </p:spPr>
      </p:pic>
      <p:sp>
        <p:nvSpPr>
          <p:cNvPr id="10" name="对话气泡: 圆角矩形 9">
            <a:extLst>
              <a:ext uri="{FF2B5EF4-FFF2-40B4-BE49-F238E27FC236}">
                <a16:creationId xmlns:a16="http://schemas.microsoft.com/office/drawing/2014/main" id="{E6EDCEE4-7AD6-EB33-AF62-685407938A40}"/>
              </a:ext>
            </a:extLst>
          </p:cNvPr>
          <p:cNvSpPr/>
          <p:nvPr/>
        </p:nvSpPr>
        <p:spPr>
          <a:xfrm>
            <a:off x="2878372" y="1637968"/>
            <a:ext cx="1510748" cy="556592"/>
          </a:xfrm>
          <a:prstGeom prst="wedgeRoundRectCallout">
            <a:avLst>
              <a:gd name="adj1" fmla="val -71227"/>
              <a:gd name="adj2" fmla="val 10059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altLang="zh-CN" dirty="0" err="1"/>
              <a:t>Outside</a:t>
            </a:r>
            <a:r>
              <a:rPr lang="nl-NL" altLang="zh-CN" dirty="0"/>
              <a:t> </a:t>
            </a:r>
            <a:r>
              <a:rPr lang="nl-NL" altLang="zh-CN" dirty="0" err="1"/>
              <a:t>the</a:t>
            </a:r>
            <a:r>
              <a:rPr lang="nl-NL" altLang="zh-CN" dirty="0"/>
              <a:t> </a:t>
            </a:r>
            <a:r>
              <a:rPr lang="nl-NL" altLang="zh-CN" dirty="0" err="1"/>
              <a:t>section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8604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4A023-2967-9FE1-5922-A817E455F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1455DFB4-321A-CBDA-D715-E162AFF8A6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99059" y="0"/>
            <a:ext cx="12200741" cy="4510316"/>
          </a:xfrm>
          <a:prstGeom prst="rect">
            <a:avLst/>
          </a:prstGeom>
        </p:spPr>
      </p:pic>
      <p:pic>
        <p:nvPicPr>
          <p:cNvPr id="3" name="图片 2" descr="蓝色花瓶里插满了鲜花&#10;&#10;AI 生成的内容可能不正确。">
            <a:extLst>
              <a:ext uri="{FF2B5EF4-FFF2-40B4-BE49-F238E27FC236}">
                <a16:creationId xmlns:a16="http://schemas.microsoft.com/office/drawing/2014/main" id="{677EC6ED-EA26-4C9A-08FE-5F9D7245E0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-146992"/>
            <a:ext cx="6858000" cy="6858000"/>
          </a:xfrm>
          <a:prstGeom prst="rect">
            <a:avLst/>
          </a:prstGeom>
        </p:spPr>
      </p:pic>
      <p:pic>
        <p:nvPicPr>
          <p:cNvPr id="7" name="图片 6" descr="图片包含 树, 游戏机, 桌子, 水&#10;&#10;AI 生成的内容可能不正确。">
            <a:extLst>
              <a:ext uri="{FF2B5EF4-FFF2-40B4-BE49-F238E27FC236}">
                <a16:creationId xmlns:a16="http://schemas.microsoft.com/office/drawing/2014/main" id="{C998906D-B289-532F-55C8-118F18ABC5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6905" y="550606"/>
            <a:ext cx="3770671" cy="377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466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55393-726C-7F6D-2A54-5B61E7A44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433AAB7B-BAC5-8380-6DC4-DC0907A851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15059" y="1"/>
            <a:ext cx="12200741" cy="4510316"/>
          </a:xfrm>
          <a:prstGeom prst="rect">
            <a:avLst/>
          </a:prstGeom>
        </p:spPr>
      </p:pic>
      <p:sp>
        <p:nvSpPr>
          <p:cNvPr id="7" name="副标题 6">
            <a:extLst>
              <a:ext uri="{FF2B5EF4-FFF2-40B4-BE49-F238E27FC236}">
                <a16:creationId xmlns:a16="http://schemas.microsoft.com/office/drawing/2014/main" id="{6C63A805-56F5-FE31-3F26-714801EB71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4254" y="2582557"/>
            <a:ext cx="10986696" cy="1399032"/>
          </a:xfrm>
        </p:spPr>
        <p:txBody>
          <a:bodyPr>
            <a:noAutofit/>
          </a:bodyPr>
          <a:lstStyle/>
          <a:p>
            <a:r>
              <a:rPr lang="nl-NL" altLang="zh-CN" sz="2800" dirty="0" err="1"/>
              <a:t>Future</a:t>
            </a:r>
            <a:r>
              <a:rPr lang="nl-NL" altLang="zh-CN" sz="2800" dirty="0"/>
              <a:t> </a:t>
            </a:r>
            <a:r>
              <a:rPr lang="nl-NL" altLang="zh-CN" sz="2800" dirty="0" err="1"/>
              <a:t>Work</a:t>
            </a:r>
            <a:r>
              <a:rPr lang="nl-NL" altLang="zh-CN" sz="2800" dirty="0"/>
              <a:t>:</a:t>
            </a:r>
          </a:p>
          <a:p>
            <a:pPr marL="514350" indent="-514350">
              <a:buAutoNum type="arabicParenBoth"/>
            </a:pPr>
            <a:endParaRPr lang="nl-NL" sz="2800" dirty="0"/>
          </a:p>
          <a:p>
            <a:pPr marL="514350" indent="-514350">
              <a:buAutoNum type="arabicParenBoth"/>
            </a:pPr>
            <a:r>
              <a:rPr lang="nl-NL" sz="2800" dirty="0"/>
              <a:t> </a:t>
            </a:r>
            <a:r>
              <a:rPr lang="nl-NL" sz="2800" dirty="0" err="1"/>
              <a:t>Improve</a:t>
            </a:r>
            <a:r>
              <a:rPr lang="nl-NL" sz="2800" dirty="0"/>
              <a:t> </a:t>
            </a:r>
            <a:r>
              <a:rPr lang="nl-NL" sz="2800" dirty="0" err="1"/>
              <a:t>the</a:t>
            </a:r>
            <a:r>
              <a:rPr lang="nl-NL" sz="2800" dirty="0"/>
              <a:t> </a:t>
            </a:r>
            <a:r>
              <a:rPr lang="nl-NL" sz="2800" dirty="0" err="1"/>
              <a:t>mask-rcnn</a:t>
            </a:r>
            <a:r>
              <a:rPr lang="nl-NL" sz="2800" dirty="0"/>
              <a:t> model</a:t>
            </a:r>
          </a:p>
          <a:p>
            <a:pPr marL="514350" indent="-514350">
              <a:buAutoNum type="arabicParenBoth"/>
            </a:pPr>
            <a:r>
              <a:rPr lang="nl-NL" sz="2800" dirty="0"/>
              <a:t>Top Stem </a:t>
            </a:r>
            <a:r>
              <a:rPr lang="nl-NL" sz="2800" dirty="0" err="1"/>
              <a:t>selection</a:t>
            </a:r>
            <a:r>
              <a:rPr lang="nl-NL" sz="2800" dirty="0"/>
              <a:t> </a:t>
            </a:r>
            <a:r>
              <a:rPr lang="nl-NL" sz="2800" dirty="0" err="1"/>
              <a:t>algorithm</a:t>
            </a:r>
            <a:endParaRPr lang="nl-NL" sz="2800" dirty="0"/>
          </a:p>
          <a:p>
            <a:pPr marL="514350" indent="-514350">
              <a:buAutoNum type="arabicParenBoth"/>
            </a:pPr>
            <a:endParaRPr lang="nl-NL" sz="2800" dirty="0"/>
          </a:p>
        </p:txBody>
      </p:sp>
    </p:spTree>
    <p:extLst>
      <p:ext uri="{BB962C8B-B14F-4D97-AF65-F5344CB8AC3E}">
        <p14:creationId xmlns:p14="http://schemas.microsoft.com/office/powerpoint/2010/main" val="75379571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TM03457475[[fn=框架]]</Template>
  <TotalTime>0</TotalTime>
  <Words>247</Words>
  <Application>Microsoft Office PowerPoint</Application>
  <PresentationFormat>宽屏</PresentationFormat>
  <Paragraphs>48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Microsoft YaHei</vt:lpstr>
      <vt:lpstr>Arial</vt:lpstr>
      <vt:lpstr>Bierstadt</vt:lpstr>
      <vt:lpstr>Neue Haas Grotesk Text Pro</vt:lpstr>
      <vt:lpstr>GestaltVTI</vt:lpstr>
      <vt:lpstr>Stem Pairing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Hua Jiang</dc:creator>
  <cp:lastModifiedBy>Hua Jiang</cp:lastModifiedBy>
  <cp:revision>24</cp:revision>
  <dcterms:created xsi:type="dcterms:W3CDTF">2025-09-24T08:15:25Z</dcterms:created>
  <dcterms:modified xsi:type="dcterms:W3CDTF">2025-10-08T09:24:09Z</dcterms:modified>
</cp:coreProperties>
</file>