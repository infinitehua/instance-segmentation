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6" r:id="rId8"/>
    <p:sldId id="267" r:id="rId9"/>
    <p:sldId id="268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2040" y="-1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5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36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4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16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4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46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0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92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9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05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6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80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000" kern="1200" spc="1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AD8A0319-AE46-77C0-E20B-0BFF79B784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69" b="7262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983913-82E9-0231-BFD7-5D2FB4EF169E}"/>
              </a:ext>
            </a:extLst>
          </p:cNvPr>
          <p:cNvSpPr/>
          <p:nvPr/>
        </p:nvSpPr>
        <p:spPr>
          <a:xfrm>
            <a:off x="5968093" y="-10"/>
            <a:ext cx="622388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32F46A7-62AF-5535-A89E-4BC72FD67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44887" y="789893"/>
            <a:ext cx="7170964" cy="3969960"/>
          </a:xfrm>
        </p:spPr>
        <p:txBody>
          <a:bodyPr anchor="t">
            <a:normAutofit/>
          </a:bodyPr>
          <a:lstStyle/>
          <a:p>
            <a:pPr algn="ctr"/>
            <a:r>
              <a:rPr lang="nl-NL" sz="4400" dirty="0" err="1">
                <a:solidFill>
                  <a:schemeClr val="bg1"/>
                </a:solidFill>
              </a:rPr>
              <a:t>Instance</a:t>
            </a:r>
            <a:r>
              <a:rPr lang="nl-NL" sz="4400" dirty="0">
                <a:solidFill>
                  <a:schemeClr val="bg1"/>
                </a:solidFill>
              </a:rPr>
              <a:t> </a:t>
            </a:r>
            <a:r>
              <a:rPr lang="nl-NL" sz="4400" dirty="0" err="1">
                <a:solidFill>
                  <a:schemeClr val="bg1"/>
                </a:solidFill>
              </a:rPr>
              <a:t>Segmentation</a:t>
            </a:r>
            <a:endParaRPr lang="nl-NL" sz="4400" dirty="0">
              <a:solidFill>
                <a:schemeClr val="bg1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850C22-AD4C-689C-7C2C-25DA475AB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087" y="3332996"/>
            <a:ext cx="4381634" cy="1157436"/>
          </a:xfrm>
        </p:spPr>
        <p:txBody>
          <a:bodyPr anchor="b">
            <a:normAutofit/>
          </a:bodyPr>
          <a:lstStyle/>
          <a:p>
            <a:r>
              <a:rPr lang="nl-NL" sz="2800" dirty="0">
                <a:solidFill>
                  <a:schemeClr val="bg1"/>
                </a:solidFill>
              </a:rPr>
              <a:t>Week 5 Hua Jiang</a:t>
            </a:r>
          </a:p>
        </p:txBody>
      </p:sp>
      <p:pic>
        <p:nvPicPr>
          <p:cNvPr id="8" name="图片 7" descr="花瓶里插满了鲜花&#10;&#10;AI 生成的内容可能不正确。">
            <a:extLst>
              <a:ext uri="{FF2B5EF4-FFF2-40B4-BE49-F238E27FC236}">
                <a16:creationId xmlns:a16="http://schemas.microsoft.com/office/drawing/2014/main" id="{D15609E6-7033-7F27-40FA-18A8AA042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9" y="941733"/>
            <a:ext cx="5126374" cy="512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21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EBCCE-DA7C-8BF9-9B1D-5857329C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969D07C2-A297-E1B3-CBD8-A15F2D7E3E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3E0DD66E-A8A8-20C0-428C-99570176E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454" y="4587319"/>
            <a:ext cx="10101315" cy="1399032"/>
          </a:xfrm>
        </p:spPr>
        <p:txBody>
          <a:bodyPr>
            <a:normAutofit fontScale="92500"/>
          </a:bodyPr>
          <a:lstStyle/>
          <a:p>
            <a:r>
              <a:rPr lang="nl-NL" altLang="zh-CN" dirty="0"/>
              <a:t>Model </a:t>
            </a:r>
            <a:r>
              <a:rPr lang="nl-NL" altLang="zh-CN" dirty="0" err="1"/>
              <a:t>Improvement</a:t>
            </a:r>
            <a:r>
              <a:rPr lang="nl-NL" altLang="zh-CN" dirty="0"/>
              <a:t>:</a:t>
            </a:r>
          </a:p>
          <a:p>
            <a:r>
              <a:rPr lang="nl-NL" altLang="zh-CN" dirty="0"/>
              <a:t>Data </a:t>
            </a:r>
            <a:r>
              <a:rPr lang="nl-NL" altLang="zh-CN" dirty="0" err="1"/>
              <a:t>Augmentation</a:t>
            </a:r>
            <a:r>
              <a:rPr lang="nl-NL" altLang="zh-CN" dirty="0"/>
              <a:t>, hyperparameters </a:t>
            </a:r>
            <a:r>
              <a:rPr lang="nl-NL" altLang="zh-CN" dirty="0" err="1"/>
              <a:t>tunning</a:t>
            </a:r>
            <a:r>
              <a:rPr lang="nl-NL" altLang="zh-CN" dirty="0"/>
              <a:t>, dataset </a:t>
            </a:r>
            <a:r>
              <a:rPr lang="nl-NL" altLang="zh-CN" dirty="0" err="1"/>
              <a:t>expanding</a:t>
            </a:r>
            <a:endParaRPr lang="nl-NL" dirty="0"/>
          </a:p>
        </p:txBody>
      </p:sp>
      <p:pic>
        <p:nvPicPr>
          <p:cNvPr id="2" name="图片 1" descr="图片包含 桌子, 挂, 灯光, 华美&#10;&#10;AI 生成的内容可能不正确。">
            <a:extLst>
              <a:ext uri="{FF2B5EF4-FFF2-40B4-BE49-F238E27FC236}">
                <a16:creationId xmlns:a16="http://schemas.microsoft.com/office/drawing/2014/main" id="{9D520A9A-DA53-EA34-2FBE-9537CD120F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751" y="182519"/>
            <a:ext cx="4145280" cy="4145280"/>
          </a:xfrm>
          <a:prstGeom prst="rect">
            <a:avLst/>
          </a:prstGeom>
        </p:spPr>
      </p:pic>
      <p:pic>
        <p:nvPicPr>
          <p:cNvPr id="5" name="图片 4" descr="花瓶里插满了鲜花&#10;&#10;AI 生成的内容可能不正确。">
            <a:extLst>
              <a:ext uri="{FF2B5EF4-FFF2-40B4-BE49-F238E27FC236}">
                <a16:creationId xmlns:a16="http://schemas.microsoft.com/office/drawing/2014/main" id="{5EF5BAB6-F213-9F97-44BC-CBE9CBC25D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813" y="122773"/>
            <a:ext cx="4205026" cy="4205026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BC4C9815-FE84-8C4D-54A8-27F8445A1718}"/>
              </a:ext>
            </a:extLst>
          </p:cNvPr>
          <p:cNvSpPr/>
          <p:nvPr/>
        </p:nvSpPr>
        <p:spPr>
          <a:xfrm>
            <a:off x="5383033" y="2059388"/>
            <a:ext cx="1751938" cy="29419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7568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1401A-8E65-082D-F767-F5F297E46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DA6D4707-E2E6-CDD8-7FA8-CB1B3027C4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A0F844DC-728F-63D2-0EB8-2CE092821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636" y="4646287"/>
            <a:ext cx="4994693" cy="1399032"/>
          </a:xfrm>
        </p:spPr>
        <p:txBody>
          <a:bodyPr>
            <a:normAutofit/>
          </a:bodyPr>
          <a:lstStyle/>
          <a:p>
            <a:r>
              <a:rPr lang="nl-NL" dirty="0"/>
              <a:t>100 </a:t>
            </a:r>
            <a:r>
              <a:rPr lang="nl-NL" dirty="0" err="1"/>
              <a:t>raw</a:t>
            </a:r>
            <a:r>
              <a:rPr lang="nl-NL" dirty="0"/>
              <a:t> images (75 training, 18 </a:t>
            </a:r>
            <a:r>
              <a:rPr lang="nl-NL" dirty="0" err="1"/>
              <a:t>validation</a:t>
            </a:r>
            <a:r>
              <a:rPr lang="nl-NL" dirty="0"/>
              <a:t>), 150 </a:t>
            </a:r>
            <a:r>
              <a:rPr lang="nl-NL" dirty="0" err="1"/>
              <a:t>epoches</a:t>
            </a:r>
            <a:r>
              <a:rPr lang="nl-NL" dirty="0"/>
              <a:t>. </a:t>
            </a:r>
          </a:p>
        </p:txBody>
      </p:sp>
      <p:pic>
        <p:nvPicPr>
          <p:cNvPr id="6" name="图片 5" descr="蓝色花瓶里插满了鲜花&#10;&#10;AI 生成的内容可能不正确。">
            <a:extLst>
              <a:ext uri="{FF2B5EF4-FFF2-40B4-BE49-F238E27FC236}">
                <a16:creationId xmlns:a16="http://schemas.microsoft.com/office/drawing/2014/main" id="{3F896EB6-7050-E500-4C53-CA6647F3D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024" y="156854"/>
            <a:ext cx="6024436" cy="602443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66F9445-DDAC-3910-0184-670C58321CEF}"/>
              </a:ext>
            </a:extLst>
          </p:cNvPr>
          <p:cNvSpPr txBox="1"/>
          <p:nvPr/>
        </p:nvSpPr>
        <p:spPr>
          <a:xfrm>
            <a:off x="583147" y="1221528"/>
            <a:ext cx="51576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 err="1"/>
              <a:t>Able</a:t>
            </a:r>
            <a:r>
              <a:rPr lang="nl-NL" sz="2400" dirty="0"/>
              <a:t> </a:t>
            </a:r>
            <a:r>
              <a:rPr lang="nl-NL" sz="2400" dirty="0" err="1"/>
              <a:t>to</a:t>
            </a:r>
            <a:r>
              <a:rPr lang="nl-NL" sz="2400" dirty="0"/>
              <a:t> </a:t>
            </a:r>
            <a:r>
              <a:rPr lang="nl-NL" sz="2400" dirty="0" err="1"/>
              <a:t>detect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segments</a:t>
            </a:r>
            <a:r>
              <a:rPr lang="nl-NL" sz="2400" dirty="0"/>
              <a:t> </a:t>
            </a:r>
            <a:r>
              <a:rPr lang="nl-NL" sz="2400" dirty="0" err="1"/>
              <a:t>majority</a:t>
            </a:r>
            <a:r>
              <a:rPr lang="nl-NL" sz="2400" dirty="0"/>
              <a:t> of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stems</a:t>
            </a:r>
            <a:r>
              <a:rPr lang="nl-NL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5984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F075C-E3F8-C514-88DA-A311EEFE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7D80556F-FACC-8774-2C2C-8C7197E11A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8D071F19-639D-A41B-18C2-E5F1D5256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499" y="4626220"/>
            <a:ext cx="7104888" cy="1399032"/>
          </a:xfrm>
        </p:spPr>
        <p:txBody>
          <a:bodyPr>
            <a:normAutofit/>
          </a:bodyPr>
          <a:lstStyle/>
          <a:p>
            <a:r>
              <a:rPr lang="nl-NL" dirty="0" err="1"/>
              <a:t>Various</a:t>
            </a:r>
            <a:r>
              <a:rPr lang="nl-NL" dirty="0"/>
              <a:t> Data </a:t>
            </a:r>
            <a:r>
              <a:rPr lang="nl-NL" dirty="0" err="1"/>
              <a:t>Augmentation</a:t>
            </a:r>
            <a:r>
              <a:rPr lang="nl-NL" dirty="0"/>
              <a:t> </a:t>
            </a:r>
            <a:r>
              <a:rPr lang="nl-NL" dirty="0" err="1"/>
              <a:t>Methods</a:t>
            </a:r>
            <a:endParaRPr lang="nl-NL" dirty="0"/>
          </a:p>
        </p:txBody>
      </p:sp>
      <p:pic>
        <p:nvPicPr>
          <p:cNvPr id="3" name="图片 2" descr="图片包含 室内, 桌子, 食物, 水&#10;&#10;AI 生成的内容可能不正确。">
            <a:extLst>
              <a:ext uri="{FF2B5EF4-FFF2-40B4-BE49-F238E27FC236}">
                <a16:creationId xmlns:a16="http://schemas.microsoft.com/office/drawing/2014/main" id="{A4A1E9F4-0188-9DF9-60EA-3D654DDE3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083" y="206743"/>
            <a:ext cx="5935017" cy="593501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F251E83-7C91-0A3D-1289-A47F725BE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662" y="480311"/>
            <a:ext cx="4337700" cy="269394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4E2C198-9D85-91D0-E9E4-BB581D7BFEA4}"/>
              </a:ext>
            </a:extLst>
          </p:cNvPr>
          <p:cNvSpPr txBox="1"/>
          <p:nvPr/>
        </p:nvSpPr>
        <p:spPr>
          <a:xfrm>
            <a:off x="582542" y="3654561"/>
            <a:ext cx="51576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 err="1"/>
              <a:t>Expand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training data </a:t>
            </a:r>
            <a:r>
              <a:rPr lang="nl-NL" sz="2400" dirty="0" err="1"/>
              <a:t>into</a:t>
            </a:r>
            <a:r>
              <a:rPr lang="nl-NL" sz="2400" dirty="0"/>
              <a:t> 275 images </a:t>
            </a:r>
            <a:r>
              <a:rPr lang="nl-NL" sz="2400" dirty="0" err="1"/>
              <a:t>with</a:t>
            </a:r>
            <a:r>
              <a:rPr lang="nl-NL" sz="2400" dirty="0"/>
              <a:t> high </a:t>
            </a:r>
            <a:r>
              <a:rPr lang="nl-NL" sz="2400" dirty="0" err="1"/>
              <a:t>variety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26248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014F8-5FA2-7D0C-EEAE-15C9E5C26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318BAED2-4428-9247-7DDC-8135F5CA50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ED487816-ACD9-4B71-F476-193D009E5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559" y="4686300"/>
            <a:ext cx="5147310" cy="1270774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buAutoNum type="arabicParenBoth"/>
            </a:pPr>
            <a:r>
              <a:rPr lang="nl-NL" dirty="0"/>
              <a:t>Random </a:t>
            </a:r>
            <a:r>
              <a:rPr lang="nl-NL" altLang="zh-CN" dirty="0" err="1"/>
              <a:t>Resize</a:t>
            </a:r>
            <a:r>
              <a:rPr lang="nl-NL" altLang="zh-CN" dirty="0"/>
              <a:t>: </a:t>
            </a:r>
            <a:r>
              <a:rPr lang="nl-NL" altLang="zh-CN" dirty="0" err="1"/>
              <a:t>higher</a:t>
            </a:r>
            <a:r>
              <a:rPr lang="nl-NL" altLang="zh-CN" dirty="0"/>
              <a:t> </a:t>
            </a:r>
            <a:r>
              <a:rPr lang="nl-NL" altLang="zh-CN" dirty="0" err="1"/>
              <a:t>resolution</a:t>
            </a:r>
            <a:endParaRPr lang="nl-NL" altLang="zh-CN" dirty="0"/>
          </a:p>
          <a:p>
            <a:pPr marL="457200" indent="-457200">
              <a:buAutoNum type="arabicParenBoth"/>
            </a:pPr>
            <a:r>
              <a:rPr lang="nl-NL" dirty="0"/>
              <a:t>RPN</a:t>
            </a:r>
            <a:r>
              <a:rPr lang="zh-CN" altLang="nl-NL" dirty="0"/>
              <a:t>：</a:t>
            </a:r>
            <a:r>
              <a:rPr lang="nl-NL" altLang="zh-CN" dirty="0"/>
              <a:t>More </a:t>
            </a:r>
            <a:r>
              <a:rPr lang="nl-NL" altLang="zh-CN" dirty="0" err="1"/>
              <a:t>rectangle</a:t>
            </a:r>
            <a:r>
              <a:rPr lang="nl-NL" altLang="zh-CN" dirty="0"/>
              <a:t> </a:t>
            </a:r>
            <a:r>
              <a:rPr lang="nl-NL" altLang="zh-CN" dirty="0" err="1"/>
              <a:t>ROIs</a:t>
            </a:r>
            <a:r>
              <a:rPr lang="nl-NL" altLang="zh-CN" dirty="0"/>
              <a:t> </a:t>
            </a:r>
            <a:r>
              <a:rPr lang="nl-NL" altLang="zh-CN" dirty="0" err="1"/>
              <a:t>and</a:t>
            </a:r>
            <a:r>
              <a:rPr lang="nl-NL" altLang="zh-CN" dirty="0"/>
              <a:t> smaller </a:t>
            </a:r>
            <a:r>
              <a:rPr lang="nl-NL" altLang="zh-CN" dirty="0" err="1"/>
              <a:t>anchors</a:t>
            </a:r>
            <a:r>
              <a:rPr lang="nl-NL" altLang="zh-CN" dirty="0"/>
              <a:t> </a:t>
            </a:r>
            <a:r>
              <a:rPr lang="nl-NL" altLang="zh-CN" dirty="0" err="1"/>
              <a:t>with</a:t>
            </a:r>
            <a:r>
              <a:rPr lang="nl-NL" altLang="zh-CN" dirty="0"/>
              <a:t> </a:t>
            </a:r>
            <a:r>
              <a:rPr lang="nl-NL" altLang="zh-CN" dirty="0" err="1"/>
              <a:t>higher</a:t>
            </a:r>
            <a:r>
              <a:rPr lang="nl-NL" altLang="zh-CN" dirty="0"/>
              <a:t> </a:t>
            </a:r>
            <a:r>
              <a:rPr lang="nl-NL" altLang="zh-CN" dirty="0" err="1"/>
              <a:t>IoU</a:t>
            </a:r>
            <a:endParaRPr lang="nl-NL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93CCA90-521F-5A68-9F38-58CA580F5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79" y="445079"/>
            <a:ext cx="3542136" cy="1690565"/>
          </a:xfrm>
          <a:prstGeom prst="rect">
            <a:avLst/>
          </a:prstGeom>
        </p:spPr>
      </p:pic>
      <p:pic>
        <p:nvPicPr>
          <p:cNvPr id="11" name="图片 10" descr="图片包含 船, 游戏机, 树&#10;&#10;AI 生成的内容可能不正确。">
            <a:extLst>
              <a:ext uri="{FF2B5EF4-FFF2-40B4-BE49-F238E27FC236}">
                <a16:creationId xmlns:a16="http://schemas.microsoft.com/office/drawing/2014/main" id="{30560507-ECA0-92DB-AB31-55B9D0B997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432" y="265165"/>
            <a:ext cx="5839989" cy="583998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02AD3B5-9F1D-92E8-BAB1-9CB1ABCD40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018" y="2414589"/>
            <a:ext cx="3157149" cy="202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574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D5194-B4E9-727A-3CD1-57A3EFE7C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74951798-1849-CD74-6748-11913CC483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3" name="副标题 2">
            <a:extLst>
              <a:ext uri="{FF2B5EF4-FFF2-40B4-BE49-F238E27FC236}">
                <a16:creationId xmlns:a16="http://schemas.microsoft.com/office/drawing/2014/main" id="{687D9D8E-C50E-37D9-7FBE-0EA4C0210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406" y="4721749"/>
            <a:ext cx="5067300" cy="1399032"/>
          </a:xfrm>
        </p:spPr>
        <p:txBody>
          <a:bodyPr>
            <a:normAutofit fontScale="77500" lnSpcReduction="20000"/>
          </a:bodyPr>
          <a:lstStyle/>
          <a:p>
            <a:r>
              <a:rPr lang="nl-NL" altLang="zh-CN" dirty="0"/>
              <a:t>Set </a:t>
            </a:r>
            <a:r>
              <a:rPr lang="nl-NL" altLang="zh-CN" dirty="0" err="1"/>
              <a:t>flower</a:t>
            </a:r>
            <a:r>
              <a:rPr lang="nl-NL" altLang="zh-CN" dirty="0"/>
              <a:t> as anchor,</a:t>
            </a:r>
            <a:r>
              <a:rPr lang="zh-CN" altLang="nl-NL" dirty="0"/>
              <a:t> </a:t>
            </a:r>
            <a:r>
              <a:rPr lang="nl-NL" altLang="zh-CN" dirty="0"/>
              <a:t>but</a:t>
            </a:r>
            <a:r>
              <a:rPr lang="zh-CN" altLang="nl-NL" dirty="0"/>
              <a:t> </a:t>
            </a:r>
            <a:r>
              <a:rPr lang="nl-NL" altLang="zh-CN" dirty="0"/>
              <a:t>hard</a:t>
            </a:r>
            <a:r>
              <a:rPr lang="zh-CN" altLang="nl-NL" dirty="0"/>
              <a:t> </a:t>
            </a:r>
            <a:r>
              <a:rPr lang="nl-NL" altLang="zh-CN" dirty="0" err="1"/>
              <a:t>to</a:t>
            </a:r>
            <a:r>
              <a:rPr lang="zh-CN" altLang="nl-NL" dirty="0"/>
              <a:t> </a:t>
            </a:r>
            <a:r>
              <a:rPr lang="nl-NL" altLang="zh-CN" dirty="0" err="1"/>
              <a:t>determine</a:t>
            </a:r>
            <a:r>
              <a:rPr lang="zh-CN" altLang="nl-NL" dirty="0"/>
              <a:t> </a:t>
            </a:r>
            <a:r>
              <a:rPr lang="nl-NL" altLang="zh-CN" dirty="0" err="1"/>
              <a:t>the</a:t>
            </a:r>
            <a:r>
              <a:rPr lang="nl-NL" altLang="zh-CN" dirty="0"/>
              <a:t> </a:t>
            </a:r>
            <a:r>
              <a:rPr lang="nl-NL" altLang="zh-CN" dirty="0" err="1"/>
              <a:t>orientation</a:t>
            </a:r>
            <a:endParaRPr lang="nl-NL" altLang="zh-CN" dirty="0"/>
          </a:p>
          <a:p>
            <a:r>
              <a:rPr lang="nl-NL" altLang="zh-CN" dirty="0"/>
              <a:t> -&gt; Set stem as anchor </a:t>
            </a:r>
            <a:r>
              <a:rPr lang="nl-NL" altLang="zh-CN" dirty="0" err="1"/>
              <a:t>to</a:t>
            </a:r>
            <a:r>
              <a:rPr lang="nl-NL" altLang="zh-CN" dirty="0"/>
              <a:t> </a:t>
            </a:r>
            <a:r>
              <a:rPr lang="nl-NL" altLang="zh-CN" dirty="0" err="1"/>
              <a:t>find</a:t>
            </a:r>
            <a:r>
              <a:rPr lang="nl-NL" altLang="zh-CN" dirty="0"/>
              <a:t> </a:t>
            </a:r>
            <a:r>
              <a:rPr lang="nl-NL" altLang="zh-CN" dirty="0" err="1"/>
              <a:t>the</a:t>
            </a:r>
            <a:r>
              <a:rPr lang="nl-NL" altLang="zh-CN" dirty="0"/>
              <a:t> </a:t>
            </a:r>
            <a:r>
              <a:rPr lang="nl-NL" altLang="zh-CN" dirty="0" err="1"/>
              <a:t>akin</a:t>
            </a:r>
            <a:endParaRPr lang="nl-NL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FAB544E-257E-9BA7-EED4-D70EEAEF6300}"/>
              </a:ext>
            </a:extLst>
          </p:cNvPr>
          <p:cNvSpPr/>
          <p:nvPr/>
        </p:nvSpPr>
        <p:spPr>
          <a:xfrm>
            <a:off x="193660" y="-83420"/>
            <a:ext cx="5067300" cy="48051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六边形 9">
            <a:extLst>
              <a:ext uri="{FF2B5EF4-FFF2-40B4-BE49-F238E27FC236}">
                <a16:creationId xmlns:a16="http://schemas.microsoft.com/office/drawing/2014/main" id="{C1912914-9F8D-B962-ADA6-46F6C3B86DD6}"/>
              </a:ext>
            </a:extLst>
          </p:cNvPr>
          <p:cNvSpPr/>
          <p:nvPr/>
        </p:nvSpPr>
        <p:spPr>
          <a:xfrm rot="20497929">
            <a:off x="1188720" y="701040"/>
            <a:ext cx="518160" cy="419100"/>
          </a:xfrm>
          <a:prstGeom prst="hexag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B4C6661C-19A5-E74C-680B-31767AB3FA6E}"/>
              </a:ext>
            </a:extLst>
          </p:cNvPr>
          <p:cNvSpPr/>
          <p:nvPr/>
        </p:nvSpPr>
        <p:spPr>
          <a:xfrm rot="21322415">
            <a:off x="1722998" y="818788"/>
            <a:ext cx="518160" cy="419100"/>
          </a:xfrm>
          <a:prstGeom prst="hexag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六边形 11">
            <a:extLst>
              <a:ext uri="{FF2B5EF4-FFF2-40B4-BE49-F238E27FC236}">
                <a16:creationId xmlns:a16="http://schemas.microsoft.com/office/drawing/2014/main" id="{BEB903EE-378B-2F10-048E-940C81483F24}"/>
              </a:ext>
            </a:extLst>
          </p:cNvPr>
          <p:cNvSpPr/>
          <p:nvPr/>
        </p:nvSpPr>
        <p:spPr>
          <a:xfrm rot="20497929">
            <a:off x="849214" y="954897"/>
            <a:ext cx="518160" cy="419100"/>
          </a:xfrm>
          <a:prstGeom prst="hexag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六边形 12">
            <a:extLst>
              <a:ext uri="{FF2B5EF4-FFF2-40B4-BE49-F238E27FC236}">
                <a16:creationId xmlns:a16="http://schemas.microsoft.com/office/drawing/2014/main" id="{94BDEADD-DCFE-6ADE-FA15-40934190EF05}"/>
              </a:ext>
            </a:extLst>
          </p:cNvPr>
          <p:cNvSpPr/>
          <p:nvPr/>
        </p:nvSpPr>
        <p:spPr>
          <a:xfrm rot="786602">
            <a:off x="3382058" y="1005992"/>
            <a:ext cx="518160" cy="419100"/>
          </a:xfrm>
          <a:prstGeom prst="hexag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六边形 13">
            <a:extLst>
              <a:ext uri="{FF2B5EF4-FFF2-40B4-BE49-F238E27FC236}">
                <a16:creationId xmlns:a16="http://schemas.microsoft.com/office/drawing/2014/main" id="{23FD73A9-67F8-C061-7371-ED5600182549}"/>
              </a:ext>
            </a:extLst>
          </p:cNvPr>
          <p:cNvSpPr/>
          <p:nvPr/>
        </p:nvSpPr>
        <p:spPr>
          <a:xfrm rot="434064">
            <a:off x="2264587" y="458690"/>
            <a:ext cx="518160" cy="419100"/>
          </a:xfrm>
          <a:prstGeom prst="hexag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六边形 14">
            <a:extLst>
              <a:ext uri="{FF2B5EF4-FFF2-40B4-BE49-F238E27FC236}">
                <a16:creationId xmlns:a16="http://schemas.microsoft.com/office/drawing/2014/main" id="{4FFF3D19-5E16-62BD-BCF4-F7D9D71D1FAC}"/>
              </a:ext>
            </a:extLst>
          </p:cNvPr>
          <p:cNvSpPr/>
          <p:nvPr/>
        </p:nvSpPr>
        <p:spPr>
          <a:xfrm rot="1358456">
            <a:off x="2956768" y="487404"/>
            <a:ext cx="518160" cy="361673"/>
          </a:xfrm>
          <a:prstGeom prst="hexag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E5F848A-86FD-96C7-7C9A-03971FC12B0E}"/>
              </a:ext>
            </a:extLst>
          </p:cNvPr>
          <p:cNvCxnSpPr>
            <a:cxnSpLocks/>
          </p:cNvCxnSpPr>
          <p:nvPr/>
        </p:nvCxnSpPr>
        <p:spPr>
          <a:xfrm>
            <a:off x="1108294" y="1164447"/>
            <a:ext cx="1028700" cy="304074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4D01FDB-E537-FF3F-6A59-8F8B113EA49D}"/>
              </a:ext>
            </a:extLst>
          </p:cNvPr>
          <p:cNvCxnSpPr>
            <a:cxnSpLocks/>
          </p:cNvCxnSpPr>
          <p:nvPr/>
        </p:nvCxnSpPr>
        <p:spPr>
          <a:xfrm>
            <a:off x="1427737" y="883932"/>
            <a:ext cx="1028700" cy="304074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E9405B4-1746-A6E8-08B9-B4816F4E16AF}"/>
              </a:ext>
            </a:extLst>
          </p:cNvPr>
          <p:cNvCxnSpPr>
            <a:cxnSpLocks/>
          </p:cNvCxnSpPr>
          <p:nvPr/>
        </p:nvCxnSpPr>
        <p:spPr>
          <a:xfrm>
            <a:off x="1964663" y="976296"/>
            <a:ext cx="311914" cy="332506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D06200C-4696-C060-AB47-18EE4BDF7089}"/>
              </a:ext>
            </a:extLst>
          </p:cNvPr>
          <p:cNvCxnSpPr>
            <a:cxnSpLocks/>
          </p:cNvCxnSpPr>
          <p:nvPr/>
        </p:nvCxnSpPr>
        <p:spPr>
          <a:xfrm flipH="1">
            <a:off x="2046446" y="640428"/>
            <a:ext cx="496016" cy="323572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DCC0DE1-3EB1-0697-AC6E-3D064CD4F55C}"/>
              </a:ext>
            </a:extLst>
          </p:cNvPr>
          <p:cNvCxnSpPr>
            <a:cxnSpLocks/>
          </p:cNvCxnSpPr>
          <p:nvPr/>
        </p:nvCxnSpPr>
        <p:spPr>
          <a:xfrm flipH="1">
            <a:off x="2084710" y="640428"/>
            <a:ext cx="1131138" cy="273679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4D9BA8A-D5DD-BCF2-6C61-47B6093692A6}"/>
              </a:ext>
            </a:extLst>
          </p:cNvPr>
          <p:cNvCxnSpPr>
            <a:cxnSpLocks/>
          </p:cNvCxnSpPr>
          <p:nvPr/>
        </p:nvCxnSpPr>
        <p:spPr>
          <a:xfrm flipH="1">
            <a:off x="2731680" y="1191105"/>
            <a:ext cx="918052" cy="316230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2A0B5D7-6670-418A-5DCA-493E4DED5B8A}"/>
              </a:ext>
            </a:extLst>
          </p:cNvPr>
          <p:cNvSpPr/>
          <p:nvPr/>
        </p:nvSpPr>
        <p:spPr>
          <a:xfrm rot="21118936">
            <a:off x="1201294" y="1499866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FBBBDFF-EB4A-8966-1F64-52DFEE4B553E}"/>
              </a:ext>
            </a:extLst>
          </p:cNvPr>
          <p:cNvSpPr/>
          <p:nvPr/>
        </p:nvSpPr>
        <p:spPr>
          <a:xfrm rot="19968997">
            <a:off x="1455648" y="2172439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37637FC-8663-2EF2-C2F5-61C2B8E02A59}"/>
              </a:ext>
            </a:extLst>
          </p:cNvPr>
          <p:cNvSpPr/>
          <p:nvPr/>
        </p:nvSpPr>
        <p:spPr>
          <a:xfrm>
            <a:off x="1683682" y="2922234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D730FEE-2BCF-DBAB-942C-E2F079F7B693}"/>
              </a:ext>
            </a:extLst>
          </p:cNvPr>
          <p:cNvSpPr/>
          <p:nvPr/>
        </p:nvSpPr>
        <p:spPr>
          <a:xfrm rot="20718790">
            <a:off x="1539281" y="1090888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25ADFA0-351E-FA6A-3E81-6D67AB307FB2}"/>
              </a:ext>
            </a:extLst>
          </p:cNvPr>
          <p:cNvSpPr/>
          <p:nvPr/>
        </p:nvSpPr>
        <p:spPr>
          <a:xfrm>
            <a:off x="2254353" y="2137728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C95761D-0A8F-35B3-EFF5-37578ECE9296}"/>
              </a:ext>
            </a:extLst>
          </p:cNvPr>
          <p:cNvSpPr/>
          <p:nvPr/>
        </p:nvSpPr>
        <p:spPr>
          <a:xfrm rot="1326105" flipH="1">
            <a:off x="2819831" y="3063703"/>
            <a:ext cx="45719" cy="1354150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620A462-0768-5C99-4095-CDAF5D20A4D4}"/>
              </a:ext>
            </a:extLst>
          </p:cNvPr>
          <p:cNvSpPr/>
          <p:nvPr/>
        </p:nvSpPr>
        <p:spPr>
          <a:xfrm>
            <a:off x="2217420" y="3657741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86997AE-E7CB-A6D5-C23E-41CC8F4EEFA6}"/>
              </a:ext>
            </a:extLst>
          </p:cNvPr>
          <p:cNvSpPr/>
          <p:nvPr/>
        </p:nvSpPr>
        <p:spPr>
          <a:xfrm rot="798056">
            <a:off x="3310348" y="1968731"/>
            <a:ext cx="45719" cy="872454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706BC77-8EEF-C6BF-59ED-FEC6B6569AF3}"/>
              </a:ext>
            </a:extLst>
          </p:cNvPr>
          <p:cNvSpPr/>
          <p:nvPr/>
        </p:nvSpPr>
        <p:spPr>
          <a:xfrm rot="1326105" flipH="1">
            <a:off x="2271596" y="2344743"/>
            <a:ext cx="45719" cy="1354150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644914A1-D8CD-CDA4-BBCF-12E9E1AB4F40}"/>
              </a:ext>
            </a:extLst>
          </p:cNvPr>
          <p:cNvSpPr/>
          <p:nvPr/>
        </p:nvSpPr>
        <p:spPr>
          <a:xfrm>
            <a:off x="2611365" y="1743947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DD4A2CC2-9117-6E4F-46DA-5C177D909F9E}"/>
              </a:ext>
            </a:extLst>
          </p:cNvPr>
          <p:cNvSpPr/>
          <p:nvPr/>
        </p:nvSpPr>
        <p:spPr>
          <a:xfrm>
            <a:off x="1971938" y="1315016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4722CC9-81B4-3C1C-A41C-9E807C26F14C}"/>
              </a:ext>
            </a:extLst>
          </p:cNvPr>
          <p:cNvSpPr/>
          <p:nvPr/>
        </p:nvSpPr>
        <p:spPr>
          <a:xfrm rot="20256511">
            <a:off x="1886755" y="1915894"/>
            <a:ext cx="45719" cy="872454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36C67E19-C0C6-A5B2-C2C6-BA215E24B63A}"/>
              </a:ext>
            </a:extLst>
          </p:cNvPr>
          <p:cNvSpPr/>
          <p:nvPr/>
        </p:nvSpPr>
        <p:spPr>
          <a:xfrm rot="798056">
            <a:off x="2388720" y="963170"/>
            <a:ext cx="45719" cy="872454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C845F083-5E91-3D36-C935-07797E4C5BCA}"/>
              </a:ext>
            </a:extLst>
          </p:cNvPr>
          <p:cNvSpPr/>
          <p:nvPr/>
        </p:nvSpPr>
        <p:spPr>
          <a:xfrm rot="798056">
            <a:off x="2960874" y="796911"/>
            <a:ext cx="45719" cy="872454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F1FF24BF-FEE7-0ECE-E274-623C72F19D4B}"/>
              </a:ext>
            </a:extLst>
          </p:cNvPr>
          <p:cNvSpPr/>
          <p:nvPr/>
        </p:nvSpPr>
        <p:spPr>
          <a:xfrm rot="20757522">
            <a:off x="2368121" y="3363361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48" name="图片 47" descr="蓝色花瓶里插满了鲜花&#10;&#10;AI 生成的内容可能不正确。">
            <a:extLst>
              <a:ext uri="{FF2B5EF4-FFF2-40B4-BE49-F238E27FC236}">
                <a16:creationId xmlns:a16="http://schemas.microsoft.com/office/drawing/2014/main" id="{4BD8C76A-5E75-8FE8-4898-BA72C74A1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078" y="155129"/>
            <a:ext cx="5899451" cy="5899451"/>
          </a:xfrm>
          <a:prstGeom prst="rect">
            <a:avLst/>
          </a:prstGeom>
        </p:spPr>
      </p:pic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6055A3B7-4157-1B5A-E49D-E9271C740C7F}"/>
              </a:ext>
            </a:extLst>
          </p:cNvPr>
          <p:cNvCxnSpPr/>
          <p:nvPr/>
        </p:nvCxnSpPr>
        <p:spPr>
          <a:xfrm>
            <a:off x="8156432" y="1214311"/>
            <a:ext cx="543303" cy="4194953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对话气泡: 圆角矩形 59">
            <a:extLst>
              <a:ext uri="{FF2B5EF4-FFF2-40B4-BE49-F238E27FC236}">
                <a16:creationId xmlns:a16="http://schemas.microsoft.com/office/drawing/2014/main" id="{BD739B50-E55E-0B43-9CC2-AF579548ECCF}"/>
              </a:ext>
            </a:extLst>
          </p:cNvPr>
          <p:cNvSpPr/>
          <p:nvPr/>
        </p:nvSpPr>
        <p:spPr>
          <a:xfrm>
            <a:off x="8042445" y="290732"/>
            <a:ext cx="771276" cy="456200"/>
          </a:xfrm>
          <a:prstGeom prst="wedgeRoundRectCallou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sz="1200" dirty="0" err="1"/>
              <a:t>Taking</a:t>
            </a:r>
            <a:r>
              <a:rPr lang="nl-NL" altLang="zh-CN" sz="1200" dirty="0"/>
              <a:t> </a:t>
            </a:r>
            <a:r>
              <a:rPr lang="nl-NL" altLang="zh-CN" sz="1200" dirty="0" err="1"/>
              <a:t>this</a:t>
            </a:r>
            <a:endParaRPr lang="nl-NL" sz="1200" dirty="0"/>
          </a:p>
        </p:txBody>
      </p:sp>
      <p:sp>
        <p:nvSpPr>
          <p:cNvPr id="61" name="对话气泡: 圆角矩形 60">
            <a:extLst>
              <a:ext uri="{FF2B5EF4-FFF2-40B4-BE49-F238E27FC236}">
                <a16:creationId xmlns:a16="http://schemas.microsoft.com/office/drawing/2014/main" id="{E2E68B4C-08B1-BE95-3DA4-3269D5A0F743}"/>
              </a:ext>
            </a:extLst>
          </p:cNvPr>
          <p:cNvSpPr/>
          <p:nvPr/>
        </p:nvSpPr>
        <p:spPr>
          <a:xfrm>
            <a:off x="7775367" y="1449692"/>
            <a:ext cx="302150" cy="184527"/>
          </a:xfrm>
          <a:prstGeom prst="wedgeRoundRectCallout">
            <a:avLst>
              <a:gd name="adj1" fmla="val 87061"/>
              <a:gd name="adj2" fmla="val 15101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2" name="对话气泡: 圆角矩形 61">
            <a:extLst>
              <a:ext uri="{FF2B5EF4-FFF2-40B4-BE49-F238E27FC236}">
                <a16:creationId xmlns:a16="http://schemas.microsoft.com/office/drawing/2014/main" id="{C05C9866-23D1-8F74-107D-56B5E0875CF0}"/>
              </a:ext>
            </a:extLst>
          </p:cNvPr>
          <p:cNvSpPr/>
          <p:nvPr/>
        </p:nvSpPr>
        <p:spPr>
          <a:xfrm>
            <a:off x="7873467" y="2129560"/>
            <a:ext cx="302150" cy="184527"/>
          </a:xfrm>
          <a:prstGeom prst="wedgeRoundRectCallout">
            <a:avLst>
              <a:gd name="adj1" fmla="val 87061"/>
              <a:gd name="adj2" fmla="val 15101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3" name="对话气泡: 圆角矩形 62">
            <a:extLst>
              <a:ext uri="{FF2B5EF4-FFF2-40B4-BE49-F238E27FC236}">
                <a16:creationId xmlns:a16="http://schemas.microsoft.com/office/drawing/2014/main" id="{D9818E66-22EE-5CC7-5D67-0EA3EB8A23AE}"/>
              </a:ext>
            </a:extLst>
          </p:cNvPr>
          <p:cNvSpPr/>
          <p:nvPr/>
        </p:nvSpPr>
        <p:spPr>
          <a:xfrm>
            <a:off x="8813721" y="3998922"/>
            <a:ext cx="302150" cy="184527"/>
          </a:xfrm>
          <a:prstGeom prst="wedgeRoundRectCallout">
            <a:avLst>
              <a:gd name="adj1" fmla="val -76097"/>
              <a:gd name="adj2" fmla="val 28028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4" name="对话气泡: 圆角矩形 63">
            <a:extLst>
              <a:ext uri="{FF2B5EF4-FFF2-40B4-BE49-F238E27FC236}">
                <a16:creationId xmlns:a16="http://schemas.microsoft.com/office/drawing/2014/main" id="{EF67E6B2-F9EC-B5A6-211D-D6D51CA3455B}"/>
              </a:ext>
            </a:extLst>
          </p:cNvPr>
          <p:cNvSpPr/>
          <p:nvPr/>
        </p:nvSpPr>
        <p:spPr>
          <a:xfrm>
            <a:off x="8778650" y="5117027"/>
            <a:ext cx="302150" cy="184527"/>
          </a:xfrm>
          <a:prstGeom prst="wedgeRoundRectCallout">
            <a:avLst>
              <a:gd name="adj1" fmla="val -76097"/>
              <a:gd name="adj2" fmla="val 28028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76934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79363-DD32-DCB3-5455-43ACC0C1F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0B21D558-7165-AC8B-4A16-25642E4B71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pic>
        <p:nvPicPr>
          <p:cNvPr id="48" name="图片 47" descr="蓝色花瓶里插满了鲜花&#10;&#10;AI 生成的内容可能不正确。">
            <a:extLst>
              <a:ext uri="{FF2B5EF4-FFF2-40B4-BE49-F238E27FC236}">
                <a16:creationId xmlns:a16="http://schemas.microsoft.com/office/drawing/2014/main" id="{09C04569-4CF0-5EB8-7760-47B79B9ABE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059" y="176486"/>
            <a:ext cx="5885714" cy="5885714"/>
          </a:xfrm>
          <a:prstGeom prst="rect">
            <a:avLst/>
          </a:prstGeom>
        </p:spPr>
      </p:pic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9C74B1BF-F545-F5BB-A2F7-A4E46AACCA08}"/>
              </a:ext>
            </a:extLst>
          </p:cNvPr>
          <p:cNvCxnSpPr>
            <a:cxnSpLocks/>
          </p:cNvCxnSpPr>
          <p:nvPr/>
        </p:nvCxnSpPr>
        <p:spPr>
          <a:xfrm flipH="1">
            <a:off x="8720888" y="1226317"/>
            <a:ext cx="469790" cy="4991011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对话气泡: 圆角矩形 59">
            <a:extLst>
              <a:ext uri="{FF2B5EF4-FFF2-40B4-BE49-F238E27FC236}">
                <a16:creationId xmlns:a16="http://schemas.microsoft.com/office/drawing/2014/main" id="{979B2674-B93C-FFCE-9D12-465372A7C258}"/>
              </a:ext>
            </a:extLst>
          </p:cNvPr>
          <p:cNvSpPr/>
          <p:nvPr/>
        </p:nvSpPr>
        <p:spPr>
          <a:xfrm>
            <a:off x="9185424" y="5509260"/>
            <a:ext cx="1612116" cy="422977"/>
          </a:xfrm>
          <a:prstGeom prst="wedgeRoundRectCallout">
            <a:avLst>
              <a:gd name="adj1" fmla="val -68100"/>
              <a:gd name="adj2" fmla="val -97835"/>
              <a:gd name="adj3" fmla="val 1666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sz="1200" dirty="0" err="1"/>
              <a:t>Dont</a:t>
            </a:r>
            <a:r>
              <a:rPr lang="zh-CN" altLang="nl-NL" sz="1200" dirty="0"/>
              <a:t> </a:t>
            </a:r>
            <a:r>
              <a:rPr lang="nl-NL" altLang="zh-CN" sz="1200" dirty="0"/>
              <a:t>start</a:t>
            </a:r>
            <a:r>
              <a:rPr lang="zh-CN" altLang="nl-NL" sz="1200" dirty="0"/>
              <a:t> </a:t>
            </a:r>
            <a:r>
              <a:rPr lang="nl-NL" altLang="zh-CN" sz="1200" dirty="0" err="1"/>
              <a:t>from</a:t>
            </a:r>
            <a:r>
              <a:rPr lang="zh-CN" altLang="nl-NL" sz="1200" dirty="0"/>
              <a:t> </a:t>
            </a:r>
            <a:r>
              <a:rPr lang="nl-NL" altLang="zh-CN" sz="1200" dirty="0" err="1"/>
              <a:t>the</a:t>
            </a:r>
            <a:r>
              <a:rPr lang="zh-CN" altLang="nl-NL" sz="1200" dirty="0"/>
              <a:t> </a:t>
            </a:r>
            <a:r>
              <a:rPr lang="nl-NL" altLang="zh-CN" sz="1200" dirty="0" err="1"/>
              <a:t>bottom</a:t>
            </a:r>
            <a:endParaRPr lang="nl-NL" sz="1200" dirty="0"/>
          </a:p>
        </p:txBody>
      </p:sp>
      <p:sp>
        <p:nvSpPr>
          <p:cNvPr id="61" name="对话气泡: 圆角矩形 60">
            <a:extLst>
              <a:ext uri="{FF2B5EF4-FFF2-40B4-BE49-F238E27FC236}">
                <a16:creationId xmlns:a16="http://schemas.microsoft.com/office/drawing/2014/main" id="{8EF9FA57-B6B2-CE41-E947-F595BE8B0625}"/>
              </a:ext>
            </a:extLst>
          </p:cNvPr>
          <p:cNvSpPr/>
          <p:nvPr/>
        </p:nvSpPr>
        <p:spPr>
          <a:xfrm>
            <a:off x="7996347" y="1466045"/>
            <a:ext cx="301446" cy="175794"/>
          </a:xfrm>
          <a:prstGeom prst="wedgeRoundRectCallout">
            <a:avLst>
              <a:gd name="adj1" fmla="val 87061"/>
              <a:gd name="adj2" fmla="val 15101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2" name="对话气泡: 圆角矩形 61">
            <a:extLst>
              <a:ext uri="{FF2B5EF4-FFF2-40B4-BE49-F238E27FC236}">
                <a16:creationId xmlns:a16="http://schemas.microsoft.com/office/drawing/2014/main" id="{15046E81-84E5-08E8-4448-AF4DF3C7AEFE}"/>
              </a:ext>
            </a:extLst>
          </p:cNvPr>
          <p:cNvSpPr/>
          <p:nvPr/>
        </p:nvSpPr>
        <p:spPr>
          <a:xfrm>
            <a:off x="8094447" y="2145913"/>
            <a:ext cx="301446" cy="175794"/>
          </a:xfrm>
          <a:prstGeom prst="wedgeRoundRectCallout">
            <a:avLst>
              <a:gd name="adj1" fmla="val 87061"/>
              <a:gd name="adj2" fmla="val 15101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3" name="对话气泡: 圆角矩形 62">
            <a:extLst>
              <a:ext uri="{FF2B5EF4-FFF2-40B4-BE49-F238E27FC236}">
                <a16:creationId xmlns:a16="http://schemas.microsoft.com/office/drawing/2014/main" id="{5421E7A9-CED0-296B-D06E-B05B030A39C4}"/>
              </a:ext>
            </a:extLst>
          </p:cNvPr>
          <p:cNvSpPr/>
          <p:nvPr/>
        </p:nvSpPr>
        <p:spPr>
          <a:xfrm>
            <a:off x="9034701" y="4015275"/>
            <a:ext cx="301446" cy="175794"/>
          </a:xfrm>
          <a:prstGeom prst="wedgeRoundRectCallout">
            <a:avLst>
              <a:gd name="adj1" fmla="val -76097"/>
              <a:gd name="adj2" fmla="val 28028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4" name="对话气泡: 圆角矩形 63">
            <a:extLst>
              <a:ext uri="{FF2B5EF4-FFF2-40B4-BE49-F238E27FC236}">
                <a16:creationId xmlns:a16="http://schemas.microsoft.com/office/drawing/2014/main" id="{3A55816A-54D9-1D36-08A6-9C751FD14191}"/>
              </a:ext>
            </a:extLst>
          </p:cNvPr>
          <p:cNvSpPr/>
          <p:nvPr/>
        </p:nvSpPr>
        <p:spPr>
          <a:xfrm>
            <a:off x="8999630" y="5133380"/>
            <a:ext cx="301446" cy="175794"/>
          </a:xfrm>
          <a:prstGeom prst="wedgeRoundRectCallout">
            <a:avLst>
              <a:gd name="adj1" fmla="val -76097"/>
              <a:gd name="adj2" fmla="val 28028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dirty="0">
                <a:solidFill>
                  <a:schemeClr val="tx1"/>
                </a:solidFill>
              </a:rPr>
              <a:t>4</a:t>
            </a:r>
          </a:p>
        </p:txBody>
      </p:sp>
      <p:pic>
        <p:nvPicPr>
          <p:cNvPr id="40" name="图片 39" descr="蓝色花瓶里插满了鲜花&#10;&#10;AI 生成的内容可能不正确。">
            <a:extLst>
              <a:ext uri="{FF2B5EF4-FFF2-40B4-BE49-F238E27FC236}">
                <a16:creationId xmlns:a16="http://schemas.microsoft.com/office/drawing/2014/main" id="{66628AC7-906D-61CD-F975-88C07F33E8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338" y="449731"/>
            <a:ext cx="5339224" cy="5339224"/>
          </a:xfrm>
          <a:prstGeom prst="rect">
            <a:avLst/>
          </a:prstGeom>
        </p:spPr>
      </p:pic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48A6AEFB-77E7-FB60-DD11-D575E0656044}"/>
              </a:ext>
            </a:extLst>
          </p:cNvPr>
          <p:cNvCxnSpPr>
            <a:cxnSpLocks/>
          </p:cNvCxnSpPr>
          <p:nvPr/>
        </p:nvCxnSpPr>
        <p:spPr>
          <a:xfrm>
            <a:off x="2613660" y="975360"/>
            <a:ext cx="691304" cy="453390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对话气泡: 圆角矩形 43">
            <a:extLst>
              <a:ext uri="{FF2B5EF4-FFF2-40B4-BE49-F238E27FC236}">
                <a16:creationId xmlns:a16="http://schemas.microsoft.com/office/drawing/2014/main" id="{A5121F57-7CF7-8463-71E4-20B51C5F269F}"/>
              </a:ext>
            </a:extLst>
          </p:cNvPr>
          <p:cNvSpPr/>
          <p:nvPr/>
        </p:nvSpPr>
        <p:spPr>
          <a:xfrm>
            <a:off x="3302337" y="857556"/>
            <a:ext cx="1612116" cy="422977"/>
          </a:xfrm>
          <a:prstGeom prst="wedgeRoundRectCallout">
            <a:avLst>
              <a:gd name="adj1" fmla="val -82753"/>
              <a:gd name="adj2" fmla="val 141766"/>
              <a:gd name="adj3" fmla="val 1666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sz="1200" dirty="0" err="1"/>
              <a:t>Better</a:t>
            </a:r>
            <a:r>
              <a:rPr lang="zh-CN" altLang="nl-NL" sz="1200" dirty="0"/>
              <a:t> </a:t>
            </a:r>
            <a:r>
              <a:rPr lang="nl-NL" altLang="zh-CN" sz="1200" dirty="0" err="1"/>
              <a:t>to</a:t>
            </a:r>
            <a:r>
              <a:rPr lang="zh-CN" altLang="nl-NL" sz="1200" dirty="0"/>
              <a:t> </a:t>
            </a:r>
            <a:r>
              <a:rPr lang="nl-NL" altLang="zh-CN" sz="1200" dirty="0"/>
              <a:t>start </a:t>
            </a:r>
            <a:r>
              <a:rPr lang="nl-NL" altLang="zh-CN" sz="1200" dirty="0" err="1"/>
              <a:t>from</a:t>
            </a:r>
            <a:r>
              <a:rPr lang="nl-NL" altLang="zh-CN" sz="1200" dirty="0"/>
              <a:t> </a:t>
            </a:r>
            <a:r>
              <a:rPr lang="nl-NL" altLang="zh-CN" sz="1200" dirty="0" err="1"/>
              <a:t>the</a:t>
            </a:r>
            <a:r>
              <a:rPr lang="nl-NL" altLang="zh-CN" sz="1200" dirty="0"/>
              <a:t> top</a:t>
            </a:r>
            <a:endParaRPr lang="nl-NL" sz="1200" dirty="0"/>
          </a:p>
        </p:txBody>
      </p:sp>
    </p:spTree>
    <p:extLst>
      <p:ext uri="{BB962C8B-B14F-4D97-AF65-F5344CB8AC3E}">
        <p14:creationId xmlns:p14="http://schemas.microsoft.com/office/powerpoint/2010/main" val="2245640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8FEDA-447F-ABB0-B1CB-6A48FC10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486AB717-1EEF-E1ED-A598-A85E1DADC6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pic>
        <p:nvPicPr>
          <p:cNvPr id="3" name="图片 2" descr="桌子上放着许多花&#10;&#10;AI 生成的内容可能不正确。">
            <a:extLst>
              <a:ext uri="{FF2B5EF4-FFF2-40B4-BE49-F238E27FC236}">
                <a16:creationId xmlns:a16="http://schemas.microsoft.com/office/drawing/2014/main" id="{91BC95F1-15B9-8479-F3A3-0C3537811D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140" y="-1"/>
            <a:ext cx="6858000" cy="6858000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8C5455E-30D4-05A6-F15F-82F92301023A}"/>
              </a:ext>
            </a:extLst>
          </p:cNvPr>
          <p:cNvCxnSpPr>
            <a:cxnSpLocks/>
          </p:cNvCxnSpPr>
          <p:nvPr/>
        </p:nvCxnSpPr>
        <p:spPr>
          <a:xfrm flipH="1">
            <a:off x="6921500" y="406400"/>
            <a:ext cx="44450" cy="4445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B6C87E5-74DE-03FE-5778-69D0F3E5A5A6}"/>
              </a:ext>
            </a:extLst>
          </p:cNvPr>
          <p:cNvCxnSpPr>
            <a:cxnSpLocks/>
          </p:cNvCxnSpPr>
          <p:nvPr/>
        </p:nvCxnSpPr>
        <p:spPr>
          <a:xfrm>
            <a:off x="6864350" y="1085342"/>
            <a:ext cx="1079500" cy="4134358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8A5EE1C-202C-324B-0C5B-FCE9AB73BD32}"/>
              </a:ext>
            </a:extLst>
          </p:cNvPr>
          <p:cNvCxnSpPr>
            <a:cxnSpLocks/>
          </p:cNvCxnSpPr>
          <p:nvPr/>
        </p:nvCxnSpPr>
        <p:spPr>
          <a:xfrm flipH="1">
            <a:off x="6377940" y="1423309"/>
            <a:ext cx="1800860" cy="344170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A05EF89-7CD0-195A-6E0A-C21FD48F4067}"/>
              </a:ext>
            </a:extLst>
          </p:cNvPr>
          <p:cNvCxnSpPr>
            <a:cxnSpLocks/>
          </p:cNvCxnSpPr>
          <p:nvPr/>
        </p:nvCxnSpPr>
        <p:spPr>
          <a:xfrm flipH="1">
            <a:off x="7127875" y="1167892"/>
            <a:ext cx="415290" cy="42862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841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蓝色花瓶里插满了鲜花&#10;&#10;AI 生成的内容可能不正确。">
            <a:extLst>
              <a:ext uri="{FF2B5EF4-FFF2-40B4-BE49-F238E27FC236}">
                <a16:creationId xmlns:a16="http://schemas.microsoft.com/office/drawing/2014/main" id="{9EC304ED-D668-0DC7-9F92-0C352A0577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05" y="753135"/>
            <a:ext cx="5885714" cy="5885714"/>
          </a:xfrm>
          <a:prstGeom prst="rect">
            <a:avLst/>
          </a:prstGeom>
        </p:spPr>
      </p:pic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BF4B1A8A-AC79-6CD0-6F2A-44430804E45F}"/>
              </a:ext>
            </a:extLst>
          </p:cNvPr>
          <p:cNvSpPr/>
          <p:nvPr/>
        </p:nvSpPr>
        <p:spPr>
          <a:xfrm>
            <a:off x="2106293" y="2042694"/>
            <a:ext cx="301446" cy="175794"/>
          </a:xfrm>
          <a:prstGeom prst="wedgeRoundRectCallout">
            <a:avLst>
              <a:gd name="adj1" fmla="val 87061"/>
              <a:gd name="adj2" fmla="val 15101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605AC34F-47DC-1BD9-864A-36170B465BE7}"/>
              </a:ext>
            </a:extLst>
          </p:cNvPr>
          <p:cNvSpPr/>
          <p:nvPr/>
        </p:nvSpPr>
        <p:spPr>
          <a:xfrm>
            <a:off x="2204393" y="2722562"/>
            <a:ext cx="301446" cy="175794"/>
          </a:xfrm>
          <a:prstGeom prst="wedgeRoundRectCallout">
            <a:avLst>
              <a:gd name="adj1" fmla="val 87061"/>
              <a:gd name="adj2" fmla="val 15101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46D5D641-F04F-C6B6-7809-6709A4A5E3E0}"/>
              </a:ext>
            </a:extLst>
          </p:cNvPr>
          <p:cNvSpPr/>
          <p:nvPr/>
        </p:nvSpPr>
        <p:spPr>
          <a:xfrm>
            <a:off x="3144647" y="4591924"/>
            <a:ext cx="301446" cy="175794"/>
          </a:xfrm>
          <a:prstGeom prst="wedgeRoundRectCallout">
            <a:avLst>
              <a:gd name="adj1" fmla="val -76097"/>
              <a:gd name="adj2" fmla="val 28028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321DCB55-4BFE-996E-A80B-94EC7FF01FC5}"/>
              </a:ext>
            </a:extLst>
          </p:cNvPr>
          <p:cNvSpPr/>
          <p:nvPr/>
        </p:nvSpPr>
        <p:spPr>
          <a:xfrm>
            <a:off x="3109576" y="5710029"/>
            <a:ext cx="301446" cy="175794"/>
          </a:xfrm>
          <a:prstGeom prst="wedgeRoundRectCallout">
            <a:avLst>
              <a:gd name="adj1" fmla="val -76097"/>
              <a:gd name="adj2" fmla="val 28028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E1FC313-6CF5-3BCF-09C0-AB89A22B2ACE}"/>
              </a:ext>
            </a:extLst>
          </p:cNvPr>
          <p:cNvCxnSpPr>
            <a:cxnSpLocks/>
          </p:cNvCxnSpPr>
          <p:nvPr/>
        </p:nvCxnSpPr>
        <p:spPr>
          <a:xfrm>
            <a:off x="2505839" y="1515762"/>
            <a:ext cx="553023" cy="4724602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E0983E6-2E92-EB98-9C18-62C7A050E981}"/>
              </a:ext>
            </a:extLst>
          </p:cNvPr>
          <p:cNvCxnSpPr>
            <a:cxnSpLocks/>
          </p:cNvCxnSpPr>
          <p:nvPr/>
        </p:nvCxnSpPr>
        <p:spPr>
          <a:xfrm flipH="1">
            <a:off x="2737039" y="1606379"/>
            <a:ext cx="1521923" cy="4601584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图片 20" descr="蓝色花瓶里插满了鲜花&#10;&#10;AI 生成的内容可能不正确。">
            <a:extLst>
              <a:ext uri="{FF2B5EF4-FFF2-40B4-BE49-F238E27FC236}">
                <a16:creationId xmlns:a16="http://schemas.microsoft.com/office/drawing/2014/main" id="{8026E70D-F06D-8DF9-6120-CC0EC34A2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433" y="753135"/>
            <a:ext cx="5885714" cy="5885714"/>
          </a:xfrm>
          <a:prstGeom prst="rect">
            <a:avLst/>
          </a:prstGeom>
        </p:spPr>
      </p:pic>
      <p:sp>
        <p:nvSpPr>
          <p:cNvPr id="22" name="对话气泡: 圆角矩形 21">
            <a:extLst>
              <a:ext uri="{FF2B5EF4-FFF2-40B4-BE49-F238E27FC236}">
                <a16:creationId xmlns:a16="http://schemas.microsoft.com/office/drawing/2014/main" id="{8B7684B4-4064-5F36-45DF-1B5B5039F9E5}"/>
              </a:ext>
            </a:extLst>
          </p:cNvPr>
          <p:cNvSpPr/>
          <p:nvPr/>
        </p:nvSpPr>
        <p:spPr>
          <a:xfrm>
            <a:off x="8042721" y="2042694"/>
            <a:ext cx="301446" cy="175794"/>
          </a:xfrm>
          <a:prstGeom prst="wedgeRoundRectCallout">
            <a:avLst>
              <a:gd name="adj1" fmla="val 87061"/>
              <a:gd name="adj2" fmla="val 15101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3" name="对话气泡: 圆角矩形 22">
            <a:extLst>
              <a:ext uri="{FF2B5EF4-FFF2-40B4-BE49-F238E27FC236}">
                <a16:creationId xmlns:a16="http://schemas.microsoft.com/office/drawing/2014/main" id="{56561C14-0093-2378-7AE1-A5923919F546}"/>
              </a:ext>
            </a:extLst>
          </p:cNvPr>
          <p:cNvSpPr/>
          <p:nvPr/>
        </p:nvSpPr>
        <p:spPr>
          <a:xfrm>
            <a:off x="8140821" y="2722562"/>
            <a:ext cx="301446" cy="175794"/>
          </a:xfrm>
          <a:prstGeom prst="wedgeRoundRectCallout">
            <a:avLst>
              <a:gd name="adj1" fmla="val 87061"/>
              <a:gd name="adj2" fmla="val 15101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4" name="对话气泡: 圆角矩形 23">
            <a:extLst>
              <a:ext uri="{FF2B5EF4-FFF2-40B4-BE49-F238E27FC236}">
                <a16:creationId xmlns:a16="http://schemas.microsoft.com/office/drawing/2014/main" id="{E87E647B-F7D7-40F9-060D-93E863B11E05}"/>
              </a:ext>
            </a:extLst>
          </p:cNvPr>
          <p:cNvSpPr/>
          <p:nvPr/>
        </p:nvSpPr>
        <p:spPr>
          <a:xfrm>
            <a:off x="9081075" y="4591924"/>
            <a:ext cx="301446" cy="175794"/>
          </a:xfrm>
          <a:prstGeom prst="wedgeRoundRectCallout">
            <a:avLst>
              <a:gd name="adj1" fmla="val -76097"/>
              <a:gd name="adj2" fmla="val 28028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5" name="对话气泡: 圆角矩形 24">
            <a:extLst>
              <a:ext uri="{FF2B5EF4-FFF2-40B4-BE49-F238E27FC236}">
                <a16:creationId xmlns:a16="http://schemas.microsoft.com/office/drawing/2014/main" id="{BC28908C-7272-ED3F-7E22-4ACE7275867C}"/>
              </a:ext>
            </a:extLst>
          </p:cNvPr>
          <p:cNvSpPr/>
          <p:nvPr/>
        </p:nvSpPr>
        <p:spPr>
          <a:xfrm>
            <a:off x="9046004" y="5710029"/>
            <a:ext cx="301446" cy="175794"/>
          </a:xfrm>
          <a:prstGeom prst="wedgeRoundRectCallout">
            <a:avLst>
              <a:gd name="adj1" fmla="val -76097"/>
              <a:gd name="adj2" fmla="val 28028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7E9073B-CEA1-B2F6-87A3-63A1680DED8B}"/>
              </a:ext>
            </a:extLst>
          </p:cNvPr>
          <p:cNvCxnSpPr>
            <a:cxnSpLocks/>
          </p:cNvCxnSpPr>
          <p:nvPr/>
        </p:nvCxnSpPr>
        <p:spPr>
          <a:xfrm>
            <a:off x="7190751" y="3062672"/>
            <a:ext cx="2961377" cy="2853475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A2A9193-D96E-A778-32DD-604AEF9B79AE}"/>
              </a:ext>
            </a:extLst>
          </p:cNvPr>
          <p:cNvCxnSpPr>
            <a:cxnSpLocks/>
          </p:cNvCxnSpPr>
          <p:nvPr/>
        </p:nvCxnSpPr>
        <p:spPr>
          <a:xfrm flipH="1">
            <a:off x="8552168" y="2344189"/>
            <a:ext cx="679630" cy="4671263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DAFB90E-877C-813B-A9D8-66CCB47A5994}"/>
              </a:ext>
            </a:extLst>
          </p:cNvPr>
          <p:cNvCxnSpPr>
            <a:cxnSpLocks/>
          </p:cNvCxnSpPr>
          <p:nvPr/>
        </p:nvCxnSpPr>
        <p:spPr>
          <a:xfrm>
            <a:off x="8090107" y="2218488"/>
            <a:ext cx="1378842" cy="42545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15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55393-726C-7F6D-2A54-5B61E7A4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433AAB7B-BAC5-8380-6DC4-DC0907A851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6C63A805-56F5-FE31-3F26-714801EB7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254" y="2582557"/>
            <a:ext cx="10986696" cy="1399032"/>
          </a:xfrm>
        </p:spPr>
        <p:txBody>
          <a:bodyPr>
            <a:noAutofit/>
          </a:bodyPr>
          <a:lstStyle/>
          <a:p>
            <a:r>
              <a:rPr lang="nl-NL" altLang="zh-CN" sz="2800" dirty="0" err="1"/>
              <a:t>Future</a:t>
            </a:r>
            <a:r>
              <a:rPr lang="nl-NL" altLang="zh-CN" sz="2800" dirty="0"/>
              <a:t> </a:t>
            </a:r>
            <a:r>
              <a:rPr lang="nl-NL" altLang="zh-CN" sz="2800" dirty="0" err="1"/>
              <a:t>Work</a:t>
            </a:r>
            <a:r>
              <a:rPr lang="nl-NL" altLang="zh-CN" sz="2800" dirty="0"/>
              <a:t>:</a:t>
            </a:r>
          </a:p>
          <a:p>
            <a:pPr marL="514350" indent="-514350">
              <a:buAutoNum type="arabicParenBoth"/>
            </a:pPr>
            <a:endParaRPr lang="nl-NL" sz="2800" dirty="0"/>
          </a:p>
          <a:p>
            <a:pPr marL="514350" indent="-514350">
              <a:buAutoNum type="arabicParenBoth"/>
            </a:pPr>
            <a:r>
              <a:rPr lang="nl-NL" sz="2800" dirty="0"/>
              <a:t> Anchor </a:t>
            </a:r>
            <a:r>
              <a:rPr lang="nl-NL" sz="2800" dirty="0" err="1"/>
              <a:t>and</a:t>
            </a:r>
            <a:r>
              <a:rPr lang="nl-NL" sz="2800" dirty="0"/>
              <a:t> Stem line </a:t>
            </a:r>
            <a:r>
              <a:rPr lang="nl-NL" sz="2800" dirty="0" err="1"/>
              <a:t>proposal</a:t>
            </a:r>
            <a:endParaRPr lang="nl-NL" sz="2800" dirty="0"/>
          </a:p>
          <a:p>
            <a:pPr marL="514350" indent="-514350">
              <a:buAutoNum type="arabicParenBoth"/>
            </a:pPr>
            <a:r>
              <a:rPr lang="nl-NL" sz="2800" dirty="0"/>
              <a:t>Stem line </a:t>
            </a:r>
            <a:r>
              <a:rPr lang="nl-NL" sz="2800" dirty="0" err="1"/>
              <a:t>optimization</a:t>
            </a:r>
            <a:r>
              <a:rPr lang="nl-NL" sz="2800" dirty="0"/>
              <a:t> </a:t>
            </a:r>
          </a:p>
          <a:p>
            <a:pPr marL="514350" indent="-514350">
              <a:buAutoNum type="arabicParenBoth"/>
            </a:pPr>
            <a:endParaRPr lang="nl-NL" sz="2800" dirty="0"/>
          </a:p>
        </p:txBody>
      </p:sp>
    </p:spTree>
    <p:extLst>
      <p:ext uri="{BB962C8B-B14F-4D97-AF65-F5344CB8AC3E}">
        <p14:creationId xmlns:p14="http://schemas.microsoft.com/office/powerpoint/2010/main" val="75379571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TM03457475[[fn=框架]]</Template>
  <TotalTime>0</TotalTime>
  <Words>131</Words>
  <Application>Microsoft Office PowerPoint</Application>
  <PresentationFormat>宽屏</PresentationFormat>
  <Paragraphs>35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</vt:lpstr>
      <vt:lpstr>Arial</vt:lpstr>
      <vt:lpstr>Bierstadt</vt:lpstr>
      <vt:lpstr>Neue Haas Grotesk Text Pro</vt:lpstr>
      <vt:lpstr>GestaltVTI</vt:lpstr>
      <vt:lpstr>Instance Segmentation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 Jiang</dc:creator>
  <cp:lastModifiedBy>Hua Jiang</cp:lastModifiedBy>
  <cp:revision>12</cp:revision>
  <dcterms:created xsi:type="dcterms:W3CDTF">2025-09-24T08:15:25Z</dcterms:created>
  <dcterms:modified xsi:type="dcterms:W3CDTF">2025-10-01T15:14:07Z</dcterms:modified>
</cp:coreProperties>
</file>