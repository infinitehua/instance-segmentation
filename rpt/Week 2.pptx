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84" r:id="rId6"/>
    <p:sldId id="290" r:id="rId7"/>
    <p:sldId id="277" r:id="rId8"/>
    <p:sldId id="291" r:id="rId9"/>
    <p:sldId id="287" r:id="rId10"/>
    <p:sldId id="292" r:id="rId11"/>
    <p:sldId id="293" r:id="rId12"/>
  </p:sldIdLst>
  <p:sldSz cx="12192000" cy="6858000"/>
  <p:notesSz cx="6858000" cy="9144000"/>
  <p:defaultTextStyle>
    <a:defPPr rtl="0"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eu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15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57EE02-0CEC-4964-9C1B-9E8753AA6975}" type="datetime1">
              <a:rPr lang="nl-NL" smtClean="0"/>
              <a:t>10-9-2025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nl-NL" noProof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1DE2C6-CFC6-424B-92DF-723E34C54F08}" type="datetime1">
              <a:rPr lang="nl-NL" noProof="0" smtClean="0"/>
              <a:t>10-9-2025</a:t>
            </a:fld>
            <a:endParaRPr lang="nl-NL" noProof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nl-NL" noProof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215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40DD-DAB5-6C51-2405-38222339C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11AEBEE-D2D3-B896-D904-CB90C1CAC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75B86F1-6187-C3B4-A3D9-B14327F30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11323D5-1B54-3E18-F98E-B14EA24D1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3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8242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10D7-0428-43CB-0A9F-035081DE6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60C2B33-77EF-B078-0F0F-A77063F8D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3784313-A9F2-76C8-5338-6690858FD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CB9898-83AA-7EA1-B823-DF4C2346D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5906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02322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CA63B-02E4-851B-D707-143B484C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C6095D6-840B-7DAC-B17D-0568245D7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CA1F1A8-F266-9ACB-D244-3018F20D3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7190D0F-1613-BDC5-7677-1603E9B95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5673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7D44-8F86-EF87-CCC2-6CD3B0FD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565094A-F5E7-B196-FBB9-27EC4D718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3E6C4E0-0AA3-B380-87A6-EFC98C501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1EA755C-0AC2-8A2D-F6A0-A30033314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1169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nl-NL" noProof="0"/>
              <a:t>Klik om de subtitelstijl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inhou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21" name="Tijdelijke aanduiding voor datum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22" name="Tijdelijke aanduiding voor voettekst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23" name="Tijdelijke aanduiding voor dianummer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inhou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nl-NL" noProof="0"/>
              <a:t>Klik om de tekststijlen van het model te bewerken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4" name="Tijdelijke aanduiding voor datum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15" name="Tijdelijke aanduiding voor voettekst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16" name="Tijdelijke aanduiding voor dianummer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vier inhou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21" name="Tijdelijke aanduiding voor datum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22" name="Tijdelijke aanduiding voor voettekst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23" name="Tijdelijke aanduiding voor dianummer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 link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 te bewerken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4" name="Tijdelijke aanduiding voor datum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5" name="Tijdelijke aanduiding voor voettekst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16" name="Tijdelijke aanduiding voor dianummer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kst centreren met bovenr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kst centrer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8" name="Tijdelijke aanduiding voor datum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9" name="Tijdelijke aanduiding voor voettekst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10" name="Tijdelijke aanduiding voor dianummer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vi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1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2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3</a:t>
            </a:r>
          </a:p>
        </p:txBody>
      </p:sp>
      <p:sp>
        <p:nvSpPr>
          <p:cNvPr id="15" name="Tijdelijke aanduiding voor tekst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4</a:t>
            </a:r>
          </a:p>
        </p:txBody>
      </p:sp>
      <p:sp>
        <p:nvSpPr>
          <p:cNvPr id="21" name="Tijdelijke aanduiding voor onlineafbeelding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22" name="Tijdelijke aanduiding voor onlineafbeelding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23" name="Tijdelijke aanduiding voor onlineafbeelding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24" name="Tijdelijke aanduiding voor onlineafbeelding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25" name="Tijdelijke aanduiding voor datum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26" name="Tijdelijke aanduiding voor voettekst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27" name="Tijdelijke aanduiding voor dianummer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houd en vier afbeelding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1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2</a:t>
            </a:r>
          </a:p>
        </p:txBody>
      </p:sp>
      <p:sp>
        <p:nvSpPr>
          <p:cNvPr id="13" name="Tijdelijke aanduiding voor tekst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3</a:t>
            </a:r>
          </a:p>
        </p:txBody>
      </p:sp>
      <p:sp>
        <p:nvSpPr>
          <p:cNvPr id="15" name="Tijdelijke aanduiding voor tekst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4</a:t>
            </a:r>
          </a:p>
        </p:txBody>
      </p:sp>
      <p:sp>
        <p:nvSpPr>
          <p:cNvPr id="21" name="Tijdelijke aanduiding voor onlineafbeelding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22" name="Tijdelijke aanduiding voor onlineafbeelding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23" name="Tijdelijke aanduiding voor onlineafbeelding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24" name="Tijdelijke aanduiding voor onlineafbeelding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zh-CN" altLang="nl-NL" noProof="0"/>
              <a:t>单击图标添加联机映像</a:t>
            </a:r>
            <a:endParaRPr lang="nl-NL" noProof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1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2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3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Opsommingsteken 4</a:t>
            </a:r>
          </a:p>
        </p:txBody>
      </p:sp>
      <p:sp>
        <p:nvSpPr>
          <p:cNvPr id="28" name="Tijdelijke aanduiding voor tekst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30" name="Tijdelijke aanduiding voor datum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31" name="Tijdelijke aanduiding voor voettekst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32" name="Tijdelijke aanduiding voor dianummer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14" name="Tijdelijke aanduiding voor tekst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20" name="Tijdelijke aanduiding voor tekst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25" name="Tijdelijke aanduiding voor tekst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26" name="Tijdelijke aanduiding voor tekst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27" name="Tijdelijke aanduiding voor tekst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28" name="Tijdelijke aanduiding voor tekst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29" name="Tijdelijke aanduiding voor tekst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ijdelijke aanduiding voor datum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42" name="Tijdelijke aanduiding voor voettekst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43" name="Tijdelijke aanduiding voor dianummer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Rechte verbindingslijn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inhoud recht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nl-NL" noProof="0"/>
              <a:t>Klik om de tekststijlen van het model te bewerken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7" name="Tijdelijke aanduiding voor datum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8" name="Tijdelijke aanduiding voor voettekst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10" name="Tijdelijke aanduiding voor dianummer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aatste d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nl-NL" noProof="0"/>
              <a:t>Klik om te bewerken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nl-NL" noProof="0"/>
              <a:t>Klik om de subtitelstijl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di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6" name="Tijdelijke aanduiding voor afbeelding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nl-NL" noProof="0"/>
              <a:t>Klik op pictogram om afbeelding toe te voegen</a:t>
            </a:r>
          </a:p>
        </p:txBody>
      </p:sp>
      <p:sp>
        <p:nvSpPr>
          <p:cNvPr id="7" name="Tijdelijke aanduiding voor afbeelding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nl-NL" noProof="0"/>
              <a:t>Klik op pictogram om afbeelding toe te voegen</a:t>
            </a: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nl-NL" noProof="0"/>
              <a:t>Klik op pictogram om afbeelding toe te voegen</a:t>
            </a:r>
          </a:p>
        </p:txBody>
      </p:sp>
      <p:sp>
        <p:nvSpPr>
          <p:cNvPr id="9" name="Tijdelijke aanduiding voor afbeelding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nl-NL" noProof="0"/>
              <a:t>Klik op pictogram om afbeelding toe te voegen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20" name="Tijdelijke aanduiding voor tekst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22" name="Tijdelijke aanduiding voor tekst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Naam</a:t>
            </a:r>
          </a:p>
        </p:txBody>
      </p:sp>
      <p:sp>
        <p:nvSpPr>
          <p:cNvPr id="23" name="Tijdelijke aanduiding voor tekst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nl-NL" noProof="0"/>
              <a:t>Titel</a:t>
            </a:r>
          </a:p>
        </p:txBody>
      </p:sp>
      <p:sp>
        <p:nvSpPr>
          <p:cNvPr id="24" name="Tijdelijke aanduiding voor datum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25" name="Tijdelijke aanduiding voor voettekst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26" name="Tijdelijke aanduiding voor dianummer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pPr rtl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nl-NL" noProof="0"/>
              <a:t>Klik om de titelstijl van het model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nl-NL" noProof="0"/>
              <a:t>Klik om de tekststijlen van het model te bewerken</a:t>
            </a:r>
          </a:p>
          <a:p>
            <a:pPr lvl="1" rtl="0"/>
            <a:r>
              <a:rPr lang="nl-NL" noProof="0"/>
              <a:t>Tweede niveau</a:t>
            </a:r>
          </a:p>
          <a:p>
            <a:pPr lvl="2" rtl="0"/>
            <a:r>
              <a:rPr lang="nl-NL" noProof="0"/>
              <a:t>Derde niveau</a:t>
            </a:r>
          </a:p>
          <a:p>
            <a:pPr lvl="3" rtl="0"/>
            <a:r>
              <a:rPr lang="nl-NL" noProof="0"/>
              <a:t>Vierde niveau</a:t>
            </a:r>
          </a:p>
          <a:p>
            <a:pPr lvl="4" rtl="0"/>
            <a:r>
              <a:rPr lang="nl-NL" noProof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29-7-20XX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nl-NL" noProof="0"/>
              <a:t>Oriëntatie werknemer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nl-NL" noProof="0" smtClean="0"/>
              <a:t>‹#›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174" y="1813963"/>
            <a:ext cx="6230510" cy="2387600"/>
          </a:xfrm>
        </p:spPr>
        <p:txBody>
          <a:bodyPr rtlCol="0"/>
          <a:lstStyle/>
          <a:p>
            <a:pPr rtl="0"/>
            <a:r>
              <a:rPr lang="nl-NL" dirty="0" err="1"/>
              <a:t>Mask</a:t>
            </a:r>
            <a:r>
              <a:rPr lang="nl-NL" dirty="0"/>
              <a:t>-RCNN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altLang="zh-CN" dirty="0" err="1"/>
              <a:t>Implementation</a:t>
            </a:r>
            <a:endParaRPr lang="nl-NL" dirty="0"/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/>
          <a:p>
            <a:pPr rtl="0"/>
            <a:r>
              <a:rPr lang="nl-NL" dirty="0"/>
              <a:t>Week2 Hua Jiang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rtlCol="0"/>
          <a:lstStyle/>
          <a:p>
            <a:pPr rtl="0"/>
            <a:r>
              <a:rPr lang="en-US" dirty="0"/>
              <a:t>M</a:t>
            </a:r>
            <a:r>
              <a:rPr lang="nl-NL" dirty="0" err="1"/>
              <a:t>odels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Relative</a:t>
            </a:r>
            <a:r>
              <a:rPr lang="nl-NL" dirty="0"/>
              <a:t> Paper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DF4BB2-624B-43EE-8846-5659141C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Instance segmentation of apple flowers using the improved mask </a:t>
            </a:r>
            <a:r>
              <a:rPr lang="en-US" dirty="0" err="1"/>
              <a:t>ReCNN</a:t>
            </a:r>
            <a:r>
              <a:rPr lang="en-US" dirty="0"/>
              <a:t> model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nl-NL" dirty="0" err="1"/>
              <a:t>WheatSpikeNet</a:t>
            </a:r>
            <a:r>
              <a:rPr lang="nl-NL" dirty="0"/>
              <a:t>: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improved</a:t>
            </a:r>
            <a:r>
              <a:rPr lang="nl-NL" dirty="0"/>
              <a:t> </a:t>
            </a:r>
            <a:r>
              <a:rPr lang="nl-NL" dirty="0" err="1"/>
              <a:t>wheat</a:t>
            </a:r>
            <a:r>
              <a:rPr lang="nl-NL" dirty="0"/>
              <a:t> spike </a:t>
            </a:r>
            <a:r>
              <a:rPr lang="nl-NL" dirty="0" err="1"/>
              <a:t>segmentation</a:t>
            </a:r>
            <a:r>
              <a:rPr lang="nl-NL" dirty="0"/>
              <a:t> model </a:t>
            </a:r>
            <a:r>
              <a:rPr lang="nl-NL" dirty="0" err="1"/>
              <a:t>for</a:t>
            </a:r>
            <a:r>
              <a:rPr lang="nl-NL" dirty="0"/>
              <a:t> accurate </a:t>
            </a:r>
            <a:r>
              <a:rPr lang="nl-NL" dirty="0" err="1"/>
              <a:t>estimation</a:t>
            </a:r>
            <a:r>
              <a:rPr lang="nl-NL" dirty="0"/>
              <a:t> </a:t>
            </a:r>
            <a:r>
              <a:rPr lang="nl-NL" altLang="zh-CN" dirty="0" err="1"/>
              <a:t>from</a:t>
            </a:r>
            <a:r>
              <a:rPr lang="nl-NL" altLang="zh-CN" dirty="0"/>
              <a:t> field imaging</a:t>
            </a:r>
          </a:p>
          <a:p>
            <a:pPr marL="285750" indent="-285750">
              <a:buFontTx/>
              <a:buChar char="-"/>
            </a:pPr>
            <a:endParaRPr lang="nl-NL" dirty="0"/>
          </a:p>
          <a:p>
            <a:pPr marL="285750" indent="-285750">
              <a:buFontTx/>
              <a:buChar char="-"/>
            </a:pPr>
            <a:r>
              <a:rPr lang="nl-NL" dirty="0" err="1"/>
              <a:t>Mask</a:t>
            </a:r>
            <a:r>
              <a:rPr lang="nl-NL" dirty="0"/>
              <a:t> R-CNN</a:t>
            </a:r>
          </a:p>
          <a:p>
            <a:pPr marL="285750" indent="-285750">
              <a:buFontTx/>
              <a:buChar char="-"/>
            </a:pPr>
            <a:endParaRPr lang="nl-NL" dirty="0"/>
          </a:p>
        </p:txBody>
      </p:sp>
      <p:sp>
        <p:nvSpPr>
          <p:cNvPr id="12" name="Tijdelijke aanduiding voor datum 11">
            <a:extLst>
              <a:ext uri="{FF2B5EF4-FFF2-40B4-BE49-F238E27FC236}">
                <a16:creationId xmlns:a16="http://schemas.microsoft.com/office/drawing/2014/main" id="{F068B7E0-3F26-4101-8308-9627365C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nl-NL"/>
              <a:t>29-7-20XX</a:t>
            </a:r>
          </a:p>
        </p:txBody>
      </p:sp>
      <p:sp>
        <p:nvSpPr>
          <p:cNvPr id="13" name="Tijdelijke aanduiding voor voettekst 12">
            <a:extLst>
              <a:ext uri="{FF2B5EF4-FFF2-40B4-BE49-F238E27FC236}">
                <a16:creationId xmlns:a16="http://schemas.microsoft.com/office/drawing/2014/main" id="{D53A5F38-6B02-4793-861F-93179457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l-NL"/>
              <a:t>Oriëntatie werknemer</a:t>
            </a:r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602D7-52A2-046B-5A43-08220F8C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6E33A-CA2C-7A51-82F6-62D63640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4952" y="-629138"/>
            <a:ext cx="5684520" cy="1305562"/>
          </a:xfrm>
        </p:spPr>
        <p:txBody>
          <a:bodyPr rtlCol="0"/>
          <a:lstStyle/>
          <a:p>
            <a:pPr rtl="0"/>
            <a:r>
              <a:rPr lang="nl-NL" altLang="zh-CN" dirty="0" err="1"/>
              <a:t>MasU</a:t>
            </a:r>
            <a:r>
              <a:rPr lang="nl-NL" altLang="zh-CN" dirty="0"/>
              <a:t>-RCNN</a:t>
            </a:r>
            <a:endParaRPr lang="nl-NL" dirty="0"/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7FC48B40-7FBA-6790-2A9B-F837D034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nl-NL"/>
              <a:t>29-7-20XX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189C7A5-74F1-D38B-9C4C-7415A8C5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nl-NL"/>
              <a:t>Oriëntatie werknemer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4131390-F07C-2C10-FFD5-DB5FE231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nl-NL" smtClean="0"/>
              <a:pPr rtl="0"/>
              <a:t>3</a:t>
            </a:fld>
            <a:endParaRPr lang="nl-NL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3BBD85-5296-D6FB-1AD7-BA684DA43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31" y="224230"/>
            <a:ext cx="4845928" cy="648771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51C5A4-15B2-4CAA-45BF-B3D412C9D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183" y="1257507"/>
            <a:ext cx="5000058" cy="492406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3A3DDCB-6315-808B-8FA6-71731720E1C9}"/>
              </a:ext>
            </a:extLst>
          </p:cNvPr>
          <p:cNvSpPr txBox="1"/>
          <p:nvPr/>
        </p:nvSpPr>
        <p:spPr>
          <a:xfrm>
            <a:off x="6227183" y="597633"/>
            <a:ext cx="545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/>
              <a:t>An </a:t>
            </a:r>
            <a:r>
              <a:rPr lang="nl-NL" altLang="zh-CN" dirty="0" err="1"/>
              <a:t>advanced</a:t>
            </a:r>
            <a:r>
              <a:rPr lang="nl-NL" altLang="zh-CN" dirty="0"/>
              <a:t> model </a:t>
            </a:r>
            <a:r>
              <a:rPr lang="nl-NL" altLang="zh-CN" dirty="0" err="1"/>
              <a:t>based</a:t>
            </a:r>
            <a:r>
              <a:rPr lang="nl-NL" altLang="zh-CN" dirty="0"/>
              <a:t> on </a:t>
            </a:r>
            <a:r>
              <a:rPr lang="nl-NL" altLang="zh-CN" dirty="0" err="1"/>
              <a:t>Mask</a:t>
            </a:r>
            <a:r>
              <a:rPr lang="nl-NL" altLang="zh-CN" dirty="0"/>
              <a:t>-Scoring RCNN</a:t>
            </a:r>
            <a:endParaRPr lang="nl-NL" dirty="0"/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78AB03FF-059A-D19F-3EEC-9ECD3E966AF0}"/>
              </a:ext>
            </a:extLst>
          </p:cNvPr>
          <p:cNvSpPr/>
          <p:nvPr/>
        </p:nvSpPr>
        <p:spPr>
          <a:xfrm>
            <a:off x="4607781" y="1352124"/>
            <a:ext cx="1357038" cy="667507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/>
              <a:t>U-Net </a:t>
            </a:r>
            <a:r>
              <a:rPr lang="nl-NL" sz="1400" dirty="0" err="1"/>
              <a:t>can</a:t>
            </a:r>
            <a:r>
              <a:rPr lang="nl-NL" sz="1400" dirty="0"/>
              <a:t> </a:t>
            </a:r>
            <a:r>
              <a:rPr lang="nl-NL" sz="1400" dirty="0" err="1"/>
              <a:t>also</a:t>
            </a:r>
            <a:r>
              <a:rPr lang="nl-NL" sz="1400" dirty="0"/>
              <a:t> </a:t>
            </a:r>
            <a:r>
              <a:rPr lang="nl-NL" sz="1400" dirty="0" err="1"/>
              <a:t>be</a:t>
            </a:r>
            <a:r>
              <a:rPr lang="nl-NL" sz="1400" dirty="0"/>
              <a:t> set </a:t>
            </a:r>
            <a:r>
              <a:rPr lang="nl-NL" sz="1400" dirty="0" err="1"/>
              <a:t>there</a:t>
            </a:r>
            <a:endParaRPr lang="nl-NL" sz="1400" dirty="0"/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99226E0C-B1B7-6EBF-A37A-B863166F3FAA}"/>
              </a:ext>
            </a:extLst>
          </p:cNvPr>
          <p:cNvSpPr/>
          <p:nvPr/>
        </p:nvSpPr>
        <p:spPr>
          <a:xfrm>
            <a:off x="3304429" y="5696546"/>
            <a:ext cx="2694830" cy="1024929"/>
          </a:xfrm>
          <a:prstGeom prst="wedgeRectCallout">
            <a:avLst>
              <a:gd name="adj1" fmla="val -26765"/>
              <a:gd name="adj2" fmla="val -646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U-Net </a:t>
            </a:r>
            <a:r>
              <a:rPr lang="nl-NL" dirty="0" err="1"/>
              <a:t>helps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combining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graphical</a:t>
            </a:r>
            <a:r>
              <a:rPr lang="nl-NL" dirty="0"/>
              <a:t> feature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position</a:t>
            </a:r>
            <a:r>
              <a:rPr lang="nl-NL" dirty="0"/>
              <a:t> info</a:t>
            </a:r>
          </a:p>
        </p:txBody>
      </p:sp>
    </p:spTree>
    <p:extLst>
      <p:ext uri="{BB962C8B-B14F-4D97-AF65-F5344CB8AC3E}">
        <p14:creationId xmlns:p14="http://schemas.microsoft.com/office/powerpoint/2010/main" val="356140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962" y="568873"/>
            <a:ext cx="7045180" cy="1305562"/>
          </a:xfrm>
        </p:spPr>
        <p:txBody>
          <a:bodyPr rtlCol="0"/>
          <a:lstStyle/>
          <a:p>
            <a:r>
              <a:rPr lang="nl-NL" altLang="zh-CN" dirty="0" err="1"/>
              <a:t>Improved</a:t>
            </a:r>
            <a:r>
              <a:rPr lang="nl-NL" altLang="zh-CN" dirty="0"/>
              <a:t> </a:t>
            </a:r>
            <a:r>
              <a:rPr lang="nl-NL" dirty="0"/>
              <a:t>Cascade </a:t>
            </a:r>
            <a:r>
              <a:rPr lang="nl-NL" dirty="0" err="1"/>
              <a:t>Mask</a:t>
            </a:r>
            <a:r>
              <a:rPr lang="nl-NL" dirty="0"/>
              <a:t> RCNN</a:t>
            </a:r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39DEAC25-4DF8-463C-83B2-7DBD27EB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nl-NL"/>
              <a:t>29-7-20XX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nl-NL"/>
              <a:t>Oriëntatie werknemer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nl-NL" smtClean="0"/>
              <a:pPr rtl="0"/>
              <a:t>4</a:t>
            </a:fld>
            <a:endParaRPr lang="nl-NL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8309929-D329-0F9D-57AF-1791331D8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1" y="0"/>
            <a:ext cx="5131706" cy="6892979"/>
          </a:xfrm>
          <a:prstGeom prst="rect">
            <a:avLst/>
          </a:prstGeom>
        </p:spPr>
      </p:pic>
      <p:sp>
        <p:nvSpPr>
          <p:cNvPr id="18" name="对话气泡: 矩形 17">
            <a:extLst>
              <a:ext uri="{FF2B5EF4-FFF2-40B4-BE49-F238E27FC236}">
                <a16:creationId xmlns:a16="http://schemas.microsoft.com/office/drawing/2014/main" id="{CA6900E8-8805-27EA-799E-98E0B233908E}"/>
              </a:ext>
            </a:extLst>
          </p:cNvPr>
          <p:cNvSpPr/>
          <p:nvPr/>
        </p:nvSpPr>
        <p:spPr>
          <a:xfrm>
            <a:off x="3998157" y="1450562"/>
            <a:ext cx="1782534" cy="661307"/>
          </a:xfrm>
          <a:prstGeom prst="wedgeRectCallout">
            <a:avLst>
              <a:gd name="adj1" fmla="val -86653"/>
              <a:gd name="adj2" fmla="val 510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400" dirty="0"/>
              <a:t>Plus </a:t>
            </a:r>
            <a:r>
              <a:rPr lang="nl-NL" altLang="zh-CN" sz="1400" b="1" dirty="0" err="1"/>
              <a:t>Deformable</a:t>
            </a:r>
            <a:r>
              <a:rPr lang="nl-NL" altLang="zh-CN" sz="1400" b="1" dirty="0"/>
              <a:t> </a:t>
            </a:r>
            <a:r>
              <a:rPr lang="nl-NL" altLang="zh-CN" sz="1400" b="1" dirty="0" err="1"/>
              <a:t>Convolution</a:t>
            </a:r>
            <a:r>
              <a:rPr lang="nl-NL" altLang="zh-CN" sz="1400" b="1" dirty="0"/>
              <a:t> Network</a:t>
            </a:r>
            <a:endParaRPr lang="nl-NL" sz="1400" b="1" dirty="0"/>
          </a:p>
        </p:txBody>
      </p:sp>
      <p:sp>
        <p:nvSpPr>
          <p:cNvPr id="19" name="对话气泡: 矩形 18">
            <a:extLst>
              <a:ext uri="{FF2B5EF4-FFF2-40B4-BE49-F238E27FC236}">
                <a16:creationId xmlns:a16="http://schemas.microsoft.com/office/drawing/2014/main" id="{C43B6E0F-72E2-1426-EA92-5F1F6499CC1D}"/>
              </a:ext>
            </a:extLst>
          </p:cNvPr>
          <p:cNvSpPr/>
          <p:nvPr/>
        </p:nvSpPr>
        <p:spPr>
          <a:xfrm>
            <a:off x="4101027" y="2711220"/>
            <a:ext cx="1782534" cy="661307"/>
          </a:xfrm>
          <a:prstGeom prst="wedgeRectCallout">
            <a:avLst>
              <a:gd name="adj1" fmla="val -86653"/>
              <a:gd name="adj2" fmla="val 510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400" dirty="0"/>
              <a:t>Plus </a:t>
            </a:r>
            <a:r>
              <a:rPr lang="nl-NL" altLang="zh-CN" sz="1400" b="1" dirty="0" err="1"/>
              <a:t>Balanced</a:t>
            </a:r>
            <a:r>
              <a:rPr lang="nl-NL" altLang="zh-CN" sz="1400" b="1" dirty="0"/>
              <a:t> Feature </a:t>
            </a:r>
            <a:r>
              <a:rPr lang="nl-NL" altLang="zh-CN" sz="1400" b="1" dirty="0" err="1"/>
              <a:t>Pyramid</a:t>
            </a:r>
            <a:endParaRPr lang="nl-NL" sz="1400" b="1" dirty="0"/>
          </a:p>
        </p:txBody>
      </p:sp>
      <p:sp>
        <p:nvSpPr>
          <p:cNvPr id="20" name="对话气泡: 矩形 19">
            <a:extLst>
              <a:ext uri="{FF2B5EF4-FFF2-40B4-BE49-F238E27FC236}">
                <a16:creationId xmlns:a16="http://schemas.microsoft.com/office/drawing/2014/main" id="{6079E49D-6915-6468-3967-C4933B36731A}"/>
              </a:ext>
            </a:extLst>
          </p:cNvPr>
          <p:cNvSpPr/>
          <p:nvPr/>
        </p:nvSpPr>
        <p:spPr>
          <a:xfrm>
            <a:off x="0" y="2354984"/>
            <a:ext cx="1782534" cy="661307"/>
          </a:xfrm>
          <a:prstGeom prst="wedgeRectCallout">
            <a:avLst>
              <a:gd name="adj1" fmla="val 34721"/>
              <a:gd name="adj2" fmla="val 917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400" b="1" dirty="0" err="1"/>
              <a:t>Generic</a:t>
            </a:r>
            <a:r>
              <a:rPr lang="nl-NL" altLang="zh-CN" sz="1400" b="1" dirty="0"/>
              <a:t> </a:t>
            </a:r>
            <a:r>
              <a:rPr lang="nl-NL" altLang="zh-CN" sz="1400" b="1" dirty="0" err="1"/>
              <a:t>RoI</a:t>
            </a:r>
            <a:r>
              <a:rPr lang="nl-NL" altLang="zh-CN" sz="1400" b="1" dirty="0"/>
              <a:t> </a:t>
            </a:r>
            <a:r>
              <a:rPr lang="nl-NL" altLang="zh-CN" sz="1400" b="1" dirty="0" err="1"/>
              <a:t>Extractor</a:t>
            </a:r>
            <a:r>
              <a:rPr lang="nl-NL" altLang="zh-CN" sz="1400" b="1" dirty="0"/>
              <a:t> </a:t>
            </a:r>
            <a:r>
              <a:rPr lang="nl-NL" altLang="zh-CN" sz="1400" dirty="0"/>
              <a:t>on RPN</a:t>
            </a:r>
            <a:endParaRPr lang="nl-NL" sz="1400" dirty="0"/>
          </a:p>
        </p:txBody>
      </p: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5DF5D98F-7A20-92DD-1081-537E048EE3F6}"/>
              </a:ext>
            </a:extLst>
          </p:cNvPr>
          <p:cNvSpPr/>
          <p:nvPr/>
        </p:nvSpPr>
        <p:spPr>
          <a:xfrm>
            <a:off x="598716" y="5215504"/>
            <a:ext cx="1085496" cy="483168"/>
          </a:xfrm>
          <a:prstGeom prst="wedgeRectCallout">
            <a:avLst>
              <a:gd name="adj1" fmla="val 40217"/>
              <a:gd name="adj2" fmla="val -798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400" b="1" dirty="0"/>
              <a:t>Cascade </a:t>
            </a:r>
            <a:r>
              <a:rPr lang="nl-NL" altLang="zh-CN" sz="1400" b="1" dirty="0" err="1"/>
              <a:t>structure</a:t>
            </a:r>
            <a:endParaRPr lang="nl-NL" sz="1400" b="1" dirty="0"/>
          </a:p>
        </p:txBody>
      </p:sp>
      <p:sp>
        <p:nvSpPr>
          <p:cNvPr id="22" name="对话气泡: 矩形 21">
            <a:extLst>
              <a:ext uri="{FF2B5EF4-FFF2-40B4-BE49-F238E27FC236}">
                <a16:creationId xmlns:a16="http://schemas.microsoft.com/office/drawing/2014/main" id="{4BF925BD-F582-BCA0-4409-EF2B53584659}"/>
              </a:ext>
            </a:extLst>
          </p:cNvPr>
          <p:cNvSpPr/>
          <p:nvPr/>
        </p:nvSpPr>
        <p:spPr>
          <a:xfrm>
            <a:off x="4966984" y="4071826"/>
            <a:ext cx="2135943" cy="821749"/>
          </a:xfrm>
          <a:prstGeom prst="wedgeRectCallout">
            <a:avLst>
              <a:gd name="adj1" fmla="val -86653"/>
              <a:gd name="adj2" fmla="val 510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altLang="zh-CN" sz="1400" b="1" dirty="0"/>
              <a:t>S</a:t>
            </a:r>
            <a:r>
              <a:rPr lang="nl-NL" sz="1400" b="1" dirty="0"/>
              <a:t>ide </a:t>
            </a:r>
            <a:r>
              <a:rPr lang="nl-NL" sz="1400" b="1" dirty="0" err="1"/>
              <a:t>Aware</a:t>
            </a:r>
            <a:r>
              <a:rPr lang="nl-NL" sz="1400" b="1" dirty="0"/>
              <a:t> </a:t>
            </a:r>
            <a:r>
              <a:rPr lang="nl-NL" sz="1400" b="1" dirty="0" err="1"/>
              <a:t>Boundary</a:t>
            </a:r>
            <a:r>
              <a:rPr lang="nl-NL" sz="1400" b="1" dirty="0"/>
              <a:t> </a:t>
            </a:r>
            <a:r>
              <a:rPr lang="nl-NL" sz="1400" b="1" dirty="0" err="1"/>
              <a:t>Localization</a:t>
            </a:r>
            <a:r>
              <a:rPr lang="nl-NL" sz="1400" b="1" dirty="0"/>
              <a:t> </a:t>
            </a:r>
            <a:r>
              <a:rPr lang="nl-NL" sz="1400" dirty="0"/>
              <a:t>on </a:t>
            </a:r>
            <a:r>
              <a:rPr lang="nl-NL" sz="1400" dirty="0" err="1"/>
              <a:t>Bounding</a:t>
            </a:r>
            <a:r>
              <a:rPr lang="nl-NL" sz="1400" dirty="0"/>
              <a:t> box </a:t>
            </a:r>
            <a:r>
              <a:rPr lang="nl-NL" sz="1400" dirty="0" err="1"/>
              <a:t>calculation</a:t>
            </a:r>
            <a:endParaRPr lang="nl-NL" sz="1400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7932-9812-342C-2748-492458D2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33181D-92CB-F16E-194D-F6D9D6914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rtlCol="0"/>
          <a:lstStyle/>
          <a:p>
            <a:pPr rtl="0"/>
            <a:r>
              <a:rPr lang="nl-NL" dirty="0"/>
              <a:t>In </a:t>
            </a:r>
            <a:r>
              <a:rPr lang="nl-NL" dirty="0" err="1"/>
              <a:t>future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18CC3A-CD4E-7105-9523-B9E94C458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nl-NL" dirty="0" err="1"/>
              <a:t>Unseen</a:t>
            </a:r>
            <a:r>
              <a:rPr lang="nl-NL" dirty="0"/>
              <a:t> Object </a:t>
            </a:r>
            <a:r>
              <a:rPr lang="nl-NL" dirty="0" err="1"/>
              <a:t>Amodal</a:t>
            </a:r>
            <a:r>
              <a:rPr lang="nl-NL" dirty="0"/>
              <a:t> </a:t>
            </a:r>
            <a:r>
              <a:rPr lang="nl-NL" dirty="0" err="1"/>
              <a:t>Instance</a:t>
            </a:r>
            <a:r>
              <a:rPr lang="nl-NL" dirty="0"/>
              <a:t> </a:t>
            </a:r>
            <a:r>
              <a:rPr lang="nl-NL" dirty="0" err="1"/>
              <a:t>Segmentation</a:t>
            </a:r>
            <a:r>
              <a:rPr lang="nl-NL" dirty="0"/>
              <a:t> via </a:t>
            </a:r>
            <a:r>
              <a:rPr lang="nl-NL" dirty="0" err="1"/>
              <a:t>Hierarchical</a:t>
            </a:r>
            <a:r>
              <a:rPr lang="nl-NL" dirty="0"/>
              <a:t> </a:t>
            </a:r>
            <a:r>
              <a:rPr lang="nl-NL" dirty="0" err="1"/>
              <a:t>Occlusion</a:t>
            </a:r>
            <a:r>
              <a:rPr lang="nl-NL" dirty="0"/>
              <a:t> </a:t>
            </a:r>
            <a:r>
              <a:rPr lang="nl-NL" dirty="0" err="1"/>
              <a:t>Modeling</a:t>
            </a:r>
            <a:endParaRPr lang="nl-NL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Robotic pick-and-place of novel objects in clutter with multi-affordance grasping and cross-domain image matching</a:t>
            </a:r>
            <a:endParaRPr lang="nl-NL" dirty="0"/>
          </a:p>
          <a:p>
            <a:endParaRPr lang="nl-NL" dirty="0"/>
          </a:p>
        </p:txBody>
      </p:sp>
      <p:sp>
        <p:nvSpPr>
          <p:cNvPr id="12" name="Tijdelijke aanduiding voor datum 11">
            <a:extLst>
              <a:ext uri="{FF2B5EF4-FFF2-40B4-BE49-F238E27FC236}">
                <a16:creationId xmlns:a16="http://schemas.microsoft.com/office/drawing/2014/main" id="{DC2C97FA-1DDD-8611-9D70-33376937C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nl-NL"/>
              <a:t>29-7-20XX</a:t>
            </a:r>
          </a:p>
        </p:txBody>
      </p:sp>
      <p:sp>
        <p:nvSpPr>
          <p:cNvPr id="13" name="Tijdelijke aanduiding voor voettekst 12">
            <a:extLst>
              <a:ext uri="{FF2B5EF4-FFF2-40B4-BE49-F238E27FC236}">
                <a16:creationId xmlns:a16="http://schemas.microsoft.com/office/drawing/2014/main" id="{2BF6DCC0-8284-98D7-9053-5FCD9F29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l-NL"/>
              <a:t>Oriëntatie werknemer</a:t>
            </a:r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1A36F3D5-BB0A-860A-51AC-789BFA74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1352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420" y="1221750"/>
            <a:ext cx="5013960" cy="1325563"/>
          </a:xfrm>
        </p:spPr>
        <p:txBody>
          <a:bodyPr rtlCol="0"/>
          <a:lstStyle/>
          <a:p>
            <a:pPr rtl="0"/>
            <a:r>
              <a:rPr lang="nl-NL" dirty="0" err="1"/>
              <a:t>Implementation-MMDetection</a:t>
            </a:r>
            <a:endParaRPr lang="nl-NL" dirty="0"/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5837F6CC-F87E-4BF6-9EFE-DA537BAB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nl-NL"/>
              <a:t>29-7-20XX</a:t>
            </a:r>
          </a:p>
        </p:txBody>
      </p:sp>
      <p:sp>
        <p:nvSpPr>
          <p:cNvPr id="12" name="Tijdelijke aanduiding voor voettekst 11">
            <a:extLst>
              <a:ext uri="{FF2B5EF4-FFF2-40B4-BE49-F238E27FC236}">
                <a16:creationId xmlns:a16="http://schemas.microsoft.com/office/drawing/2014/main" id="{E80EA4A2-4719-41C0-949E-AF9166C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l-NL"/>
              <a:t>Oriëntatie werknemer</a:t>
            </a:r>
          </a:p>
        </p:txBody>
      </p:sp>
      <p:sp>
        <p:nvSpPr>
          <p:cNvPr id="13" name="Tijdelijke aanduiding voor dianummer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6</a:t>
            </a:fld>
            <a:endParaRPr lang="nl-NL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2FC3C6-CCC5-E4AC-06C8-4C5EFF62D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391" y="2660195"/>
            <a:ext cx="8145012" cy="27245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15B759-8EA9-0DE4-A8CC-E5AB6DCDE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656" y="5632379"/>
            <a:ext cx="5058481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DDDD-C5F5-A1F3-C92A-1C6D0D4A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6A4C4-06C8-D9BC-3860-E3124448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424" y="-379669"/>
            <a:ext cx="9815594" cy="1305562"/>
          </a:xfrm>
        </p:spPr>
        <p:txBody>
          <a:bodyPr rtlCol="0"/>
          <a:lstStyle/>
          <a:p>
            <a:r>
              <a:rPr lang="nl-NL" altLang="zh-CN" dirty="0" err="1"/>
              <a:t>Mask</a:t>
            </a:r>
            <a:r>
              <a:rPr lang="nl-NL" altLang="zh-CN" dirty="0"/>
              <a:t> RCNN </a:t>
            </a:r>
            <a:r>
              <a:rPr lang="nl-NL" altLang="zh-CN" dirty="0" err="1"/>
              <a:t>and</a:t>
            </a:r>
            <a:r>
              <a:rPr lang="nl-NL" altLang="zh-CN" dirty="0"/>
              <a:t> </a:t>
            </a:r>
            <a:r>
              <a:rPr lang="nl-NL" altLang="zh-CN" dirty="0" err="1"/>
              <a:t>Mask</a:t>
            </a:r>
            <a:r>
              <a:rPr lang="nl-NL" altLang="zh-CN" dirty="0"/>
              <a:t> Scoring RCNN</a:t>
            </a:r>
            <a:endParaRPr lang="nl-NL" dirty="0"/>
          </a:p>
        </p:txBody>
      </p:sp>
      <p:sp>
        <p:nvSpPr>
          <p:cNvPr id="11" name="Tijdelijke aanduiding voor datum 10">
            <a:extLst>
              <a:ext uri="{FF2B5EF4-FFF2-40B4-BE49-F238E27FC236}">
                <a16:creationId xmlns:a16="http://schemas.microsoft.com/office/drawing/2014/main" id="{FB304459-96C0-D735-D8BE-F96AE065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nl-NL"/>
              <a:t>29-7-20XX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F983E69-AE16-203A-04E0-D82C4EC2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nl-NL"/>
              <a:t>Oriëntatie werknemer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F37CC4-1A58-54A5-264A-F1CB6003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nl-NL" smtClean="0"/>
              <a:pPr rtl="0"/>
              <a:t>7</a:t>
            </a:fld>
            <a:endParaRPr lang="nl-NL"/>
          </a:p>
        </p:txBody>
      </p:sp>
      <p:pic>
        <p:nvPicPr>
          <p:cNvPr id="6" name="图片 5" descr="草地上的椅子&#10;&#10;AI 生成的内容可能不正确。">
            <a:extLst>
              <a:ext uri="{FF2B5EF4-FFF2-40B4-BE49-F238E27FC236}">
                <a16:creationId xmlns:a16="http://schemas.microsoft.com/office/drawing/2014/main" id="{345FF9EA-6D77-95F5-B05B-417625CF2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85" y="1347473"/>
            <a:ext cx="3628571" cy="24209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C539D87-69EE-26FC-CE4D-477A2AD06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01" y="3986512"/>
            <a:ext cx="3766737" cy="2434926"/>
          </a:xfrm>
          <a:prstGeom prst="rect">
            <a:avLst/>
          </a:prstGeom>
        </p:spPr>
      </p:pic>
      <p:pic>
        <p:nvPicPr>
          <p:cNvPr id="10" name="图片 9" descr="路上有许多车&#10;&#10;AI 生成的内容可能不正确。">
            <a:extLst>
              <a:ext uri="{FF2B5EF4-FFF2-40B4-BE49-F238E27FC236}">
                <a16:creationId xmlns:a16="http://schemas.microsoft.com/office/drawing/2014/main" id="{4E0B9486-846F-0431-0FDE-01C7573FC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896" y="1328098"/>
            <a:ext cx="4201314" cy="23647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3436FB1-F3CC-910D-F072-08A98F32A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896" y="3944365"/>
            <a:ext cx="4283352" cy="240056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28571A5-B938-3073-C572-4074AEC9E374}"/>
              </a:ext>
            </a:extLst>
          </p:cNvPr>
          <p:cNvSpPr txBox="1"/>
          <p:nvPr/>
        </p:nvSpPr>
        <p:spPr>
          <a:xfrm>
            <a:off x="100045" y="711779"/>
            <a:ext cx="230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Based</a:t>
            </a:r>
            <a:r>
              <a:rPr lang="nl-NL" altLang="zh-CN" dirty="0"/>
              <a:t> on a well-</a:t>
            </a:r>
            <a:r>
              <a:rPr lang="nl-NL" altLang="zh-CN" dirty="0" err="1"/>
              <a:t>trained</a:t>
            </a:r>
            <a:r>
              <a:rPr lang="nl-NL" altLang="zh-CN" dirty="0"/>
              <a:t> </a:t>
            </a:r>
            <a:r>
              <a:rPr lang="nl-NL" altLang="zh-CN" dirty="0" err="1"/>
              <a:t>configuration</a:t>
            </a:r>
            <a:endParaRPr lang="nl-NL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E553A28-F787-5B76-0652-1A281EA2B2C8}"/>
              </a:ext>
            </a:extLst>
          </p:cNvPr>
          <p:cNvSpPr txBox="1"/>
          <p:nvPr/>
        </p:nvSpPr>
        <p:spPr>
          <a:xfrm>
            <a:off x="9301316" y="1897626"/>
            <a:ext cx="2890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Problem</a:t>
            </a:r>
            <a:r>
              <a:rPr lang="nl-NL" altLang="zh-CN" dirty="0"/>
              <a:t>:</a:t>
            </a:r>
            <a:r>
              <a:rPr lang="zh-CN" altLang="nl-NL" dirty="0"/>
              <a:t> </a:t>
            </a:r>
            <a:r>
              <a:rPr lang="nl-NL" altLang="zh-CN" dirty="0" err="1"/>
              <a:t>Extremly</a:t>
            </a:r>
            <a:r>
              <a:rPr lang="nl-NL" altLang="zh-CN" dirty="0"/>
              <a:t> slow on </a:t>
            </a:r>
            <a:r>
              <a:rPr lang="nl-NL" altLang="zh-CN" dirty="0" err="1"/>
              <a:t>this</a:t>
            </a:r>
            <a:r>
              <a:rPr lang="nl-NL" altLang="zh-CN" dirty="0"/>
              <a:t> </a:t>
            </a:r>
            <a:r>
              <a:rPr lang="nl-NL" altLang="zh-CN" dirty="0" err="1"/>
              <a:t>laptop’s</a:t>
            </a:r>
            <a:r>
              <a:rPr lang="nl-NL" altLang="zh-CN" dirty="0"/>
              <a:t> </a:t>
            </a:r>
            <a:r>
              <a:rPr lang="nl-NL" altLang="zh-CN" dirty="0" err="1"/>
              <a:t>gpu</a:t>
            </a:r>
            <a:r>
              <a:rPr lang="nl-NL" altLang="zh-CN" dirty="0"/>
              <a:t> training </a:t>
            </a:r>
            <a:r>
              <a:rPr lang="nl-NL" altLang="zh-CN" dirty="0" err="1"/>
              <a:t>the</a:t>
            </a:r>
            <a:r>
              <a:rPr lang="nl-NL" altLang="zh-CN" dirty="0"/>
              <a:t> model </a:t>
            </a:r>
            <a:r>
              <a:rPr lang="nl-NL" altLang="zh-CN" dirty="0" err="1"/>
              <a:t>with</a:t>
            </a:r>
            <a:r>
              <a:rPr lang="nl-NL" altLang="zh-CN" dirty="0"/>
              <a:t> new dataset </a:t>
            </a:r>
            <a:endParaRPr lang="nl-NL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0D2DE9F-0E0E-7A4E-0461-D248E3698D0B}"/>
              </a:ext>
            </a:extLst>
          </p:cNvPr>
          <p:cNvSpPr txBox="1"/>
          <p:nvPr/>
        </p:nvSpPr>
        <p:spPr>
          <a:xfrm>
            <a:off x="9141543" y="4069688"/>
            <a:ext cx="2989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altLang="zh-CN" dirty="0" err="1"/>
              <a:t>Potential</a:t>
            </a:r>
            <a:r>
              <a:rPr lang="nl-NL" altLang="zh-CN" dirty="0"/>
              <a:t> Solution: </a:t>
            </a:r>
            <a:r>
              <a:rPr lang="nl-NL" altLang="zh-CN" dirty="0" err="1"/>
              <a:t>Lower</a:t>
            </a:r>
            <a:r>
              <a:rPr lang="nl-NL" altLang="zh-CN" dirty="0"/>
              <a:t> </a:t>
            </a:r>
            <a:r>
              <a:rPr lang="nl-NL" altLang="zh-CN" dirty="0" err="1"/>
              <a:t>Resolution</a:t>
            </a:r>
            <a:r>
              <a:rPr lang="nl-NL" altLang="zh-CN" dirty="0"/>
              <a:t>, small batch </a:t>
            </a:r>
            <a:r>
              <a:rPr lang="nl-NL" altLang="zh-CN" dirty="0" err="1"/>
              <a:t>size</a:t>
            </a:r>
            <a:r>
              <a:rPr lang="nl-NL" altLang="zh-CN" dirty="0"/>
              <a:t>, small </a:t>
            </a:r>
            <a:r>
              <a:rPr lang="nl-NL" altLang="zh-CN" dirty="0" err="1"/>
              <a:t>number</a:t>
            </a:r>
            <a:r>
              <a:rPr lang="nl-NL" altLang="zh-CN" dirty="0"/>
              <a:t> of </a:t>
            </a:r>
            <a:r>
              <a:rPr lang="nl-NL" altLang="zh-CN" dirty="0" err="1"/>
              <a:t>workers</a:t>
            </a:r>
            <a:r>
              <a:rPr lang="nl-NL" altLang="zh-CN" dirty="0"/>
              <a:t>, </a:t>
            </a:r>
            <a:r>
              <a:rPr lang="nl-NL" dirty="0" err="1"/>
              <a:t>AmpOptimWrapper</a:t>
            </a:r>
            <a:r>
              <a:rPr lang="nl-NL" dirty="0"/>
              <a:t> </a:t>
            </a:r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optim_wrapper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959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97F5-9B20-D89E-93E7-B3823957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03DCF2-C59B-F9DA-EC45-9D8350642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rtlCol="0"/>
          <a:lstStyle/>
          <a:p>
            <a:pPr rtl="0"/>
            <a:r>
              <a:rPr lang="nl-NL" dirty="0"/>
              <a:t>In </a:t>
            </a:r>
            <a:r>
              <a:rPr lang="nl-NL" dirty="0" err="1"/>
              <a:t>future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F24322-126F-9B3C-3988-C1C392D39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1140" y="2539903"/>
            <a:ext cx="5684520" cy="3181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Tx/>
              <a:buChar char="-"/>
            </a:pPr>
            <a:r>
              <a:rPr lang="nl-NL" dirty="0"/>
              <a:t>Data </a:t>
            </a:r>
            <a:r>
              <a:rPr lang="nl-NL" dirty="0" err="1"/>
              <a:t>annotation</a:t>
            </a:r>
            <a:r>
              <a:rPr lang="nl-NL" dirty="0"/>
              <a:t> (must in COCO format)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nl-NL" dirty="0"/>
              <a:t>Train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altLang="zh-CN" dirty="0"/>
              <a:t>new dataset </a:t>
            </a:r>
            <a:endParaRPr lang="nl-NL" dirty="0"/>
          </a:p>
          <a:p>
            <a:endParaRPr lang="nl-NL" dirty="0"/>
          </a:p>
        </p:txBody>
      </p:sp>
      <p:sp>
        <p:nvSpPr>
          <p:cNvPr id="12" name="Tijdelijke aanduiding voor datum 11">
            <a:extLst>
              <a:ext uri="{FF2B5EF4-FFF2-40B4-BE49-F238E27FC236}">
                <a16:creationId xmlns:a16="http://schemas.microsoft.com/office/drawing/2014/main" id="{CF5AACB7-B29A-1FBE-37F1-A8381BCA1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nl-NL"/>
              <a:t>29-7-20XX</a:t>
            </a:r>
          </a:p>
        </p:txBody>
      </p:sp>
      <p:sp>
        <p:nvSpPr>
          <p:cNvPr id="13" name="Tijdelijke aanduiding voor voettekst 12">
            <a:extLst>
              <a:ext uri="{FF2B5EF4-FFF2-40B4-BE49-F238E27FC236}">
                <a16:creationId xmlns:a16="http://schemas.microsoft.com/office/drawing/2014/main" id="{7AACC58E-BE16-B514-BC1A-4D95D679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nl-NL"/>
              <a:t>Oriëntatie werknemer</a:t>
            </a:r>
          </a:p>
        </p:txBody>
      </p:sp>
      <p:sp>
        <p:nvSpPr>
          <p:cNvPr id="14" name="Tijdelijke aanduiding voor dianummer 13">
            <a:extLst>
              <a:ext uri="{FF2B5EF4-FFF2-40B4-BE49-F238E27FC236}">
                <a16:creationId xmlns:a16="http://schemas.microsoft.com/office/drawing/2014/main" id="{29A1714F-94C7-81E0-F56A-08B6638E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nl-NL" smtClean="0"/>
              <a:pPr rtl="0"/>
              <a:t>8</a:t>
            </a:fld>
            <a:endParaRPr lang="nl-NL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F4B1B5-EFB1-2F70-A9B9-E87DB7EFD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819" y="1171940"/>
            <a:ext cx="2589277" cy="35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21202"/>
      </p:ext>
    </p:extLst>
  </p:cSld>
  <p:clrMapOvr>
    <a:masterClrMapping/>
  </p:clrMapOvr>
</p:sld>
</file>

<file path=ppt/theme/theme1.xml><?xml version="1.0" encoding="utf-8"?>
<a:theme xmlns:a="http://schemas.openxmlformats.org/drawingml/2006/main" name="Aangepast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197_TF03460514_Win32" id="{9A2976D9-D6A2-4C72-AA54-D6D4585DC826}" vid="{E979CFFE-0E1D-4C6F-8738-47AC19B53918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{3D615D34-E88E-4823-8048-63FAB03637EE}TFb86055d1-6a43-42b6-93a8-3e59ea4e3a70f65cd183_win32-8c0c48a7e9d1</Template>
  <TotalTime>0</TotalTime>
  <Words>211</Words>
  <Application>Microsoft Office PowerPoint</Application>
  <PresentationFormat>宽屏</PresentationFormat>
  <Paragraphs>60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Calibri</vt:lpstr>
      <vt:lpstr>Skeena</vt:lpstr>
      <vt:lpstr>Times New Roman</vt:lpstr>
      <vt:lpstr>Aangepast</vt:lpstr>
      <vt:lpstr>Mask-RCNN and Implementation</vt:lpstr>
      <vt:lpstr>Models and Relative Paper</vt:lpstr>
      <vt:lpstr>MasU-RCNN</vt:lpstr>
      <vt:lpstr>Improved Cascade Mask RCNN</vt:lpstr>
      <vt:lpstr>In future</vt:lpstr>
      <vt:lpstr>Implementation-MMDetection</vt:lpstr>
      <vt:lpstr>Mask RCNN and Mask Scoring RCNN</vt:lpstr>
      <vt:lpstr>In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 Jiang</dc:creator>
  <cp:lastModifiedBy>Hua Jiang</cp:lastModifiedBy>
  <cp:revision>4</cp:revision>
  <dcterms:created xsi:type="dcterms:W3CDTF">2025-09-10T08:12:10Z</dcterms:created>
  <dcterms:modified xsi:type="dcterms:W3CDTF">2025-09-10T15:12:12Z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