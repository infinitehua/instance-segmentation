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79" r:id="rId3"/>
    <p:sldId id="280" r:id="rId4"/>
    <p:sldId id="283" r:id="rId5"/>
    <p:sldId id="287" r:id="rId6"/>
    <p:sldId id="288" r:id="rId7"/>
    <p:sldId id="269" r:id="rId8"/>
    <p:sldId id="289" r:id="rId9"/>
    <p:sldId id="28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D8A0319-AE46-77C0-E20B-0BFF79B7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69" b="72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83913-82E9-0231-BFD7-5D2FB4EF169E}"/>
              </a:ext>
            </a:extLst>
          </p:cNvPr>
          <p:cNvSpPr/>
          <p:nvPr/>
        </p:nvSpPr>
        <p:spPr>
          <a:xfrm>
            <a:off x="5968093" y="-10"/>
            <a:ext cx="622388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2F46A7-62AF-5535-A89E-4BC72FD6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2985" y="1444010"/>
            <a:ext cx="6649433" cy="3969960"/>
          </a:xfrm>
        </p:spPr>
        <p:txBody>
          <a:bodyPr anchor="t">
            <a:normAutofit/>
          </a:bodyPr>
          <a:lstStyle/>
          <a:p>
            <a:pPr algn="ctr"/>
            <a:r>
              <a:rPr lang="nl-NL" altLang="zh-CN" sz="4400" dirty="0">
                <a:solidFill>
                  <a:schemeClr val="bg1"/>
                </a:solidFill>
              </a:rPr>
              <a:t>Optimization2 of </a:t>
            </a:r>
            <a:r>
              <a:rPr lang="nl-NL" sz="4400" dirty="0">
                <a:solidFill>
                  <a:schemeClr val="bg1"/>
                </a:solidFill>
              </a:rPr>
              <a:t>Stem </a:t>
            </a:r>
            <a:r>
              <a:rPr lang="nl-NL" sz="4400" dirty="0" err="1">
                <a:solidFill>
                  <a:schemeClr val="bg1"/>
                </a:solidFill>
              </a:rPr>
              <a:t>Pa</a:t>
            </a:r>
            <a:r>
              <a:rPr lang="nl-NL" altLang="zh-CN" sz="4400" dirty="0" err="1">
                <a:solidFill>
                  <a:schemeClr val="bg1"/>
                </a:solidFill>
              </a:rPr>
              <a:t>i</a:t>
            </a:r>
            <a:r>
              <a:rPr lang="nl-NL" sz="4400" dirty="0" err="1">
                <a:solidFill>
                  <a:schemeClr val="bg1"/>
                </a:solidFill>
              </a:rPr>
              <a:t>ring</a:t>
            </a:r>
            <a:endParaRPr lang="nl-NL" sz="4400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0C22-AD4C-689C-7C2C-25DA475A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087" y="3332996"/>
            <a:ext cx="4381634" cy="1157436"/>
          </a:xfrm>
        </p:spPr>
        <p:txBody>
          <a:bodyPr anchor="b">
            <a:normAutofit/>
          </a:bodyPr>
          <a:lstStyle/>
          <a:p>
            <a:r>
              <a:rPr lang="nl-NL" sz="2800" dirty="0">
                <a:solidFill>
                  <a:schemeClr val="bg1"/>
                </a:solidFill>
              </a:rPr>
              <a:t>Week 9 Hua Jiang</a:t>
            </a:r>
          </a:p>
        </p:txBody>
      </p:sp>
      <p:pic>
        <p:nvPicPr>
          <p:cNvPr id="8" name="图片 7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A00BF404-D0B4-323B-9B0F-EB152E1AF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4" y="978152"/>
            <a:ext cx="5559064" cy="555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1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624B-7869-A8F7-73D4-CBBC4E73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78AF324-6C44-CDF3-A9CC-85C5A9B54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C4D4444C-26FE-8C04-0C04-2FAC745B2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844" y="-63612"/>
            <a:ext cx="12066815" cy="373584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endParaRPr lang="nl-NL" altLang="zh-CN" dirty="0"/>
          </a:p>
          <a:p>
            <a:r>
              <a:rPr lang="nl-NL" altLang="zh-CN" sz="2800" dirty="0" err="1"/>
              <a:t>Two</a:t>
            </a:r>
            <a:r>
              <a:rPr lang="nl-NL" altLang="zh-CN" sz="2800" dirty="0"/>
              <a:t> </a:t>
            </a:r>
            <a:r>
              <a:rPr lang="nl-NL" altLang="zh-CN" sz="2800" dirty="0" err="1"/>
              <a:t>main</a:t>
            </a:r>
            <a:r>
              <a:rPr lang="nl-NL" altLang="zh-CN" sz="2800" dirty="0"/>
              <a:t> </a:t>
            </a:r>
            <a:r>
              <a:rPr lang="nl-NL" altLang="zh-CN" sz="2800" dirty="0" err="1"/>
              <a:t>flaws</a:t>
            </a:r>
            <a:r>
              <a:rPr lang="nl-NL" altLang="zh-CN" sz="2800" dirty="0"/>
              <a:t> of </a:t>
            </a:r>
            <a:r>
              <a:rPr lang="nl-NL" altLang="zh-CN" sz="2800" dirty="0" err="1"/>
              <a:t>the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algorithm</a:t>
            </a:r>
            <a:r>
              <a:rPr lang="nl-NL" altLang="zh-CN" sz="2800" dirty="0"/>
              <a:t> logic:</a:t>
            </a:r>
          </a:p>
          <a:p>
            <a:endParaRPr lang="nl-NL" altLang="zh-CN" sz="2800" dirty="0"/>
          </a:p>
          <a:p>
            <a:pPr marL="457200" indent="-457200">
              <a:buAutoNum type="arabicPeriod"/>
            </a:pPr>
            <a:r>
              <a:rPr lang="nl-NL" altLang="zh-CN" dirty="0" err="1"/>
              <a:t>Another</a:t>
            </a:r>
            <a:r>
              <a:rPr lang="nl-NL" altLang="zh-CN" dirty="0"/>
              <a:t> type of </a:t>
            </a:r>
            <a:r>
              <a:rPr lang="nl-NL" altLang="zh-CN" dirty="0" err="1"/>
              <a:t>false</a:t>
            </a:r>
            <a:r>
              <a:rPr lang="nl-NL" altLang="zh-CN" dirty="0"/>
              <a:t> </a:t>
            </a:r>
            <a:r>
              <a:rPr lang="nl-NL" altLang="zh-CN" dirty="0" err="1"/>
              <a:t>pairing</a:t>
            </a:r>
            <a:endParaRPr lang="nl-NL" altLang="zh-CN" dirty="0"/>
          </a:p>
          <a:p>
            <a:pPr marL="457200" indent="-457200">
              <a:buAutoNum type="arabicPeriod"/>
            </a:pPr>
            <a:endParaRPr lang="nl-NL" altLang="zh-CN" dirty="0"/>
          </a:p>
          <a:p>
            <a:r>
              <a:rPr lang="nl-NL" dirty="0"/>
              <a:t>2. </a:t>
            </a:r>
            <a:r>
              <a:rPr lang="nl-NL" dirty="0" err="1"/>
              <a:t>Flaws</a:t>
            </a:r>
            <a:r>
              <a:rPr lang="nl-NL" dirty="0"/>
              <a:t> in small score </a:t>
            </a:r>
            <a:r>
              <a:rPr lang="nl-NL" dirty="0" err="1"/>
              <a:t>strategy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7252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7CF9-EF1D-332F-2962-93C02340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127249A2-B63C-963C-CC72-DFE247459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12EE759-BD15-6F80-5E9E-8F85AA59B5C5}"/>
              </a:ext>
            </a:extLst>
          </p:cNvPr>
          <p:cNvSpPr txBox="1"/>
          <p:nvPr/>
        </p:nvSpPr>
        <p:spPr>
          <a:xfrm>
            <a:off x="200947" y="207748"/>
            <a:ext cx="1141375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1. </a:t>
            </a:r>
            <a:r>
              <a:rPr lang="nl-NL" altLang="zh-CN" sz="2800" dirty="0" err="1"/>
              <a:t>Another</a:t>
            </a:r>
            <a:r>
              <a:rPr lang="nl-NL" altLang="zh-CN" sz="2800" dirty="0"/>
              <a:t> type of </a:t>
            </a:r>
            <a:r>
              <a:rPr lang="nl-NL" altLang="zh-CN" sz="2800" dirty="0" err="1"/>
              <a:t>false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pairing</a:t>
            </a:r>
            <a:endParaRPr lang="nl-NL" altLang="zh-CN" sz="2800" dirty="0"/>
          </a:p>
          <a:p>
            <a:endParaRPr lang="nl-NL" sz="2800" dirty="0"/>
          </a:p>
          <a:p>
            <a:r>
              <a:rPr lang="nl-NL" sz="2800" dirty="0"/>
              <a:t>Last week: </a:t>
            </a:r>
            <a:r>
              <a:rPr lang="nl-NL" sz="2800" dirty="0" err="1"/>
              <a:t>Solve</a:t>
            </a:r>
            <a:r>
              <a:rPr lang="nl-NL" sz="2800" dirty="0"/>
              <a:t> </a:t>
            </a:r>
            <a:r>
              <a:rPr lang="nl-NL" sz="2800" dirty="0" err="1"/>
              <a:t>Rhombus</a:t>
            </a:r>
            <a:r>
              <a:rPr lang="nl-NL" sz="2800" dirty="0"/>
              <a:t> </a:t>
            </a:r>
            <a:r>
              <a:rPr lang="nl-NL" sz="2800" dirty="0" err="1"/>
              <a:t>segmentations</a:t>
            </a:r>
            <a:r>
              <a:rPr lang="nl-NL" sz="2800" dirty="0"/>
              <a:t> </a:t>
            </a:r>
            <a:r>
              <a:rPr lang="nl-NL" sz="2800" dirty="0" err="1"/>
              <a:t>problem</a:t>
            </a:r>
            <a:endParaRPr lang="nl-NL" altLang="zh-CN" sz="2400" dirty="0"/>
          </a:p>
          <a:p>
            <a:endParaRPr lang="nl-NL" altLang="zh-CN" sz="2400" dirty="0"/>
          </a:p>
          <a:p>
            <a:r>
              <a:rPr lang="nl-NL" altLang="zh-CN" sz="2400" dirty="0"/>
              <a:t>(1) filter out small </a:t>
            </a:r>
            <a:r>
              <a:rPr lang="nl-NL" altLang="zh-CN" sz="2400" dirty="0" err="1"/>
              <a:t>segmentation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when</a:t>
            </a:r>
            <a:r>
              <a:rPr lang="nl-NL" altLang="zh-CN" sz="2400" dirty="0"/>
              <a:t> pixels &lt; 100</a:t>
            </a:r>
          </a:p>
          <a:p>
            <a:endParaRPr lang="nl-NL" altLang="zh-CN" sz="2400" dirty="0"/>
          </a:p>
          <a:p>
            <a:r>
              <a:rPr lang="nl-NL" altLang="zh-CN" sz="2400" dirty="0"/>
              <a:t>(2) </a:t>
            </a:r>
            <a:r>
              <a:rPr lang="nl-NL" altLang="zh-CN" sz="2400" dirty="0" err="1"/>
              <a:t>Add</a:t>
            </a:r>
            <a:r>
              <a:rPr lang="nl-NL" altLang="zh-CN" sz="2400" dirty="0"/>
              <a:t> filter on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pairing</a:t>
            </a:r>
            <a:r>
              <a:rPr lang="nl-NL" altLang="zh-CN" sz="2400" dirty="0"/>
              <a:t> </a:t>
            </a:r>
            <a:r>
              <a:rPr lang="nl-NL" altLang="zh-CN" sz="2400" dirty="0" err="1"/>
              <a:t>strategy</a:t>
            </a:r>
            <a:r>
              <a:rPr lang="nl-NL" altLang="zh-CN" sz="2400" dirty="0"/>
              <a:t>: </a:t>
            </a:r>
          </a:p>
          <a:p>
            <a:endParaRPr lang="nl-NL" altLang="zh-CN" sz="2400" dirty="0"/>
          </a:p>
          <a:p>
            <a:r>
              <a:rPr lang="nl-NL" altLang="zh-CN" sz="2400" dirty="0"/>
              <a:t>Stem A as base stem, </a:t>
            </a:r>
            <a:r>
              <a:rPr lang="nl-NL" altLang="zh-CN" sz="2400" dirty="0" err="1"/>
              <a:t>if</a:t>
            </a:r>
            <a:r>
              <a:rPr lang="nl-NL" altLang="zh-CN" sz="2400" dirty="0"/>
              <a:t> Stem B is </a:t>
            </a:r>
            <a:r>
              <a:rPr lang="nl-NL" altLang="zh-CN" sz="2400" dirty="0" err="1"/>
              <a:t>its</a:t>
            </a:r>
            <a:r>
              <a:rPr lang="nl-NL" altLang="zh-CN" sz="2400" dirty="0"/>
              <a:t> best </a:t>
            </a:r>
            <a:r>
              <a:rPr lang="nl-NL" altLang="zh-CN" sz="2400" dirty="0" err="1"/>
              <a:t>candidates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with</a:t>
            </a:r>
            <a:r>
              <a:rPr lang="nl-NL" altLang="zh-CN" sz="2400" dirty="0"/>
              <a:t> </a:t>
            </a:r>
            <a:r>
              <a:rPr lang="nl-NL" altLang="zh-CN" sz="2400" u="sng" dirty="0" err="1"/>
              <a:t>lowest</a:t>
            </a:r>
            <a:r>
              <a:rPr lang="nl-NL" altLang="zh-CN" sz="2400" u="sng" dirty="0"/>
              <a:t> score b</a:t>
            </a:r>
            <a:r>
              <a:rPr lang="nl-NL" altLang="zh-CN" sz="2400" dirty="0"/>
              <a:t>, we must check, </a:t>
            </a:r>
            <a:r>
              <a:rPr lang="nl-NL" altLang="zh-CN" sz="2400" dirty="0" err="1"/>
              <a:t>for</a:t>
            </a:r>
            <a:r>
              <a:rPr lang="nl-NL" altLang="zh-CN" sz="2400" dirty="0"/>
              <a:t> Stem B as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base stem, </a:t>
            </a:r>
            <a:r>
              <a:rPr lang="nl-NL" altLang="zh-CN" sz="2400" dirty="0" err="1"/>
              <a:t>if</a:t>
            </a:r>
            <a:r>
              <a:rPr lang="nl-NL" altLang="zh-CN" sz="2400" dirty="0"/>
              <a:t> </a:t>
            </a:r>
            <a:r>
              <a:rPr lang="nl-NL" altLang="zh-CN" sz="2400" u="sng" dirty="0"/>
              <a:t>Stem A score a </a:t>
            </a:r>
            <a:r>
              <a:rPr lang="nl-NL" altLang="zh-CN" sz="2400" dirty="0"/>
              <a:t>is </a:t>
            </a:r>
            <a:r>
              <a:rPr lang="nl-NL" altLang="zh-CN" sz="2400" dirty="0" err="1"/>
              <a:t>not</a:t>
            </a:r>
            <a:r>
              <a:rPr lang="nl-NL" altLang="zh-CN" sz="2400" dirty="0"/>
              <a:t> </a:t>
            </a:r>
            <a:r>
              <a:rPr lang="nl-NL" altLang="zh-CN" sz="2400" dirty="0" err="1"/>
              <a:t>much</a:t>
            </a:r>
            <a:r>
              <a:rPr lang="nl-NL" altLang="zh-CN" sz="2400" dirty="0"/>
              <a:t> different </a:t>
            </a:r>
            <a:r>
              <a:rPr lang="nl-NL" altLang="zh-CN" sz="2400" dirty="0" err="1"/>
              <a:t>from</a:t>
            </a:r>
            <a:r>
              <a:rPr lang="nl-NL" altLang="zh-CN" sz="2400" dirty="0"/>
              <a:t> </a:t>
            </a:r>
            <a:r>
              <a:rPr lang="nl-NL" altLang="zh-CN" sz="2400" u="sng" dirty="0"/>
              <a:t>Stem B score b</a:t>
            </a:r>
            <a:r>
              <a:rPr lang="nl-NL" altLang="zh-CN" sz="2400" dirty="0"/>
              <a:t>. </a:t>
            </a:r>
          </a:p>
          <a:p>
            <a:endParaRPr lang="nl-NL" altLang="zh-CN" sz="2400" dirty="0"/>
          </a:p>
          <a:p>
            <a:r>
              <a:rPr lang="nl-NL" altLang="zh-CN" sz="2400" dirty="0" err="1"/>
              <a:t>If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abs</a:t>
            </a:r>
            <a:r>
              <a:rPr lang="nl-NL" altLang="zh-CN" sz="2400" dirty="0"/>
              <a:t>(a - b) &gt; 30, </a:t>
            </a:r>
            <a:r>
              <a:rPr lang="nl-NL" altLang="zh-CN" sz="2400" dirty="0" err="1"/>
              <a:t>this</a:t>
            </a:r>
            <a:r>
              <a:rPr lang="nl-NL" altLang="zh-CN" sz="2400" dirty="0"/>
              <a:t> is a </a:t>
            </a:r>
            <a:r>
              <a:rPr lang="nl-NL" altLang="zh-CN" sz="2400" dirty="0" err="1"/>
              <a:t>false</a:t>
            </a:r>
            <a:r>
              <a:rPr lang="nl-NL" altLang="zh-CN" sz="2400" dirty="0"/>
              <a:t> pairing. </a:t>
            </a:r>
            <a:r>
              <a:rPr lang="nl-NL" altLang="zh-CN" sz="2400" dirty="0" err="1"/>
              <a:t>Then</a:t>
            </a:r>
            <a:r>
              <a:rPr lang="nl-NL" altLang="zh-CN" sz="2400" dirty="0"/>
              <a:t> Stem A has </a:t>
            </a:r>
            <a:r>
              <a:rPr lang="nl-NL" altLang="zh-CN" sz="2400" dirty="0" err="1"/>
              <a:t>to</a:t>
            </a:r>
            <a:r>
              <a:rPr lang="nl-NL" altLang="zh-CN" sz="2400" dirty="0"/>
              <a:t> move </a:t>
            </a:r>
            <a:r>
              <a:rPr lang="nl-NL" altLang="zh-CN" sz="2400" dirty="0" err="1"/>
              <a:t>to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second best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iterately</a:t>
            </a:r>
            <a:r>
              <a:rPr lang="nl-NL" altLang="zh-CN" sz="2400" dirty="0"/>
              <a:t> check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if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filter </a:t>
            </a:r>
            <a:r>
              <a:rPr lang="nl-NL" altLang="zh-CN" sz="2400" dirty="0" err="1"/>
              <a:t>condition</a:t>
            </a:r>
            <a:r>
              <a:rPr lang="nl-NL" altLang="zh-CN" sz="2400" dirty="0"/>
              <a:t> is </a:t>
            </a:r>
            <a:r>
              <a:rPr lang="nl-NL" altLang="zh-CN" sz="2400" dirty="0" err="1"/>
              <a:t>satisfied</a:t>
            </a:r>
            <a:endParaRPr lang="nl-NL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884B02-A21B-FC60-8740-30F200C71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234" y="207748"/>
            <a:ext cx="2871819" cy="2331423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1F03EF4-4438-7A53-D01C-6A89D8458CA1}"/>
              </a:ext>
            </a:extLst>
          </p:cNvPr>
          <p:cNvCxnSpPr/>
          <p:nvPr/>
        </p:nvCxnSpPr>
        <p:spPr>
          <a:xfrm>
            <a:off x="10201582" y="825727"/>
            <a:ext cx="648929" cy="153383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EC10E7A-E539-45F3-5F64-45A0B232D8DA}"/>
              </a:ext>
            </a:extLst>
          </p:cNvPr>
          <p:cNvCxnSpPr>
            <a:cxnSpLocks/>
          </p:cNvCxnSpPr>
          <p:nvPr/>
        </p:nvCxnSpPr>
        <p:spPr>
          <a:xfrm>
            <a:off x="10358898" y="753330"/>
            <a:ext cx="73741" cy="1678626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9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9C0A-A820-7AF2-5685-10765B5A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天空中的彩色图案">
            <a:extLst>
              <a:ext uri="{FF2B5EF4-FFF2-40B4-BE49-F238E27FC236}">
                <a16:creationId xmlns:a16="http://schemas.microsoft.com/office/drawing/2014/main" id="{3F4D1D67-C246-7C0C-E8F3-6C17737556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pic>
        <p:nvPicPr>
          <p:cNvPr id="9" name="图片 8" descr="电脑的屏幕&#10;&#10;AI 生成的内容可能不正确。">
            <a:extLst>
              <a:ext uri="{FF2B5EF4-FFF2-40B4-BE49-F238E27FC236}">
                <a16:creationId xmlns:a16="http://schemas.microsoft.com/office/drawing/2014/main" id="{B5A1CFBB-AA0A-EA5D-0499-A8D212755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629" y="85466"/>
            <a:ext cx="6039048" cy="6039046"/>
          </a:xfrm>
          <a:prstGeom prst="rect">
            <a:avLst/>
          </a:prstGeom>
        </p:spPr>
      </p:pic>
      <p:pic>
        <p:nvPicPr>
          <p:cNvPr id="5" name="图片 4" descr="电脑的屏幕&#10;&#10;AI 生成的内容可能不正确。">
            <a:extLst>
              <a:ext uri="{FF2B5EF4-FFF2-40B4-BE49-F238E27FC236}">
                <a16:creationId xmlns:a16="http://schemas.microsoft.com/office/drawing/2014/main" id="{672481C3-44EC-C3AE-4D21-5B62BA928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631" y="770316"/>
            <a:ext cx="5189803" cy="518980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CDDA8F-EB12-BD2A-5BC1-08E77718B64D}"/>
              </a:ext>
            </a:extLst>
          </p:cNvPr>
          <p:cNvSpPr txBox="1"/>
          <p:nvPr/>
        </p:nvSpPr>
        <p:spPr>
          <a:xfrm>
            <a:off x="-427166" y="-58887"/>
            <a:ext cx="54783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1. </a:t>
            </a:r>
            <a:r>
              <a:rPr lang="nl-NL" altLang="zh-CN" sz="2800" dirty="0" err="1"/>
              <a:t>Another</a:t>
            </a:r>
            <a:r>
              <a:rPr lang="nl-NL" altLang="zh-CN" sz="2800" dirty="0"/>
              <a:t> type of </a:t>
            </a:r>
            <a:r>
              <a:rPr lang="nl-NL" altLang="zh-CN" sz="2800" dirty="0" err="1"/>
              <a:t>false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pairing</a:t>
            </a:r>
            <a:endParaRPr lang="nl-NL" altLang="zh-CN" sz="2800" dirty="0"/>
          </a:p>
          <a:p>
            <a:endParaRPr lang="nl-NL" altLang="zh-CN" sz="2400" dirty="0"/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64DE9ED5-37D8-5024-38FF-245FF2A07871}"/>
              </a:ext>
            </a:extLst>
          </p:cNvPr>
          <p:cNvSpPr/>
          <p:nvPr/>
        </p:nvSpPr>
        <p:spPr>
          <a:xfrm>
            <a:off x="1978024" y="1189389"/>
            <a:ext cx="1130300" cy="590022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Base Stem</a:t>
            </a:r>
            <a:endParaRPr lang="nl-NL" dirty="0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853CBC91-F0FC-1BE1-2337-DCC0E4FFF517}"/>
              </a:ext>
            </a:extLst>
          </p:cNvPr>
          <p:cNvSpPr/>
          <p:nvPr/>
        </p:nvSpPr>
        <p:spPr>
          <a:xfrm>
            <a:off x="186134" y="2981853"/>
            <a:ext cx="1330325" cy="590022"/>
          </a:xfrm>
          <a:prstGeom prst="wedgeRoundRectCallout">
            <a:avLst>
              <a:gd name="adj1" fmla="val 77482"/>
              <a:gd name="adj2" fmla="val 129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Partner</a:t>
            </a:r>
            <a:endParaRPr lang="nl-NL" dirty="0"/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15257CF3-A269-41AC-00D6-BA2802A03267}"/>
              </a:ext>
            </a:extLst>
          </p:cNvPr>
          <p:cNvSpPr/>
          <p:nvPr/>
        </p:nvSpPr>
        <p:spPr>
          <a:xfrm>
            <a:off x="2527271" y="2419201"/>
            <a:ext cx="1631261" cy="793125"/>
          </a:xfrm>
          <a:prstGeom prst="wedgeRoundRectCallout">
            <a:avLst>
              <a:gd name="adj1" fmla="val -66339"/>
              <a:gd name="adj2" fmla="val 5604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Second best </a:t>
            </a:r>
            <a:r>
              <a:rPr lang="nl-NL" altLang="zh-CN" dirty="0" err="1"/>
              <a:t>candidate</a:t>
            </a:r>
            <a:endParaRPr lang="nl-NL" dirty="0"/>
          </a:p>
        </p:txBody>
      </p: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D770224A-6375-EEA8-8ACD-D77355201F6A}"/>
              </a:ext>
            </a:extLst>
          </p:cNvPr>
          <p:cNvSpPr/>
          <p:nvPr/>
        </p:nvSpPr>
        <p:spPr>
          <a:xfrm>
            <a:off x="5364627" y="1386328"/>
            <a:ext cx="2001837" cy="1154817"/>
          </a:xfrm>
          <a:prstGeom prst="wedgeRoundRectCallout">
            <a:avLst>
              <a:gd name="adj1" fmla="val 75721"/>
              <a:gd name="adj2" fmla="val 9258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Not</a:t>
            </a:r>
            <a:r>
              <a:rPr lang="nl-NL" altLang="zh-CN" dirty="0"/>
              <a:t> </a:t>
            </a:r>
            <a:r>
              <a:rPr lang="nl-NL" altLang="zh-CN" dirty="0" err="1"/>
              <a:t>Picked</a:t>
            </a:r>
            <a:r>
              <a:rPr lang="nl-NL" altLang="zh-CN" dirty="0"/>
              <a:t> </a:t>
            </a:r>
            <a:r>
              <a:rPr lang="nl-NL" altLang="zh-CN" dirty="0" err="1"/>
              <a:t>by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best </a:t>
            </a:r>
            <a:r>
              <a:rPr lang="nl-NL" altLang="zh-CN" dirty="0" err="1"/>
              <a:t>candidate</a:t>
            </a:r>
            <a:r>
              <a:rPr lang="nl-NL" altLang="zh-CN" dirty="0"/>
              <a:t> </a:t>
            </a:r>
            <a:r>
              <a:rPr lang="nl-NL" altLang="zh-CN" dirty="0" err="1"/>
              <a:t>with</a:t>
            </a:r>
            <a:r>
              <a:rPr lang="nl-NL" altLang="zh-CN" dirty="0"/>
              <a:t> a score 9</a:t>
            </a:r>
            <a:endParaRPr lang="nl-NL" dirty="0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6F839598-2D21-45AB-3EF6-2905A13137CF}"/>
              </a:ext>
            </a:extLst>
          </p:cNvPr>
          <p:cNvSpPr/>
          <p:nvPr/>
        </p:nvSpPr>
        <p:spPr>
          <a:xfrm>
            <a:off x="7742933" y="423171"/>
            <a:ext cx="2736440" cy="694290"/>
          </a:xfrm>
          <a:prstGeom prst="wedgeRoundRectCallout">
            <a:avLst>
              <a:gd name="adj1" fmla="val -30792"/>
              <a:gd name="adj2" fmla="val 8698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Critic</a:t>
            </a:r>
            <a:r>
              <a:rPr lang="nl-NL" altLang="zh-CN" dirty="0"/>
              <a:t>: </a:t>
            </a:r>
            <a:r>
              <a:rPr lang="nl-NL" altLang="zh-CN" dirty="0" err="1"/>
              <a:t>abs</a:t>
            </a:r>
            <a:r>
              <a:rPr lang="nl-NL" altLang="zh-CN" dirty="0"/>
              <a:t>(a - b) &lt; 30</a:t>
            </a:r>
            <a:endParaRPr lang="nl-NL" dirty="0"/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16273061-C6A4-DEB9-ECB0-3ABB3BB3C804}"/>
              </a:ext>
            </a:extLst>
          </p:cNvPr>
          <p:cNvSpPr/>
          <p:nvPr/>
        </p:nvSpPr>
        <p:spPr>
          <a:xfrm>
            <a:off x="8663810" y="2415380"/>
            <a:ext cx="2001837" cy="1379218"/>
          </a:xfrm>
          <a:prstGeom prst="wedgeRoundRectCallout">
            <a:avLst>
              <a:gd name="adj1" fmla="val -67522"/>
              <a:gd name="adj2" fmla="val -1405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Picked</a:t>
            </a:r>
            <a:r>
              <a:rPr lang="nl-NL" altLang="zh-CN" dirty="0"/>
              <a:t> </a:t>
            </a:r>
            <a:r>
              <a:rPr lang="nl-NL" altLang="zh-CN" dirty="0" err="1"/>
              <a:t>by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second best </a:t>
            </a:r>
            <a:r>
              <a:rPr lang="nl-NL" altLang="zh-CN" dirty="0" err="1"/>
              <a:t>candidate</a:t>
            </a:r>
            <a:r>
              <a:rPr lang="nl-NL" altLang="zh-CN" dirty="0"/>
              <a:t> </a:t>
            </a:r>
            <a:r>
              <a:rPr lang="nl-NL" altLang="zh-CN" dirty="0" err="1"/>
              <a:t>with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score 75</a:t>
            </a:r>
            <a:endParaRPr lang="nl-NL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4465C05-C96C-033B-2045-5B2FD9966C42}"/>
              </a:ext>
            </a:extLst>
          </p:cNvPr>
          <p:cNvCxnSpPr>
            <a:cxnSpLocks/>
          </p:cNvCxnSpPr>
          <p:nvPr/>
        </p:nvCxnSpPr>
        <p:spPr>
          <a:xfrm flipV="1">
            <a:off x="7886700" y="1484400"/>
            <a:ext cx="198585" cy="154455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F3C0B5A-52AB-3D3F-CE56-4E1709A592A4}"/>
              </a:ext>
            </a:extLst>
          </p:cNvPr>
          <p:cNvCxnSpPr>
            <a:cxnSpLocks/>
          </p:cNvCxnSpPr>
          <p:nvPr/>
        </p:nvCxnSpPr>
        <p:spPr>
          <a:xfrm flipV="1">
            <a:off x="8146608" y="1484400"/>
            <a:ext cx="168717" cy="133136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80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6EE1-CD4C-DA73-A122-81A7579F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EAA7EF4-C5D6-03C1-D907-7A654C545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pic>
        <p:nvPicPr>
          <p:cNvPr id="9" name="图片 8" descr="电脑的屏幕&#10;&#10;AI 生成的内容可能不正确。">
            <a:extLst>
              <a:ext uri="{FF2B5EF4-FFF2-40B4-BE49-F238E27FC236}">
                <a16:creationId xmlns:a16="http://schemas.microsoft.com/office/drawing/2014/main" id="{3767A339-40C2-64D5-4151-C4BD48000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629" y="93349"/>
            <a:ext cx="6039048" cy="603904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E61AAA7-1B2D-888C-3525-045083A2D8F2}"/>
              </a:ext>
            </a:extLst>
          </p:cNvPr>
          <p:cNvSpPr txBox="1"/>
          <p:nvPr/>
        </p:nvSpPr>
        <p:spPr>
          <a:xfrm>
            <a:off x="0" y="0"/>
            <a:ext cx="54783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1. </a:t>
            </a:r>
            <a:r>
              <a:rPr lang="nl-NL" altLang="zh-CN" sz="2800" dirty="0" err="1"/>
              <a:t>Another</a:t>
            </a:r>
            <a:r>
              <a:rPr lang="nl-NL" altLang="zh-CN" sz="2800" dirty="0"/>
              <a:t> type of </a:t>
            </a:r>
            <a:r>
              <a:rPr lang="nl-NL" altLang="zh-CN" sz="2800" dirty="0" err="1"/>
              <a:t>false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pairing</a:t>
            </a:r>
            <a:endParaRPr lang="nl-NL" altLang="zh-CN" sz="2800" dirty="0"/>
          </a:p>
          <a:p>
            <a:endParaRPr lang="nl-NL" altLang="zh-CN" sz="2400" dirty="0"/>
          </a:p>
        </p:txBody>
      </p: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9D396299-4735-04FC-F954-4BA3D1B795EB}"/>
              </a:ext>
            </a:extLst>
          </p:cNvPr>
          <p:cNvSpPr/>
          <p:nvPr/>
        </p:nvSpPr>
        <p:spPr>
          <a:xfrm>
            <a:off x="5270237" y="376131"/>
            <a:ext cx="2001837" cy="1154817"/>
          </a:xfrm>
          <a:prstGeom prst="wedgeRoundRectCallout">
            <a:avLst>
              <a:gd name="adj1" fmla="val 90403"/>
              <a:gd name="adj2" fmla="val 4097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Not</a:t>
            </a:r>
            <a:r>
              <a:rPr lang="nl-NL" altLang="zh-CN" dirty="0"/>
              <a:t> </a:t>
            </a:r>
            <a:r>
              <a:rPr lang="nl-NL" altLang="zh-CN" dirty="0" err="1"/>
              <a:t>Picked</a:t>
            </a:r>
            <a:r>
              <a:rPr lang="nl-NL" altLang="zh-CN" dirty="0"/>
              <a:t> </a:t>
            </a:r>
            <a:r>
              <a:rPr lang="nl-NL" altLang="zh-CN" dirty="0" err="1"/>
              <a:t>by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best </a:t>
            </a:r>
            <a:r>
              <a:rPr lang="nl-NL" altLang="zh-CN" dirty="0" err="1"/>
              <a:t>candidate</a:t>
            </a:r>
            <a:r>
              <a:rPr lang="nl-NL" altLang="zh-CN" dirty="0"/>
              <a:t> </a:t>
            </a:r>
            <a:r>
              <a:rPr lang="nl-NL" altLang="zh-CN" dirty="0" err="1"/>
              <a:t>with</a:t>
            </a:r>
            <a:r>
              <a:rPr lang="nl-NL" altLang="zh-CN" dirty="0"/>
              <a:t> score 9</a:t>
            </a:r>
            <a:endParaRPr lang="nl-NL" dirty="0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B0DF7F95-76FD-BF18-895A-8A1FDA30DE7B}"/>
              </a:ext>
            </a:extLst>
          </p:cNvPr>
          <p:cNvSpPr/>
          <p:nvPr/>
        </p:nvSpPr>
        <p:spPr>
          <a:xfrm>
            <a:off x="7819763" y="198262"/>
            <a:ext cx="2736440" cy="694290"/>
          </a:xfrm>
          <a:prstGeom prst="wedgeRoundRectCallout">
            <a:avLst>
              <a:gd name="adj1" fmla="val -30792"/>
              <a:gd name="adj2" fmla="val 8698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Fallback</a:t>
            </a:r>
            <a:r>
              <a:rPr lang="nl-NL" altLang="zh-CN" dirty="0"/>
              <a:t> </a:t>
            </a:r>
            <a:r>
              <a:rPr lang="nl-NL" altLang="zh-CN" dirty="0" err="1"/>
              <a:t>to</a:t>
            </a:r>
            <a:r>
              <a:rPr lang="nl-NL" altLang="zh-CN" dirty="0"/>
              <a:t> </a:t>
            </a:r>
            <a:r>
              <a:rPr lang="nl-NL" altLang="zh-CN" dirty="0" err="1"/>
              <a:t>pick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</a:t>
            </a:r>
            <a:r>
              <a:rPr lang="nl-NL" altLang="zh-CN" dirty="0" err="1"/>
              <a:t>fisrst</a:t>
            </a:r>
            <a:r>
              <a:rPr lang="nl-NL" altLang="zh-CN" dirty="0"/>
              <a:t> </a:t>
            </a:r>
            <a:r>
              <a:rPr lang="nl-NL" altLang="zh-CN" dirty="0" err="1"/>
              <a:t>candidate</a:t>
            </a:r>
            <a:endParaRPr lang="nl-NL" dirty="0"/>
          </a:p>
        </p:txBody>
      </p:sp>
      <p:sp>
        <p:nvSpPr>
          <p:cNvPr id="21" name="对话气泡: 圆角矩形 20">
            <a:extLst>
              <a:ext uri="{FF2B5EF4-FFF2-40B4-BE49-F238E27FC236}">
                <a16:creationId xmlns:a16="http://schemas.microsoft.com/office/drawing/2014/main" id="{C26C0B2D-7EFC-DC27-00EB-DB3E96E888F3}"/>
              </a:ext>
            </a:extLst>
          </p:cNvPr>
          <p:cNvSpPr/>
          <p:nvPr/>
        </p:nvSpPr>
        <p:spPr>
          <a:xfrm>
            <a:off x="9279178" y="4006261"/>
            <a:ext cx="2162749" cy="1233702"/>
          </a:xfrm>
          <a:prstGeom prst="wedgeRoundRectCallout">
            <a:avLst>
              <a:gd name="adj1" fmla="val -112713"/>
              <a:gd name="adj2" fmla="val -5441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Here Stem A score of </a:t>
            </a:r>
            <a:r>
              <a:rPr lang="nl-NL" altLang="zh-CN" dirty="0" err="1"/>
              <a:t>all</a:t>
            </a:r>
            <a:r>
              <a:rPr lang="nl-NL" altLang="zh-CN" dirty="0"/>
              <a:t> </a:t>
            </a:r>
            <a:r>
              <a:rPr lang="nl-NL" altLang="zh-CN" dirty="0" err="1"/>
              <a:t>latter</a:t>
            </a:r>
            <a:r>
              <a:rPr lang="nl-NL" altLang="zh-CN" dirty="0"/>
              <a:t> </a:t>
            </a:r>
            <a:r>
              <a:rPr lang="nl-NL" altLang="zh-CN" dirty="0" err="1"/>
              <a:t>candidates</a:t>
            </a:r>
            <a:r>
              <a:rPr lang="nl-NL" altLang="zh-CN" dirty="0"/>
              <a:t> &gt; 9 </a:t>
            </a:r>
            <a:endParaRPr lang="nl-NL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C504301-2A32-2F0A-148B-11C04E04DAEB}"/>
              </a:ext>
            </a:extLst>
          </p:cNvPr>
          <p:cNvCxnSpPr>
            <a:cxnSpLocks/>
          </p:cNvCxnSpPr>
          <p:nvPr/>
        </p:nvCxnSpPr>
        <p:spPr>
          <a:xfrm flipV="1">
            <a:off x="7886700" y="1484400"/>
            <a:ext cx="198585" cy="154455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C75112A-5CE8-C9FB-6B1D-E0F2D88D7FB9}"/>
              </a:ext>
            </a:extLst>
          </p:cNvPr>
          <p:cNvCxnSpPr>
            <a:cxnSpLocks/>
          </p:cNvCxnSpPr>
          <p:nvPr/>
        </p:nvCxnSpPr>
        <p:spPr>
          <a:xfrm flipV="1">
            <a:off x="8146608" y="1484400"/>
            <a:ext cx="168717" cy="133136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9F4092C-1848-C13F-27F3-F3C086616A15}"/>
              </a:ext>
            </a:extLst>
          </p:cNvPr>
          <p:cNvSpPr txBox="1"/>
          <p:nvPr/>
        </p:nvSpPr>
        <p:spPr>
          <a:xfrm>
            <a:off x="27228" y="640720"/>
            <a:ext cx="57249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 a fallback strategy:</a:t>
            </a:r>
          </a:p>
          <a:p>
            <a:endParaRPr lang="en-US" sz="2400" dirty="0"/>
          </a:p>
          <a:p>
            <a:r>
              <a:rPr lang="en-US" sz="2400" dirty="0"/>
              <a:t>If </a:t>
            </a:r>
            <a:r>
              <a:rPr lang="nl-NL" altLang="zh-CN" sz="2400" dirty="0" err="1"/>
              <a:t>abs</a:t>
            </a:r>
            <a:r>
              <a:rPr lang="nl-NL" altLang="zh-CN" sz="2400" dirty="0"/>
              <a:t>(a - b) &lt; 30 </a:t>
            </a:r>
            <a:r>
              <a:rPr lang="nl-NL" altLang="zh-CN" sz="2400" dirty="0" err="1"/>
              <a:t>fails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second (or </a:t>
            </a:r>
            <a:r>
              <a:rPr lang="nl-NL" altLang="zh-CN" sz="2400" dirty="0" err="1"/>
              <a:t>so</a:t>
            </a:r>
            <a:r>
              <a:rPr lang="nl-NL" altLang="zh-CN" sz="2400" dirty="0"/>
              <a:t> on)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 is </a:t>
            </a:r>
            <a:r>
              <a:rPr lang="nl-NL" altLang="zh-CN" sz="2400" dirty="0" err="1"/>
              <a:t>picked</a:t>
            </a:r>
            <a:r>
              <a:rPr lang="nl-NL" altLang="zh-CN" sz="2400" dirty="0"/>
              <a:t>, </a:t>
            </a:r>
            <a:r>
              <a:rPr lang="nl-NL" altLang="zh-CN" sz="2400" dirty="0" err="1"/>
              <a:t>a_current</a:t>
            </a:r>
            <a:r>
              <a:rPr lang="nl-NL" altLang="zh-CN" sz="2400" dirty="0"/>
              <a:t> </a:t>
            </a:r>
            <a:r>
              <a:rPr lang="nl-NL" altLang="zh-CN" sz="2400" dirty="0" err="1"/>
              <a:t>should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not</a:t>
            </a:r>
            <a:r>
              <a:rPr lang="nl-NL" altLang="zh-CN" sz="2400" dirty="0"/>
              <a:t> </a:t>
            </a:r>
            <a:r>
              <a:rPr lang="nl-NL" altLang="zh-CN" sz="2400" dirty="0" err="1"/>
              <a:t>be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larger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than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a_previous</a:t>
            </a:r>
            <a:r>
              <a:rPr lang="nl-NL" altLang="zh-CN" sz="2400" dirty="0"/>
              <a:t> (</a:t>
            </a:r>
            <a:r>
              <a:rPr lang="nl-NL" altLang="zh-CN" sz="2400" dirty="0" err="1"/>
              <a:t>for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all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previous</a:t>
            </a:r>
            <a:r>
              <a:rPr lang="nl-NL" altLang="zh-CN" sz="2400" dirty="0"/>
              <a:t>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).</a:t>
            </a:r>
          </a:p>
          <a:p>
            <a:endParaRPr lang="nl-NL" sz="2400" dirty="0"/>
          </a:p>
          <a:p>
            <a:r>
              <a:rPr lang="nl-NL" sz="2400" dirty="0" err="1"/>
              <a:t>If</a:t>
            </a:r>
            <a:r>
              <a:rPr lang="nl-NL" sz="2400" dirty="0"/>
              <a:t> </a:t>
            </a:r>
            <a:r>
              <a:rPr lang="nl-NL" sz="2400" dirty="0" err="1"/>
              <a:t>all</a:t>
            </a:r>
            <a:r>
              <a:rPr lang="nl-NL" sz="2400" dirty="0"/>
              <a:t> later </a:t>
            </a:r>
            <a:r>
              <a:rPr lang="nl-NL" sz="2400" dirty="0" err="1"/>
              <a:t>candidates</a:t>
            </a:r>
            <a:r>
              <a:rPr lang="nl-NL" sz="2400" dirty="0"/>
              <a:t> </a:t>
            </a:r>
            <a:r>
              <a:rPr lang="nl-NL" sz="2400" dirty="0" err="1"/>
              <a:t>fail</a:t>
            </a:r>
            <a:r>
              <a:rPr lang="nl-NL" sz="2400" dirty="0"/>
              <a:t> </a:t>
            </a:r>
            <a:r>
              <a:rPr lang="nl-NL" sz="2400" dirty="0" err="1"/>
              <a:t>this</a:t>
            </a:r>
            <a:r>
              <a:rPr lang="nl-NL" sz="2400" dirty="0"/>
              <a:t> </a:t>
            </a:r>
            <a:r>
              <a:rPr lang="nl-NL" sz="2400" dirty="0" err="1"/>
              <a:t>critic</a:t>
            </a:r>
            <a:r>
              <a:rPr lang="nl-NL" sz="2400" dirty="0"/>
              <a:t>, </a:t>
            </a:r>
            <a:r>
              <a:rPr lang="nl-NL" sz="2400" dirty="0" err="1"/>
              <a:t>fallback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pick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candidate</a:t>
            </a:r>
            <a:r>
              <a:rPr lang="nl-NL" sz="2400" dirty="0"/>
              <a:t> (</a:t>
            </a:r>
            <a:r>
              <a:rPr lang="nl-NL" sz="2400" dirty="0" err="1"/>
              <a:t>with</a:t>
            </a:r>
            <a:r>
              <a:rPr lang="nl-NL" sz="2400" dirty="0"/>
              <a:t> </a:t>
            </a:r>
            <a:r>
              <a:rPr lang="nl-NL" sz="2400" dirty="0" err="1"/>
              <a:t>lowest</a:t>
            </a:r>
            <a:r>
              <a:rPr lang="nl-NL" sz="2400" dirty="0"/>
              <a:t> a + b)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4361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3ED0-807F-E324-7878-2C3FC8C31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67805691-5960-8599-810E-52DBBEDD6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726FF98-94AD-23D5-F8D8-AAF67AC1F6EB}"/>
              </a:ext>
            </a:extLst>
          </p:cNvPr>
          <p:cNvSpPr txBox="1"/>
          <p:nvPr/>
        </p:nvSpPr>
        <p:spPr>
          <a:xfrm>
            <a:off x="0" y="0"/>
            <a:ext cx="54783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800" dirty="0"/>
              <a:t>1. </a:t>
            </a:r>
            <a:r>
              <a:rPr lang="nl-NL" altLang="zh-CN" sz="2800" dirty="0" err="1"/>
              <a:t>Another</a:t>
            </a:r>
            <a:r>
              <a:rPr lang="nl-NL" altLang="zh-CN" sz="2800" dirty="0"/>
              <a:t> type of </a:t>
            </a:r>
            <a:r>
              <a:rPr lang="nl-NL" altLang="zh-CN" sz="2800" dirty="0" err="1"/>
              <a:t>false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pairing</a:t>
            </a:r>
            <a:endParaRPr lang="nl-NL" altLang="zh-CN" sz="2800" dirty="0"/>
          </a:p>
          <a:p>
            <a:endParaRPr lang="nl-NL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39CEB6-B390-E26E-5E00-99451D826763}"/>
              </a:ext>
            </a:extLst>
          </p:cNvPr>
          <p:cNvSpPr txBox="1"/>
          <p:nvPr/>
        </p:nvSpPr>
        <p:spPr>
          <a:xfrm>
            <a:off x="-8741" y="640720"/>
            <a:ext cx="57249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 a fallback strategy:</a:t>
            </a:r>
          </a:p>
          <a:p>
            <a:endParaRPr lang="en-US" sz="2400" dirty="0"/>
          </a:p>
          <a:p>
            <a:r>
              <a:rPr lang="en-US" sz="2400" dirty="0"/>
              <a:t>If </a:t>
            </a:r>
            <a:r>
              <a:rPr lang="nl-NL" altLang="zh-CN" sz="2400" dirty="0" err="1"/>
              <a:t>abs</a:t>
            </a:r>
            <a:r>
              <a:rPr lang="nl-NL" altLang="zh-CN" sz="2400" dirty="0"/>
              <a:t>(a - b) &lt; 30 </a:t>
            </a:r>
            <a:r>
              <a:rPr lang="nl-NL" altLang="zh-CN" sz="2400" dirty="0" err="1"/>
              <a:t>fails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second (or </a:t>
            </a:r>
            <a:r>
              <a:rPr lang="nl-NL" altLang="zh-CN" sz="2400" dirty="0" err="1"/>
              <a:t>so</a:t>
            </a:r>
            <a:r>
              <a:rPr lang="nl-NL" altLang="zh-CN" sz="2400" dirty="0"/>
              <a:t> on)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 is </a:t>
            </a:r>
            <a:r>
              <a:rPr lang="nl-NL" altLang="zh-CN" sz="2400" dirty="0" err="1"/>
              <a:t>picked</a:t>
            </a:r>
            <a:r>
              <a:rPr lang="nl-NL" altLang="zh-CN" sz="2400" dirty="0"/>
              <a:t>, </a:t>
            </a:r>
            <a:r>
              <a:rPr lang="nl-NL" altLang="zh-CN" sz="2400" dirty="0" err="1"/>
              <a:t>a_current</a:t>
            </a:r>
            <a:r>
              <a:rPr lang="nl-NL" altLang="zh-CN" sz="2400" dirty="0"/>
              <a:t> </a:t>
            </a:r>
            <a:r>
              <a:rPr lang="nl-NL" altLang="zh-CN" sz="2400" dirty="0" err="1"/>
              <a:t>should</a:t>
            </a:r>
            <a:r>
              <a:rPr lang="nl-NL" altLang="zh-CN" sz="2400" dirty="0"/>
              <a:t> </a:t>
            </a:r>
            <a:r>
              <a:rPr lang="nl-NL" altLang="zh-CN" sz="2400" dirty="0" err="1"/>
              <a:t>not</a:t>
            </a:r>
            <a:r>
              <a:rPr lang="nl-NL" altLang="zh-CN" sz="2400" dirty="0"/>
              <a:t> </a:t>
            </a:r>
            <a:r>
              <a:rPr lang="nl-NL" altLang="zh-CN" sz="2400" dirty="0" err="1"/>
              <a:t>be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larger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than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a_previous</a:t>
            </a:r>
            <a:r>
              <a:rPr lang="nl-NL" altLang="zh-CN" sz="2400" dirty="0"/>
              <a:t> (</a:t>
            </a:r>
            <a:r>
              <a:rPr lang="nl-NL" altLang="zh-CN" sz="2400" dirty="0" err="1"/>
              <a:t>for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all</a:t>
            </a:r>
            <a:r>
              <a:rPr lang="nl-NL" altLang="zh-CN" sz="2400" dirty="0"/>
              <a:t> </a:t>
            </a:r>
            <a:r>
              <a:rPr lang="nl-NL" altLang="zh-CN" sz="2400" dirty="0" err="1"/>
              <a:t>previous</a:t>
            </a:r>
            <a:r>
              <a:rPr lang="nl-NL" altLang="zh-CN" sz="2400" dirty="0"/>
              <a:t> </a:t>
            </a:r>
            <a:r>
              <a:rPr lang="nl-NL" altLang="zh-CN" sz="2400" dirty="0" err="1"/>
              <a:t>candidate</a:t>
            </a:r>
            <a:r>
              <a:rPr lang="nl-NL" altLang="zh-CN" sz="2400" dirty="0"/>
              <a:t>).</a:t>
            </a:r>
          </a:p>
          <a:p>
            <a:endParaRPr lang="nl-NL" sz="2400" dirty="0"/>
          </a:p>
          <a:p>
            <a:r>
              <a:rPr lang="nl-NL" sz="2400" dirty="0" err="1"/>
              <a:t>If</a:t>
            </a:r>
            <a:r>
              <a:rPr lang="nl-NL" sz="2400" dirty="0"/>
              <a:t> </a:t>
            </a:r>
            <a:r>
              <a:rPr lang="nl-NL" sz="2400" dirty="0" err="1"/>
              <a:t>all</a:t>
            </a:r>
            <a:r>
              <a:rPr lang="nl-NL" sz="2400" dirty="0"/>
              <a:t> later </a:t>
            </a:r>
            <a:r>
              <a:rPr lang="nl-NL" sz="2400" dirty="0" err="1"/>
              <a:t>candidates</a:t>
            </a:r>
            <a:r>
              <a:rPr lang="nl-NL" sz="2400" dirty="0"/>
              <a:t> </a:t>
            </a:r>
            <a:r>
              <a:rPr lang="nl-NL" sz="2400" dirty="0" err="1"/>
              <a:t>fail</a:t>
            </a:r>
            <a:r>
              <a:rPr lang="nl-NL" sz="2400" dirty="0"/>
              <a:t> </a:t>
            </a:r>
            <a:r>
              <a:rPr lang="nl-NL" sz="2400" dirty="0" err="1"/>
              <a:t>this</a:t>
            </a:r>
            <a:r>
              <a:rPr lang="nl-NL" sz="2400" dirty="0"/>
              <a:t> </a:t>
            </a:r>
            <a:r>
              <a:rPr lang="nl-NL" sz="2400" dirty="0" err="1"/>
              <a:t>critic</a:t>
            </a:r>
            <a:r>
              <a:rPr lang="nl-NL" sz="2400" dirty="0"/>
              <a:t>, </a:t>
            </a:r>
            <a:r>
              <a:rPr lang="nl-NL" sz="2400" dirty="0" err="1"/>
              <a:t>fallback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pick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candidate</a:t>
            </a:r>
            <a:r>
              <a:rPr lang="nl-NL" sz="2400" dirty="0"/>
              <a:t> (</a:t>
            </a:r>
            <a:r>
              <a:rPr lang="nl-NL" sz="2400" dirty="0" err="1"/>
              <a:t>with</a:t>
            </a:r>
            <a:r>
              <a:rPr lang="nl-NL" sz="2400" dirty="0"/>
              <a:t> </a:t>
            </a:r>
            <a:r>
              <a:rPr lang="nl-NL" sz="2400" dirty="0" err="1"/>
              <a:t>lowest</a:t>
            </a:r>
            <a:r>
              <a:rPr lang="nl-NL" sz="2400" dirty="0"/>
              <a:t> a + b)</a:t>
            </a:r>
            <a:endParaRPr lang="en-US" sz="2400" dirty="0"/>
          </a:p>
        </p:txBody>
      </p:sp>
      <p:pic>
        <p:nvPicPr>
          <p:cNvPr id="5" name="图片 4" descr="电脑的屏幕&#10;&#10;AI 生成的内容可能不正确。">
            <a:extLst>
              <a:ext uri="{FF2B5EF4-FFF2-40B4-BE49-F238E27FC236}">
                <a16:creationId xmlns:a16="http://schemas.microsoft.com/office/drawing/2014/main" id="{B15C8CC0-15BA-0608-0F3D-F4E61EB24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048" y="110655"/>
            <a:ext cx="5960165" cy="596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3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4105-F5C5-4B03-0A68-5FC992B8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03CFAF4-5F03-1439-4797-78048B5EF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6EB9C6A-DF09-8659-A113-07FDBAEF3F51}"/>
              </a:ext>
            </a:extLst>
          </p:cNvPr>
          <p:cNvSpPr txBox="1"/>
          <p:nvPr/>
        </p:nvSpPr>
        <p:spPr>
          <a:xfrm>
            <a:off x="74003" y="202803"/>
            <a:ext cx="838618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2. </a:t>
            </a:r>
            <a:r>
              <a:rPr lang="nl-NL" sz="2800" dirty="0" err="1"/>
              <a:t>Flaws</a:t>
            </a:r>
            <a:r>
              <a:rPr lang="nl-NL" sz="2800" dirty="0"/>
              <a:t> in small score </a:t>
            </a:r>
            <a:r>
              <a:rPr lang="nl-NL" sz="2800" dirty="0" err="1"/>
              <a:t>strategy</a:t>
            </a:r>
            <a:r>
              <a:rPr lang="nl-NL" sz="2800" dirty="0"/>
              <a:t> </a:t>
            </a:r>
            <a:r>
              <a:rPr lang="nl-NL" sz="2800" dirty="0" err="1"/>
              <a:t>Algorithm</a:t>
            </a:r>
            <a:endParaRPr lang="nl-NL" sz="2800" dirty="0"/>
          </a:p>
          <a:p>
            <a:pPr marL="457200" indent="-457200">
              <a:buAutoNum type="arabicPeriod"/>
            </a:pPr>
            <a:endParaRPr lang="nl-NL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31D6A1-9795-D44D-20E5-41F1A6437B91}"/>
              </a:ext>
            </a:extLst>
          </p:cNvPr>
          <p:cNvSpPr txBox="1"/>
          <p:nvPr/>
        </p:nvSpPr>
        <p:spPr>
          <a:xfrm>
            <a:off x="213311" y="1089012"/>
            <a:ext cx="61448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Last Week:</a:t>
            </a:r>
          </a:p>
          <a:p>
            <a:endParaRPr lang="nl-NL" dirty="0"/>
          </a:p>
          <a:p>
            <a:pPr marL="342900" indent="-342900">
              <a:buAutoNum type="arabicParenBoth"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candiates</a:t>
            </a:r>
            <a:r>
              <a:rPr lang="nl-NL" dirty="0"/>
              <a:t>’ score is </a:t>
            </a:r>
            <a:r>
              <a:rPr lang="nl-NL" dirty="0" err="1"/>
              <a:t>less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3,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distance</a:t>
            </a:r>
            <a:endParaRPr lang="nl-NL" dirty="0"/>
          </a:p>
          <a:p>
            <a:pPr marL="342900" indent="-342900">
              <a:buAutoNum type="arabicParenBoth"/>
            </a:pPr>
            <a:endParaRPr lang="nl-NL" dirty="0"/>
          </a:p>
          <a:p>
            <a:r>
              <a:rPr lang="nl-NL" dirty="0"/>
              <a:t>(2)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 is 3 – 11,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 * </a:t>
            </a:r>
            <a:r>
              <a:rPr lang="nl-NL" dirty="0" err="1"/>
              <a:t>distance</a:t>
            </a:r>
            <a:endParaRPr lang="nl-NL" dirty="0"/>
          </a:p>
          <a:p>
            <a:endParaRPr lang="nl-NL" dirty="0"/>
          </a:p>
          <a:p>
            <a:r>
              <a:rPr lang="nl-NL" dirty="0"/>
              <a:t>(3) Else,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F14443E-F437-7C40-8D97-8F505C3DD250}"/>
              </a:ext>
            </a:extLst>
          </p:cNvPr>
          <p:cNvSpPr/>
          <p:nvPr/>
        </p:nvSpPr>
        <p:spPr>
          <a:xfrm>
            <a:off x="7869638" y="1043280"/>
            <a:ext cx="2202180" cy="89255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candidates with score &lt;3</a:t>
            </a:r>
            <a:endParaRPr lang="nl-NL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A8C7BE6-F13E-A745-4431-A061FF155AA9}"/>
              </a:ext>
            </a:extLst>
          </p:cNvPr>
          <p:cNvSpPr/>
          <p:nvPr/>
        </p:nvSpPr>
        <p:spPr>
          <a:xfrm>
            <a:off x="8738318" y="2213701"/>
            <a:ext cx="2338346" cy="89255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candidates with 3&lt; score &lt;11</a:t>
            </a:r>
            <a:endParaRPr lang="nl-NL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CEFF6AA-7558-AFD7-FE5C-EA36211EC108}"/>
              </a:ext>
            </a:extLst>
          </p:cNvPr>
          <p:cNvSpPr/>
          <p:nvPr/>
        </p:nvSpPr>
        <p:spPr>
          <a:xfrm>
            <a:off x="9396454" y="3460070"/>
            <a:ext cx="2338346" cy="89255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candidates with 11&lt; score</a:t>
            </a:r>
            <a:endParaRPr lang="nl-NL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49D672A-C852-752D-EBF2-44BECA0AF14B}"/>
              </a:ext>
            </a:extLst>
          </p:cNvPr>
          <p:cNvSpPr/>
          <p:nvPr/>
        </p:nvSpPr>
        <p:spPr>
          <a:xfrm>
            <a:off x="8807395" y="5702"/>
            <a:ext cx="1758232" cy="68376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 scores</a:t>
            </a:r>
            <a:endParaRPr lang="nl-NL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D2097F3-087C-1E1E-34B4-EF6D151C39E0}"/>
              </a:ext>
            </a:extLst>
          </p:cNvPr>
          <p:cNvCxnSpPr/>
          <p:nvPr/>
        </p:nvCxnSpPr>
        <p:spPr>
          <a:xfrm>
            <a:off x="9235440" y="716280"/>
            <a:ext cx="0" cy="32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266B1E36-2B30-4C70-F69D-DB743AD20D52}"/>
              </a:ext>
            </a:extLst>
          </p:cNvPr>
          <p:cNvCxnSpPr/>
          <p:nvPr/>
        </p:nvCxnSpPr>
        <p:spPr>
          <a:xfrm rot="16200000" flipH="1">
            <a:off x="9190617" y="934438"/>
            <a:ext cx="1316466" cy="1242060"/>
          </a:xfrm>
          <a:prstGeom prst="bentConnector3">
            <a:avLst>
              <a:gd name="adj1" fmla="val -93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EAECDFDB-BD94-4D78-13A2-915BC21DFA5D}"/>
              </a:ext>
            </a:extLst>
          </p:cNvPr>
          <p:cNvCxnSpPr/>
          <p:nvPr/>
        </p:nvCxnSpPr>
        <p:spPr>
          <a:xfrm rot="16200000" flipH="1">
            <a:off x="9934203" y="2025233"/>
            <a:ext cx="1970514" cy="899160"/>
          </a:xfrm>
          <a:prstGeom prst="bentConnector3">
            <a:avLst>
              <a:gd name="adj1" fmla="val 35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D9CE29D-F99B-E08A-3A6B-AF747A2F0303}"/>
              </a:ext>
            </a:extLst>
          </p:cNvPr>
          <p:cNvCxnSpPr/>
          <p:nvPr/>
        </p:nvCxnSpPr>
        <p:spPr>
          <a:xfrm>
            <a:off x="8199120" y="1935832"/>
            <a:ext cx="0" cy="3017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BE01D2F-72AD-FEA4-66D1-6A1205E5B7D4}"/>
              </a:ext>
            </a:extLst>
          </p:cNvPr>
          <p:cNvCxnSpPr/>
          <p:nvPr/>
        </p:nvCxnSpPr>
        <p:spPr>
          <a:xfrm>
            <a:off x="9326880" y="1935832"/>
            <a:ext cx="0" cy="319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5E50EB4-BBBE-3E67-4DBF-EBC167DACFD9}"/>
              </a:ext>
            </a:extLst>
          </p:cNvPr>
          <p:cNvCxnSpPr/>
          <p:nvPr/>
        </p:nvCxnSpPr>
        <p:spPr>
          <a:xfrm>
            <a:off x="9105900" y="3106253"/>
            <a:ext cx="0" cy="1846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543334F3-B22F-37A7-CA42-749B8AB34BAC}"/>
              </a:ext>
            </a:extLst>
          </p:cNvPr>
          <p:cNvCxnSpPr>
            <a:cxnSpLocks/>
          </p:cNvCxnSpPr>
          <p:nvPr/>
        </p:nvCxnSpPr>
        <p:spPr>
          <a:xfrm>
            <a:off x="9907491" y="3106253"/>
            <a:ext cx="0" cy="4653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251BBA3-9E81-54E6-EB86-D09EBB058DF2}"/>
              </a:ext>
            </a:extLst>
          </p:cNvPr>
          <p:cNvCxnSpPr>
            <a:cxnSpLocks/>
          </p:cNvCxnSpPr>
          <p:nvPr/>
        </p:nvCxnSpPr>
        <p:spPr>
          <a:xfrm>
            <a:off x="9907491" y="4352622"/>
            <a:ext cx="0" cy="600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F514178F-6909-867B-466A-4F6C67A1D31F}"/>
              </a:ext>
            </a:extLst>
          </p:cNvPr>
          <p:cNvSpPr/>
          <p:nvPr/>
        </p:nvSpPr>
        <p:spPr>
          <a:xfrm>
            <a:off x="7909560" y="4975663"/>
            <a:ext cx="2392680" cy="840477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nl-NL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734E755-E7D2-AE91-E4D6-60DEE1D261E7}"/>
              </a:ext>
            </a:extLst>
          </p:cNvPr>
          <p:cNvSpPr txBox="1"/>
          <p:nvPr/>
        </p:nvSpPr>
        <p:spPr>
          <a:xfrm>
            <a:off x="7551917" y="3281467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nl-NL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49C00EE-C914-5A8B-4E39-20B32B1AC868}"/>
              </a:ext>
            </a:extLst>
          </p:cNvPr>
          <p:cNvSpPr txBox="1"/>
          <p:nvPr/>
        </p:nvSpPr>
        <p:spPr>
          <a:xfrm>
            <a:off x="8600164" y="3571600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nl-NL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C98BBB8-A7A5-161D-904D-DD6967D872DF}"/>
              </a:ext>
            </a:extLst>
          </p:cNvPr>
          <p:cNvSpPr txBox="1"/>
          <p:nvPr/>
        </p:nvSpPr>
        <p:spPr>
          <a:xfrm>
            <a:off x="9393638" y="4480480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nl-NL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C19327F-3CDE-1575-D046-714406DD7091}"/>
              </a:ext>
            </a:extLst>
          </p:cNvPr>
          <p:cNvSpPr txBox="1"/>
          <p:nvPr/>
        </p:nvSpPr>
        <p:spPr>
          <a:xfrm>
            <a:off x="8837875" y="191082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nl-NL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C318D66-4D19-E282-0A44-8669CD9C302C}"/>
              </a:ext>
            </a:extLst>
          </p:cNvPr>
          <p:cNvSpPr txBox="1"/>
          <p:nvPr/>
        </p:nvSpPr>
        <p:spPr>
          <a:xfrm>
            <a:off x="9361905" y="3111687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nl-NL" dirty="0"/>
          </a:p>
        </p:txBody>
      </p:sp>
      <p:sp>
        <p:nvSpPr>
          <p:cNvPr id="73" name="对话气泡: 圆角矩形 72">
            <a:extLst>
              <a:ext uri="{FF2B5EF4-FFF2-40B4-BE49-F238E27FC236}">
                <a16:creationId xmlns:a16="http://schemas.microsoft.com/office/drawing/2014/main" id="{260D8FF4-2961-D386-099C-E435FD5FC394}"/>
              </a:ext>
            </a:extLst>
          </p:cNvPr>
          <p:cNvSpPr/>
          <p:nvPr/>
        </p:nvSpPr>
        <p:spPr>
          <a:xfrm>
            <a:off x="6602410" y="1995875"/>
            <a:ext cx="1703970" cy="840477"/>
          </a:xfrm>
          <a:prstGeom prst="wedgeRoundRectCallout">
            <a:avLst>
              <a:gd name="adj1" fmla="val 85785"/>
              <a:gd name="adj2" fmla="val -3828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Previously this part is missed</a:t>
            </a:r>
            <a:endParaRPr lang="nl-NL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87B3698-FD66-9AA2-622C-31AFEC665073}"/>
              </a:ext>
            </a:extLst>
          </p:cNvPr>
          <p:cNvSpPr txBox="1"/>
          <p:nvPr/>
        </p:nvSpPr>
        <p:spPr>
          <a:xfrm>
            <a:off x="8850133" y="719680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</a:t>
            </a:r>
            <a:endParaRPr lang="nl-NL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00B63B6-23C2-C960-2D80-3F29B65D9EAE}"/>
              </a:ext>
            </a:extLst>
          </p:cNvPr>
          <p:cNvSpPr txBox="1"/>
          <p:nvPr/>
        </p:nvSpPr>
        <p:spPr>
          <a:xfrm>
            <a:off x="10477500" y="879780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  <a:endParaRPr lang="nl-NL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ADA2808-BAC5-5ADB-411D-DE17548029C3}"/>
              </a:ext>
            </a:extLst>
          </p:cNvPr>
          <p:cNvSpPr txBox="1"/>
          <p:nvPr/>
        </p:nvSpPr>
        <p:spPr>
          <a:xfrm>
            <a:off x="11320918" y="2051397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  <a:endParaRPr lang="nl-NL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4392D8B-668F-1E08-B9B0-5ECA8574DFD1}"/>
              </a:ext>
            </a:extLst>
          </p:cNvPr>
          <p:cNvSpPr txBox="1"/>
          <p:nvPr/>
        </p:nvSpPr>
        <p:spPr>
          <a:xfrm>
            <a:off x="10145367" y="1686675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3967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6103-416A-F1AD-77C5-26325A23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549502F9-8D77-E653-BF4F-CDCDEA6A1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3DE378C-CF79-7CC1-38E1-DE21566943D8}"/>
              </a:ext>
            </a:extLst>
          </p:cNvPr>
          <p:cNvSpPr txBox="1"/>
          <p:nvPr/>
        </p:nvSpPr>
        <p:spPr>
          <a:xfrm>
            <a:off x="74003" y="202803"/>
            <a:ext cx="838618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2. </a:t>
            </a:r>
            <a:r>
              <a:rPr lang="nl-NL" sz="2800" dirty="0" err="1"/>
              <a:t>Flaws</a:t>
            </a:r>
            <a:r>
              <a:rPr lang="nl-NL" sz="2800" dirty="0"/>
              <a:t> in small score </a:t>
            </a:r>
            <a:r>
              <a:rPr lang="nl-NL" sz="2800" dirty="0" err="1"/>
              <a:t>strategy</a:t>
            </a:r>
            <a:r>
              <a:rPr lang="nl-NL" sz="2800" dirty="0"/>
              <a:t> </a:t>
            </a:r>
            <a:r>
              <a:rPr lang="nl-NL" sz="2800" dirty="0" err="1"/>
              <a:t>Algorithm</a:t>
            </a:r>
            <a:endParaRPr lang="nl-NL" sz="2800" dirty="0"/>
          </a:p>
          <a:p>
            <a:pPr marL="457200" indent="-457200">
              <a:buAutoNum type="arabicPeriod"/>
            </a:pPr>
            <a:endParaRPr lang="nl-NL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89862B-8DD8-6C3C-44E0-982524072275}"/>
              </a:ext>
            </a:extLst>
          </p:cNvPr>
          <p:cNvSpPr txBox="1"/>
          <p:nvPr/>
        </p:nvSpPr>
        <p:spPr>
          <a:xfrm>
            <a:off x="213311" y="1089012"/>
            <a:ext cx="61448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Last Week:</a:t>
            </a:r>
          </a:p>
          <a:p>
            <a:endParaRPr lang="nl-NL" dirty="0"/>
          </a:p>
          <a:p>
            <a:pPr marL="342900" indent="-342900">
              <a:buAutoNum type="arabicParenBoth"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candiate</a:t>
            </a:r>
            <a:r>
              <a:rPr lang="nl-NL" dirty="0"/>
              <a:t> score is </a:t>
            </a:r>
            <a:r>
              <a:rPr lang="nl-NL" dirty="0" err="1"/>
              <a:t>less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3,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distance</a:t>
            </a:r>
            <a:endParaRPr lang="nl-NL" dirty="0"/>
          </a:p>
          <a:p>
            <a:pPr marL="342900" indent="-342900">
              <a:buAutoNum type="arabicParenBoth"/>
            </a:pPr>
            <a:endParaRPr lang="nl-NL" dirty="0"/>
          </a:p>
          <a:p>
            <a:r>
              <a:rPr lang="nl-NL" dirty="0"/>
              <a:t>(2)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 is 3 – 11,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 * </a:t>
            </a:r>
            <a:r>
              <a:rPr lang="nl-NL" dirty="0" err="1"/>
              <a:t>distance</a:t>
            </a:r>
            <a:endParaRPr lang="nl-NL" dirty="0"/>
          </a:p>
          <a:p>
            <a:endParaRPr lang="nl-NL" dirty="0"/>
          </a:p>
          <a:p>
            <a:r>
              <a:rPr lang="nl-NL" dirty="0"/>
              <a:t>(3) Else,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score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7E876EC-7277-A526-444F-68D3BAEB8629}"/>
              </a:ext>
            </a:extLst>
          </p:cNvPr>
          <p:cNvSpPr/>
          <p:nvPr/>
        </p:nvSpPr>
        <p:spPr>
          <a:xfrm>
            <a:off x="6621779" y="1217072"/>
            <a:ext cx="2202180" cy="89255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candidates with score &lt;3</a:t>
            </a:r>
            <a:endParaRPr lang="nl-NL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29DE3AD-56B4-5B0A-948F-D2C61AF88779}"/>
              </a:ext>
            </a:extLst>
          </p:cNvPr>
          <p:cNvSpPr/>
          <p:nvPr/>
        </p:nvSpPr>
        <p:spPr>
          <a:xfrm>
            <a:off x="8987944" y="1240344"/>
            <a:ext cx="2338346" cy="89255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candidates with 3&lt; score &lt;11</a:t>
            </a:r>
            <a:endParaRPr lang="nl-NL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1CFDF8C-8408-362E-26E5-04C535344F96}"/>
              </a:ext>
            </a:extLst>
          </p:cNvPr>
          <p:cNvSpPr/>
          <p:nvPr/>
        </p:nvSpPr>
        <p:spPr>
          <a:xfrm>
            <a:off x="9644321" y="2467925"/>
            <a:ext cx="2338346" cy="89255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candidates with 11&lt; score</a:t>
            </a:r>
            <a:endParaRPr lang="nl-NL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43CBEBA-31BB-F969-0BD4-6688D67C582C}"/>
              </a:ext>
            </a:extLst>
          </p:cNvPr>
          <p:cNvSpPr/>
          <p:nvPr/>
        </p:nvSpPr>
        <p:spPr>
          <a:xfrm>
            <a:off x="8399228" y="-6241"/>
            <a:ext cx="1758232" cy="68376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 scores</a:t>
            </a:r>
            <a:endParaRPr lang="nl-NL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104B11D-414F-F034-E8B4-D0C210D8947C}"/>
              </a:ext>
            </a:extLst>
          </p:cNvPr>
          <p:cNvCxnSpPr>
            <a:cxnSpLocks/>
          </p:cNvCxnSpPr>
          <p:nvPr/>
        </p:nvCxnSpPr>
        <p:spPr>
          <a:xfrm>
            <a:off x="8631793" y="704949"/>
            <a:ext cx="0" cy="544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24593DB-7EA5-E14F-AA64-A4C0F5AE9F9E}"/>
              </a:ext>
            </a:extLst>
          </p:cNvPr>
          <p:cNvCxnSpPr>
            <a:cxnSpLocks/>
          </p:cNvCxnSpPr>
          <p:nvPr/>
        </p:nvCxnSpPr>
        <p:spPr>
          <a:xfrm>
            <a:off x="8039100" y="2124924"/>
            <a:ext cx="0" cy="2552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13063FA-F526-FC81-F4EA-7273420E6627}"/>
              </a:ext>
            </a:extLst>
          </p:cNvPr>
          <p:cNvSpPr/>
          <p:nvPr/>
        </p:nvSpPr>
        <p:spPr>
          <a:xfrm>
            <a:off x="7383780" y="4677031"/>
            <a:ext cx="4091940" cy="840477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nl-NL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A8E571D-0B2A-FC52-483E-ADAF7A271146}"/>
              </a:ext>
            </a:extLst>
          </p:cNvPr>
          <p:cNvSpPr txBox="1"/>
          <p:nvPr/>
        </p:nvSpPr>
        <p:spPr>
          <a:xfrm>
            <a:off x="7398285" y="3244334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nl-NL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6C799F1-1991-3C2E-6237-323020902E02}"/>
              </a:ext>
            </a:extLst>
          </p:cNvPr>
          <p:cNvSpPr txBox="1"/>
          <p:nvPr/>
        </p:nvSpPr>
        <p:spPr>
          <a:xfrm>
            <a:off x="10401092" y="3649422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nl-NL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411E5E3-160C-57BB-FD00-ADAC3630771A}"/>
              </a:ext>
            </a:extLst>
          </p:cNvPr>
          <p:cNvSpPr txBox="1"/>
          <p:nvPr/>
        </p:nvSpPr>
        <p:spPr>
          <a:xfrm>
            <a:off x="8408887" y="2419196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nl-NL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10305EC-71B5-54EB-ECA3-24BDAF5C10DF}"/>
              </a:ext>
            </a:extLst>
          </p:cNvPr>
          <p:cNvSpPr txBox="1"/>
          <p:nvPr/>
        </p:nvSpPr>
        <p:spPr>
          <a:xfrm>
            <a:off x="8102545" y="742880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</a:t>
            </a:r>
            <a:endParaRPr lang="nl-NL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855C0B8-44FB-01D8-0545-A3E6E4F72D5D}"/>
              </a:ext>
            </a:extLst>
          </p:cNvPr>
          <p:cNvSpPr txBox="1"/>
          <p:nvPr/>
        </p:nvSpPr>
        <p:spPr>
          <a:xfrm>
            <a:off x="9313194" y="620986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  <a:endParaRPr lang="nl-NL" dirty="0"/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994B70B6-C77B-C49B-8384-2D8EF604B0B2}"/>
              </a:ext>
            </a:extLst>
          </p:cNvPr>
          <p:cNvCxnSpPr/>
          <p:nvPr/>
        </p:nvCxnSpPr>
        <p:spPr>
          <a:xfrm>
            <a:off x="8624173" y="927546"/>
            <a:ext cx="1478280" cy="321566"/>
          </a:xfrm>
          <a:prstGeom prst="bentConnector3">
            <a:avLst>
              <a:gd name="adj1" fmla="val 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D1666354-2D70-FEF4-8A62-EABDCC23D574}"/>
              </a:ext>
            </a:extLst>
          </p:cNvPr>
          <p:cNvCxnSpPr/>
          <p:nvPr/>
        </p:nvCxnSpPr>
        <p:spPr>
          <a:xfrm>
            <a:off x="10102453" y="1088329"/>
            <a:ext cx="1609487" cy="1357365"/>
          </a:xfrm>
          <a:prstGeom prst="bentConnector3">
            <a:avLst>
              <a:gd name="adj1" fmla="val 992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63A8101-49B2-5962-C483-BA59592C58B1}"/>
              </a:ext>
            </a:extLst>
          </p:cNvPr>
          <p:cNvSpPr txBox="1"/>
          <p:nvPr/>
        </p:nvSpPr>
        <p:spPr>
          <a:xfrm>
            <a:off x="9729568" y="1070687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</a:t>
            </a:r>
            <a:endParaRPr lang="nl-NL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758F29-D06B-0B83-9010-7D076575E445}"/>
              </a:ext>
            </a:extLst>
          </p:cNvPr>
          <p:cNvSpPr txBox="1"/>
          <p:nvPr/>
        </p:nvSpPr>
        <p:spPr>
          <a:xfrm>
            <a:off x="11079272" y="786184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  <a:endParaRPr lang="nl-NL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C23B7AD-133E-FC51-2E50-0FBF5A7E5E2B}"/>
              </a:ext>
            </a:extLst>
          </p:cNvPr>
          <p:cNvCxnSpPr>
            <a:cxnSpLocks/>
          </p:cNvCxnSpPr>
          <p:nvPr/>
        </p:nvCxnSpPr>
        <p:spPr>
          <a:xfrm>
            <a:off x="10910172" y="3374763"/>
            <a:ext cx="0" cy="1316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AD08811-75A4-0D28-0676-F77A7DAD97B0}"/>
              </a:ext>
            </a:extLst>
          </p:cNvPr>
          <p:cNvCxnSpPr>
            <a:cxnSpLocks/>
          </p:cNvCxnSpPr>
          <p:nvPr/>
        </p:nvCxnSpPr>
        <p:spPr>
          <a:xfrm>
            <a:off x="9210913" y="2132896"/>
            <a:ext cx="0" cy="2544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39ECB88-DEFC-37CD-63DD-744EAA88D392}"/>
              </a:ext>
            </a:extLst>
          </p:cNvPr>
          <p:cNvSpPr txBox="1"/>
          <p:nvPr/>
        </p:nvSpPr>
        <p:spPr>
          <a:xfrm>
            <a:off x="8717994" y="3464756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nl-NL" dirty="0"/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247372F7-3B74-22EE-DB59-0A7AE887D732}"/>
              </a:ext>
            </a:extLst>
          </p:cNvPr>
          <p:cNvCxnSpPr>
            <a:endCxn id="13" idx="1"/>
          </p:cNvCxnSpPr>
          <p:nvPr/>
        </p:nvCxnSpPr>
        <p:spPr>
          <a:xfrm>
            <a:off x="8399228" y="2132896"/>
            <a:ext cx="1245093" cy="781305"/>
          </a:xfrm>
          <a:prstGeom prst="bentConnector3">
            <a:avLst>
              <a:gd name="adj1" fmla="val -1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589E997-3C11-01D4-3B9D-E0729F47E6B6}"/>
              </a:ext>
            </a:extLst>
          </p:cNvPr>
          <p:cNvCxnSpPr>
            <a:cxnSpLocks/>
          </p:cNvCxnSpPr>
          <p:nvPr/>
        </p:nvCxnSpPr>
        <p:spPr>
          <a:xfrm>
            <a:off x="10407748" y="2132896"/>
            <a:ext cx="0" cy="390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7801F49-E776-007E-1A0B-8FD77DE5328B}"/>
              </a:ext>
            </a:extLst>
          </p:cNvPr>
          <p:cNvSpPr txBox="1"/>
          <p:nvPr/>
        </p:nvSpPr>
        <p:spPr>
          <a:xfrm>
            <a:off x="9857680" y="211402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330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C670-1A1A-DBC9-3788-6DA9F7E7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96621670-8225-005B-26D9-4F1BF336E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8741" y="0"/>
            <a:ext cx="12200741" cy="4510316"/>
          </a:xfrm>
          <a:prstGeom prst="rect">
            <a:avLst/>
          </a:prstGeom>
        </p:spPr>
      </p:pic>
      <p:pic>
        <p:nvPicPr>
          <p:cNvPr id="3" name="图片 2" descr="图片包含 桌子, 礁石, 水, 监控&#10;&#10;AI 生成的内容可能不正确。">
            <a:extLst>
              <a:ext uri="{FF2B5EF4-FFF2-40B4-BE49-F238E27FC236}">
                <a16:creationId xmlns:a16="http://schemas.microsoft.com/office/drawing/2014/main" id="{68B60AE6-3F14-3C23-A128-71A842006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" y="433909"/>
            <a:ext cx="6424091" cy="6424091"/>
          </a:xfrm>
          <a:prstGeom prst="rect">
            <a:avLst/>
          </a:prstGeom>
        </p:spPr>
      </p:pic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48D67850-45FA-3D7B-D97D-157F5F3A90F2}"/>
              </a:ext>
            </a:extLst>
          </p:cNvPr>
          <p:cNvSpPr/>
          <p:nvPr/>
        </p:nvSpPr>
        <p:spPr>
          <a:xfrm>
            <a:off x="2393011" y="3593462"/>
            <a:ext cx="1417320" cy="609600"/>
          </a:xfrm>
          <a:prstGeom prst="wedgeRoundRectCallout">
            <a:avLst>
              <a:gd name="adj1" fmla="val -49187"/>
              <a:gd name="adj2" fmla="val 7092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Base Stem</a:t>
            </a:r>
            <a:endParaRPr lang="nl-NL" dirty="0"/>
          </a:p>
        </p:txBody>
      </p: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E4E990EC-A484-C140-F376-93675231D298}"/>
              </a:ext>
            </a:extLst>
          </p:cNvPr>
          <p:cNvSpPr/>
          <p:nvPr/>
        </p:nvSpPr>
        <p:spPr>
          <a:xfrm>
            <a:off x="746668" y="4106024"/>
            <a:ext cx="1417320" cy="609600"/>
          </a:xfrm>
          <a:prstGeom prst="wedgeRoundRectCallout">
            <a:avLst>
              <a:gd name="adj1" fmla="val 59275"/>
              <a:gd name="adj2" fmla="val 737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 err="1"/>
              <a:t>Partener</a:t>
            </a:r>
            <a:endParaRPr lang="nl-NL" dirty="0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8C30C930-8512-3669-5535-022B42F4A2D7}"/>
              </a:ext>
            </a:extLst>
          </p:cNvPr>
          <p:cNvSpPr/>
          <p:nvPr/>
        </p:nvSpPr>
        <p:spPr>
          <a:xfrm>
            <a:off x="2572247" y="5074558"/>
            <a:ext cx="1417320" cy="609600"/>
          </a:xfrm>
          <a:prstGeom prst="wedgeRoundRectCallout">
            <a:avLst>
              <a:gd name="adj1" fmla="val -44699"/>
              <a:gd name="adj2" fmla="val 7222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Best </a:t>
            </a:r>
            <a:r>
              <a:rPr lang="nl-NL" altLang="zh-CN" dirty="0" err="1"/>
              <a:t>candidate</a:t>
            </a:r>
            <a:endParaRPr lang="nl-NL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109F8F-94F3-8DA3-EBAA-D1976EE84134}"/>
              </a:ext>
            </a:extLst>
          </p:cNvPr>
          <p:cNvSpPr txBox="1"/>
          <p:nvPr/>
        </p:nvSpPr>
        <p:spPr>
          <a:xfrm>
            <a:off x="8283" y="-12367"/>
            <a:ext cx="76040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2. </a:t>
            </a:r>
            <a:r>
              <a:rPr lang="nl-NL" sz="2800" dirty="0" err="1"/>
              <a:t>Flaws</a:t>
            </a:r>
            <a:r>
              <a:rPr lang="nl-NL" sz="2800" dirty="0"/>
              <a:t> in small score </a:t>
            </a:r>
            <a:r>
              <a:rPr lang="nl-NL" sz="2800" dirty="0" err="1"/>
              <a:t>strategy</a:t>
            </a:r>
            <a:r>
              <a:rPr lang="nl-NL" sz="2800" dirty="0"/>
              <a:t> </a:t>
            </a:r>
            <a:r>
              <a:rPr lang="nl-NL" sz="2800" dirty="0" err="1"/>
              <a:t>Algorithm</a:t>
            </a:r>
            <a:endParaRPr lang="nl-NL" sz="2800" dirty="0"/>
          </a:p>
          <a:p>
            <a:pPr marL="457200" indent="-457200">
              <a:buAutoNum type="arabicPeriod"/>
            </a:pPr>
            <a:endParaRPr lang="nl-NL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304BBD-CE0E-7D72-15E2-5FC150246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379" y="246793"/>
            <a:ext cx="3400953" cy="5817075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BB1B3A7F-6906-7522-F063-0B091B317CDF}"/>
              </a:ext>
            </a:extLst>
          </p:cNvPr>
          <p:cNvSpPr/>
          <p:nvPr/>
        </p:nvSpPr>
        <p:spPr>
          <a:xfrm rot="16200000">
            <a:off x="7060298" y="2837952"/>
            <a:ext cx="474827" cy="11820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049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5393-726C-7F6D-2A54-5B61E7A4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33AAB7B-BAC5-8380-6DC4-DC0907A85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6C63A805-56F5-FE31-3F26-714801EB7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54" y="2582557"/>
            <a:ext cx="10986696" cy="1399032"/>
          </a:xfrm>
        </p:spPr>
        <p:txBody>
          <a:bodyPr>
            <a:noAutofit/>
          </a:bodyPr>
          <a:lstStyle/>
          <a:p>
            <a:r>
              <a:rPr lang="nl-NL" altLang="zh-CN" sz="2800" dirty="0" err="1"/>
              <a:t>Future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Work</a:t>
            </a:r>
            <a:r>
              <a:rPr lang="nl-NL" altLang="zh-CN" sz="2800" dirty="0"/>
              <a:t>:</a:t>
            </a:r>
          </a:p>
          <a:p>
            <a:pPr marL="514350" indent="-514350">
              <a:buAutoNum type="arabicParenBoth"/>
            </a:pPr>
            <a:endParaRPr lang="nl-NL" sz="2800" dirty="0"/>
          </a:p>
          <a:p>
            <a:pPr marL="514350" indent="-514350">
              <a:buAutoNum type="arabicParenBoth"/>
            </a:pPr>
            <a:r>
              <a:rPr lang="nl-NL" sz="2800" dirty="0"/>
              <a:t> </a:t>
            </a:r>
            <a:r>
              <a:rPr lang="nl-NL" altLang="zh-CN" sz="2800" dirty="0"/>
              <a:t>Optimization3</a:t>
            </a: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7537957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539</Words>
  <Application>Microsoft Office PowerPoint</Application>
  <PresentationFormat>宽屏</PresentationFormat>
  <Paragraphs>93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Bierstadt</vt:lpstr>
      <vt:lpstr>Neue Haas Grotesk Text Pro</vt:lpstr>
      <vt:lpstr>GestaltVTI</vt:lpstr>
      <vt:lpstr>Optimization2 of Stem Pairing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44</cp:revision>
  <dcterms:created xsi:type="dcterms:W3CDTF">2025-09-24T08:15:25Z</dcterms:created>
  <dcterms:modified xsi:type="dcterms:W3CDTF">2025-11-06T09:17:26Z</dcterms:modified>
</cp:coreProperties>
</file>