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79" r:id="rId3"/>
    <p:sldId id="258" r:id="rId4"/>
    <p:sldId id="280" r:id="rId5"/>
    <p:sldId id="283" r:id="rId6"/>
    <p:sldId id="269" r:id="rId7"/>
    <p:sldId id="281" r:id="rId8"/>
    <p:sldId id="284" r:id="rId9"/>
    <p:sldId id="282" r:id="rId10"/>
    <p:sldId id="285" r:id="rId11"/>
    <p:sldId id="270" r:id="rId12"/>
    <p:sldId id="286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5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4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1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4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4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0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9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9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6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8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AD8A0319-AE46-77C0-E20B-0BFF79B7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69" b="726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83913-82E9-0231-BFD7-5D2FB4EF169E}"/>
              </a:ext>
            </a:extLst>
          </p:cNvPr>
          <p:cNvSpPr/>
          <p:nvPr/>
        </p:nvSpPr>
        <p:spPr>
          <a:xfrm>
            <a:off x="5968093" y="-10"/>
            <a:ext cx="622388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2F46A7-62AF-5535-A89E-4BC72FD67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2985" y="1444010"/>
            <a:ext cx="6649433" cy="3969960"/>
          </a:xfrm>
        </p:spPr>
        <p:txBody>
          <a:bodyPr anchor="t">
            <a:normAutofit/>
          </a:bodyPr>
          <a:lstStyle/>
          <a:p>
            <a:pPr algn="ctr"/>
            <a:r>
              <a:rPr lang="nl-NL" altLang="zh-CN" sz="4400" dirty="0">
                <a:solidFill>
                  <a:schemeClr val="bg1"/>
                </a:solidFill>
              </a:rPr>
              <a:t>Optimization1 of </a:t>
            </a:r>
            <a:r>
              <a:rPr lang="nl-NL" sz="4400" dirty="0">
                <a:solidFill>
                  <a:schemeClr val="bg1"/>
                </a:solidFill>
              </a:rPr>
              <a:t>Stem </a:t>
            </a:r>
            <a:r>
              <a:rPr lang="nl-NL" sz="4400" dirty="0" err="1">
                <a:solidFill>
                  <a:schemeClr val="bg1"/>
                </a:solidFill>
              </a:rPr>
              <a:t>Pa</a:t>
            </a:r>
            <a:r>
              <a:rPr lang="nl-NL" altLang="zh-CN" sz="4400" dirty="0" err="1">
                <a:solidFill>
                  <a:schemeClr val="bg1"/>
                </a:solidFill>
              </a:rPr>
              <a:t>i</a:t>
            </a:r>
            <a:r>
              <a:rPr lang="nl-NL" sz="4400" dirty="0" err="1">
                <a:solidFill>
                  <a:schemeClr val="bg1"/>
                </a:solidFill>
              </a:rPr>
              <a:t>ring</a:t>
            </a:r>
            <a:endParaRPr lang="nl-NL" sz="4400" dirty="0">
              <a:solidFill>
                <a:schemeClr val="bg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850C22-AD4C-689C-7C2C-25DA475AB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087" y="3332996"/>
            <a:ext cx="4381634" cy="1157436"/>
          </a:xfrm>
        </p:spPr>
        <p:txBody>
          <a:bodyPr anchor="b">
            <a:normAutofit/>
          </a:bodyPr>
          <a:lstStyle/>
          <a:p>
            <a:r>
              <a:rPr lang="nl-NL" sz="2800" dirty="0">
                <a:solidFill>
                  <a:schemeClr val="bg1"/>
                </a:solidFill>
              </a:rPr>
              <a:t>Week 8 Hua Jiang</a:t>
            </a:r>
          </a:p>
        </p:txBody>
      </p:sp>
      <p:pic>
        <p:nvPicPr>
          <p:cNvPr id="7" name="图片 6" descr="图片包含 监控, 桌子, 电脑, 照片&#10;&#10;AI 生成的内容可能不正确。">
            <a:extLst>
              <a:ext uri="{FF2B5EF4-FFF2-40B4-BE49-F238E27FC236}">
                <a16:creationId xmlns:a16="http://schemas.microsoft.com/office/drawing/2014/main" id="{B524388B-D561-F80C-DAA4-D30FE7356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31" y="1033955"/>
            <a:ext cx="5465234" cy="546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21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624B-7869-A8F7-73D4-CBBC4E734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78AF324-6C44-CDF3-A9CC-85C5A9B54B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C4D4444C-26FE-8C04-0C04-2FAC745B2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271" y="110670"/>
            <a:ext cx="12066815" cy="5302252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nl-NL" altLang="zh-CN" dirty="0" err="1"/>
              <a:t>Include</a:t>
            </a:r>
            <a:r>
              <a:rPr lang="nl-NL" altLang="zh-CN" dirty="0"/>
              <a:t> </a:t>
            </a:r>
            <a:r>
              <a:rPr lang="nl-NL" altLang="zh-CN" dirty="0" err="1"/>
              <a:t>length</a:t>
            </a:r>
            <a:r>
              <a:rPr lang="nl-NL" altLang="zh-CN" dirty="0"/>
              <a:t> </a:t>
            </a:r>
            <a:r>
              <a:rPr lang="nl-NL" altLang="zh-CN" dirty="0" err="1"/>
              <a:t>into</a:t>
            </a:r>
            <a:r>
              <a:rPr lang="nl-NL" altLang="zh-CN" dirty="0"/>
              <a:t> score </a:t>
            </a:r>
            <a:r>
              <a:rPr lang="nl-NL" altLang="zh-CN" dirty="0" err="1"/>
              <a:t>calculation</a:t>
            </a:r>
            <a:endParaRPr lang="nl-NL" altLang="zh-CN" dirty="0"/>
          </a:p>
          <a:p>
            <a:pPr marL="457200" indent="-457200">
              <a:buAutoNum type="arabicPeriod"/>
            </a:pPr>
            <a:endParaRPr lang="nl-NL" altLang="zh-CN" dirty="0"/>
          </a:p>
          <a:p>
            <a:r>
              <a:rPr lang="nl-NL" dirty="0"/>
              <a:t>2. </a:t>
            </a:r>
            <a:r>
              <a:rPr lang="nl-NL" dirty="0" err="1"/>
              <a:t>Solve</a:t>
            </a:r>
            <a:r>
              <a:rPr lang="nl-NL" dirty="0"/>
              <a:t> </a:t>
            </a:r>
            <a:r>
              <a:rPr lang="nl-NL" dirty="0" err="1"/>
              <a:t>Rhombus</a:t>
            </a:r>
            <a:r>
              <a:rPr lang="nl-NL" dirty="0"/>
              <a:t> </a:t>
            </a:r>
            <a:r>
              <a:rPr lang="nl-NL" dirty="0" err="1"/>
              <a:t>segmentations</a:t>
            </a:r>
            <a:r>
              <a:rPr lang="nl-NL" dirty="0"/>
              <a:t> </a:t>
            </a:r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</a:p>
          <a:p>
            <a:r>
              <a:rPr lang="nl-NL" dirty="0"/>
              <a:t>(1) filtering out small </a:t>
            </a:r>
            <a:r>
              <a:rPr lang="nl-NL" dirty="0" err="1"/>
              <a:t>pattern</a:t>
            </a:r>
            <a:r>
              <a:rPr lang="nl-NL" dirty="0"/>
              <a:t>, (2) </a:t>
            </a:r>
            <a:r>
              <a:rPr lang="nl-NL" dirty="0" err="1"/>
              <a:t>rectification</a:t>
            </a:r>
            <a:r>
              <a:rPr lang="nl-NL" dirty="0"/>
              <a:t> on </a:t>
            </a:r>
            <a:r>
              <a:rPr lang="nl-NL" dirty="0" err="1"/>
              <a:t>pairing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  <a:p>
            <a:endParaRPr lang="nl-NL" dirty="0"/>
          </a:p>
          <a:p>
            <a:r>
              <a:rPr lang="nl-NL" dirty="0"/>
              <a:t>3. </a:t>
            </a:r>
            <a:r>
              <a:rPr lang="nl-NL" dirty="0" err="1"/>
              <a:t>Optimization</a:t>
            </a:r>
            <a:r>
              <a:rPr lang="nl-NL" dirty="0"/>
              <a:t> of </a:t>
            </a:r>
            <a:r>
              <a:rPr lang="nl-NL" dirty="0" err="1"/>
              <a:t>orientation</a:t>
            </a:r>
            <a:r>
              <a:rPr lang="nl-NL" dirty="0"/>
              <a:t> </a:t>
            </a:r>
            <a:r>
              <a:rPr lang="nl-NL" dirty="0" err="1"/>
              <a:t>tolerance</a:t>
            </a:r>
            <a:endParaRPr lang="nl-NL" dirty="0"/>
          </a:p>
          <a:p>
            <a:endParaRPr lang="nl-NL" dirty="0"/>
          </a:p>
          <a:p>
            <a:r>
              <a:rPr lang="nl-NL" dirty="0"/>
              <a:t>4. </a:t>
            </a:r>
            <a:r>
              <a:rPr lang="nl-NL" dirty="0" err="1"/>
              <a:t>Optimization</a:t>
            </a:r>
            <a:r>
              <a:rPr lang="nl-NL" dirty="0"/>
              <a:t> of small score </a:t>
            </a:r>
            <a:r>
              <a:rPr lang="nl-NL" dirty="0" err="1"/>
              <a:t>strategy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distance</a:t>
            </a:r>
            <a:r>
              <a:rPr lang="nl-NL" dirty="0"/>
              <a:t> </a:t>
            </a:r>
            <a:r>
              <a:rPr lang="nl-NL" dirty="0" err="1"/>
              <a:t>calculation</a:t>
            </a:r>
            <a:endParaRPr lang="nl-NL" dirty="0"/>
          </a:p>
          <a:p>
            <a:endParaRPr lang="nl-NL" dirty="0"/>
          </a:p>
          <a:p>
            <a:r>
              <a:rPr lang="nl-NL" dirty="0"/>
              <a:t>5. </a:t>
            </a:r>
            <a:r>
              <a:rPr lang="nl-NL" dirty="0" err="1"/>
              <a:t>Horizontal</a:t>
            </a:r>
            <a:r>
              <a:rPr lang="nl-NL" dirty="0"/>
              <a:t> stem </a:t>
            </a:r>
            <a:r>
              <a:rPr lang="nl-NL" dirty="0" err="1"/>
              <a:t>problem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7252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401A-8E65-082D-F767-F5F297E46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DA6D4707-E2E6-CDD8-7FA8-CB1B3027C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66F9445-DDAC-3910-0184-670C58321CEF}"/>
              </a:ext>
            </a:extLst>
          </p:cNvPr>
          <p:cNvSpPr txBox="1"/>
          <p:nvPr/>
        </p:nvSpPr>
        <p:spPr>
          <a:xfrm>
            <a:off x="0" y="168861"/>
            <a:ext cx="8286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nl-NL" altLang="zh-CN" sz="2800" dirty="0" err="1"/>
              <a:t>Include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length</a:t>
            </a:r>
            <a:r>
              <a:rPr lang="nl-NL" altLang="zh-CN" sz="2800" dirty="0"/>
              <a:t> </a:t>
            </a:r>
            <a:r>
              <a:rPr lang="nl-NL" altLang="zh-CN" sz="2800" dirty="0" err="1"/>
              <a:t>into</a:t>
            </a:r>
            <a:r>
              <a:rPr lang="nl-NL" altLang="zh-CN" sz="2800" dirty="0"/>
              <a:t> score </a:t>
            </a:r>
            <a:r>
              <a:rPr lang="nl-NL" altLang="zh-CN" sz="2800" dirty="0" err="1"/>
              <a:t>calculation</a:t>
            </a:r>
            <a:endParaRPr lang="nl-NL" altLang="zh-CN" sz="2800" dirty="0"/>
          </a:p>
          <a:p>
            <a:endParaRPr lang="nl-NL" altLang="zh-CN" sz="2800" dirty="0"/>
          </a:p>
          <a:p>
            <a:pPr marL="457200" indent="-457200">
              <a:buAutoNum type="arabicPeriod"/>
            </a:pPr>
            <a:endParaRPr lang="nl-NL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9A4B36-D5DA-4B30-D577-0CD375216392}"/>
              </a:ext>
            </a:extLst>
          </p:cNvPr>
          <p:cNvSpPr txBox="1"/>
          <p:nvPr/>
        </p:nvSpPr>
        <p:spPr>
          <a:xfrm>
            <a:off x="122462" y="1182057"/>
            <a:ext cx="117919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radius = </a:t>
            </a:r>
            <a:r>
              <a:rPr lang="nl-NL" sz="2400" dirty="0" err="1"/>
              <a:t>abs</a:t>
            </a:r>
            <a:r>
              <a:rPr lang="nl-NL" sz="2400" dirty="0"/>
              <a:t>(</a:t>
            </a:r>
            <a:r>
              <a:rPr lang="nl-NL" sz="2400" dirty="0" err="1"/>
              <a:t>np.linalg.norm</a:t>
            </a:r>
            <a:r>
              <a:rPr lang="nl-NL" sz="2400" dirty="0"/>
              <a:t>(</a:t>
            </a:r>
            <a:r>
              <a:rPr lang="nl-NL" sz="2400" dirty="0" err="1"/>
              <a:t>inter</a:t>
            </a:r>
            <a:r>
              <a:rPr lang="nl-NL" sz="2400" dirty="0"/>
              <a:t> - c2) - (l2[0]+l2[1])/2)/</a:t>
            </a:r>
            <a:r>
              <a:rPr lang="nl-NL" sz="2400" u="sng" dirty="0">
                <a:solidFill>
                  <a:srgbClr val="FF0000"/>
                </a:solidFill>
              </a:rPr>
              <a:t>(1 + 1.5 * (conf2 ** 2))</a:t>
            </a:r>
          </a:p>
          <a:p>
            <a:endParaRPr lang="nl-NL" dirty="0"/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0C923A62-455A-89B0-EB74-F04B9641DEB7}"/>
              </a:ext>
            </a:extLst>
          </p:cNvPr>
          <p:cNvSpPr/>
          <p:nvPr/>
        </p:nvSpPr>
        <p:spPr>
          <a:xfrm>
            <a:off x="2204356" y="2068640"/>
            <a:ext cx="2179864" cy="1436914"/>
          </a:xfrm>
          <a:prstGeom prst="wedgeRoundRectCallout">
            <a:avLst>
              <a:gd name="adj1" fmla="val 86658"/>
              <a:gd name="adj2" fmla="val -7102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Original </a:t>
            </a:r>
            <a:r>
              <a:rPr lang="nl-NL" dirty="0" err="1"/>
              <a:t>calculation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intersection</a:t>
            </a:r>
            <a:r>
              <a:rPr lang="nl-NL" dirty="0"/>
              <a:t> of </a:t>
            </a:r>
            <a:r>
              <a:rPr lang="nl-NL" dirty="0" err="1"/>
              <a:t>vectors</a:t>
            </a:r>
            <a:endParaRPr lang="nl-NL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69439C3C-94D3-1FA1-3ADA-E5F8A39784A1}"/>
              </a:ext>
            </a:extLst>
          </p:cNvPr>
          <p:cNvSpPr/>
          <p:nvPr/>
        </p:nvSpPr>
        <p:spPr>
          <a:xfrm>
            <a:off x="7807781" y="2674357"/>
            <a:ext cx="4218211" cy="1595564"/>
          </a:xfrm>
          <a:prstGeom prst="wedgeRoundRectCallout">
            <a:avLst>
              <a:gd name="adj1" fmla="val 9504"/>
              <a:gd name="adj2" fmla="val -10795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The </a:t>
            </a:r>
            <a:r>
              <a:rPr lang="nl-NL" dirty="0" err="1"/>
              <a:t>longer</a:t>
            </a:r>
            <a:r>
              <a:rPr lang="nl-NL" dirty="0"/>
              <a:t>,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larger</a:t>
            </a:r>
            <a:r>
              <a:rPr lang="nl-NL" dirty="0"/>
              <a:t> </a:t>
            </a:r>
            <a:r>
              <a:rPr lang="nl-NL" dirty="0" err="1"/>
              <a:t>confidence</a:t>
            </a:r>
            <a:r>
              <a:rPr lang="nl-NL" dirty="0"/>
              <a:t> (</a:t>
            </a:r>
            <a:r>
              <a:rPr lang="nl-NL" dirty="0" err="1"/>
              <a:t>from</a:t>
            </a:r>
            <a:r>
              <a:rPr lang="nl-NL" dirty="0"/>
              <a:t> 0 </a:t>
            </a:r>
            <a:r>
              <a:rPr lang="nl-NL" dirty="0" err="1"/>
              <a:t>to</a:t>
            </a:r>
            <a:r>
              <a:rPr lang="nl-NL" dirty="0"/>
              <a:t> 1).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original</a:t>
            </a:r>
            <a:r>
              <a:rPr lang="nl-NL" dirty="0"/>
              <a:t> score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divided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1 </a:t>
            </a:r>
            <a:r>
              <a:rPr lang="nl-NL" dirty="0" err="1"/>
              <a:t>to</a:t>
            </a:r>
            <a:r>
              <a:rPr lang="nl-NL" dirty="0"/>
              <a:t> 2.5 (</a:t>
            </a:r>
            <a:r>
              <a:rPr lang="nl-NL" dirty="0" err="1"/>
              <a:t>to</a:t>
            </a:r>
            <a:r>
              <a:rPr lang="nl-NL" dirty="0"/>
              <a:t> limit </a:t>
            </a:r>
            <a:r>
              <a:rPr lang="nl-NL" dirty="0" err="1"/>
              <a:t>the</a:t>
            </a:r>
            <a:r>
              <a:rPr lang="nl-NL" dirty="0"/>
              <a:t> effect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length</a:t>
            </a:r>
            <a:r>
              <a:rPr lang="nl-N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5984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7CF9-EF1D-332F-2962-93C02340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127249A2-B63C-963C-CC72-DFE247459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12EE759-BD15-6F80-5E9E-8F85AA59B5C5}"/>
              </a:ext>
            </a:extLst>
          </p:cNvPr>
          <p:cNvSpPr txBox="1"/>
          <p:nvPr/>
        </p:nvSpPr>
        <p:spPr>
          <a:xfrm>
            <a:off x="65227" y="772807"/>
            <a:ext cx="11413759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2. </a:t>
            </a:r>
            <a:r>
              <a:rPr lang="nl-NL" sz="2800" dirty="0" err="1"/>
              <a:t>Solve</a:t>
            </a:r>
            <a:r>
              <a:rPr lang="nl-NL" sz="2800" dirty="0"/>
              <a:t> </a:t>
            </a:r>
            <a:r>
              <a:rPr lang="nl-NL" sz="2800" dirty="0" err="1"/>
              <a:t>Rhombus</a:t>
            </a:r>
            <a:r>
              <a:rPr lang="nl-NL" sz="2800" dirty="0"/>
              <a:t> </a:t>
            </a:r>
            <a:r>
              <a:rPr lang="nl-NL" sz="2800" dirty="0" err="1"/>
              <a:t>segmentations</a:t>
            </a:r>
            <a:r>
              <a:rPr lang="nl-NL" sz="2800" dirty="0"/>
              <a:t> </a:t>
            </a:r>
            <a:r>
              <a:rPr lang="nl-NL" sz="2800" dirty="0" err="1"/>
              <a:t>problem</a:t>
            </a:r>
            <a:endParaRPr lang="nl-NL" altLang="zh-CN" sz="2400" dirty="0"/>
          </a:p>
          <a:p>
            <a:endParaRPr lang="nl-NL" altLang="zh-CN" sz="2400" dirty="0"/>
          </a:p>
          <a:p>
            <a:r>
              <a:rPr lang="nl-NL" altLang="zh-CN" sz="2400" dirty="0"/>
              <a:t>(1) filter out small </a:t>
            </a:r>
            <a:r>
              <a:rPr lang="nl-NL" altLang="zh-CN" sz="2400" dirty="0" err="1"/>
              <a:t>segmentation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when</a:t>
            </a:r>
            <a:r>
              <a:rPr lang="nl-NL" altLang="zh-CN" sz="2400" dirty="0"/>
              <a:t> pixels &lt; 100</a:t>
            </a:r>
          </a:p>
          <a:p>
            <a:endParaRPr lang="nl-NL" altLang="zh-CN" sz="2400" dirty="0"/>
          </a:p>
          <a:p>
            <a:r>
              <a:rPr lang="nl-NL" altLang="zh-CN" sz="2400" dirty="0"/>
              <a:t>(2) </a:t>
            </a:r>
            <a:r>
              <a:rPr lang="nl-NL" altLang="zh-CN" sz="2400" dirty="0" err="1"/>
              <a:t>Add</a:t>
            </a:r>
            <a:r>
              <a:rPr lang="nl-NL" altLang="zh-CN" sz="2400" dirty="0"/>
              <a:t> filter on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pairing</a:t>
            </a:r>
            <a:r>
              <a:rPr lang="nl-NL" altLang="zh-CN" sz="2400" dirty="0"/>
              <a:t> </a:t>
            </a:r>
            <a:r>
              <a:rPr lang="nl-NL" altLang="zh-CN" sz="2400" dirty="0" err="1"/>
              <a:t>strategy</a:t>
            </a:r>
            <a:r>
              <a:rPr lang="nl-NL" altLang="zh-CN" sz="2400" dirty="0"/>
              <a:t>: </a:t>
            </a:r>
          </a:p>
          <a:p>
            <a:endParaRPr lang="nl-NL" altLang="zh-CN" sz="2400" dirty="0"/>
          </a:p>
          <a:p>
            <a:r>
              <a:rPr lang="nl-NL" altLang="zh-CN" sz="2400" dirty="0"/>
              <a:t>Stem A as base stem, </a:t>
            </a:r>
            <a:r>
              <a:rPr lang="nl-NL" altLang="zh-CN" sz="2400" dirty="0" err="1"/>
              <a:t>if</a:t>
            </a:r>
            <a:r>
              <a:rPr lang="nl-NL" altLang="zh-CN" sz="2400" dirty="0"/>
              <a:t> Stem B is </a:t>
            </a:r>
            <a:r>
              <a:rPr lang="nl-NL" altLang="zh-CN" sz="2400" dirty="0" err="1"/>
              <a:t>its</a:t>
            </a:r>
            <a:r>
              <a:rPr lang="nl-NL" altLang="zh-CN" sz="2400" dirty="0"/>
              <a:t> best </a:t>
            </a:r>
            <a:r>
              <a:rPr lang="nl-NL" altLang="zh-CN" sz="2400" dirty="0" err="1"/>
              <a:t>candidates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with</a:t>
            </a:r>
            <a:r>
              <a:rPr lang="nl-NL" altLang="zh-CN" sz="2400" dirty="0"/>
              <a:t> </a:t>
            </a:r>
            <a:r>
              <a:rPr lang="nl-NL" altLang="zh-CN" sz="2400" u="sng" dirty="0" err="1"/>
              <a:t>lowest</a:t>
            </a:r>
            <a:r>
              <a:rPr lang="nl-NL" altLang="zh-CN" sz="2400" u="sng" dirty="0"/>
              <a:t> score b</a:t>
            </a:r>
            <a:r>
              <a:rPr lang="nl-NL" altLang="zh-CN" sz="2400" dirty="0"/>
              <a:t>, we must check, </a:t>
            </a:r>
            <a:r>
              <a:rPr lang="nl-NL" altLang="zh-CN" sz="2400" dirty="0" err="1"/>
              <a:t>for</a:t>
            </a:r>
            <a:r>
              <a:rPr lang="nl-NL" altLang="zh-CN" sz="2400" dirty="0"/>
              <a:t> Stem B as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base stem, </a:t>
            </a:r>
            <a:r>
              <a:rPr lang="nl-NL" altLang="zh-CN" sz="2400" dirty="0" err="1"/>
              <a:t>if</a:t>
            </a:r>
            <a:r>
              <a:rPr lang="nl-NL" altLang="zh-CN" sz="2400" dirty="0"/>
              <a:t> </a:t>
            </a:r>
            <a:r>
              <a:rPr lang="nl-NL" altLang="zh-CN" sz="2400" u="sng" dirty="0"/>
              <a:t>Stem A score a </a:t>
            </a:r>
            <a:r>
              <a:rPr lang="nl-NL" altLang="zh-CN" sz="2400" dirty="0"/>
              <a:t>is </a:t>
            </a:r>
            <a:r>
              <a:rPr lang="nl-NL" altLang="zh-CN" sz="2400" dirty="0" err="1"/>
              <a:t>not</a:t>
            </a:r>
            <a:r>
              <a:rPr lang="nl-NL" altLang="zh-CN" sz="2400" dirty="0"/>
              <a:t> </a:t>
            </a:r>
            <a:r>
              <a:rPr lang="nl-NL" altLang="zh-CN" sz="2400" dirty="0" err="1"/>
              <a:t>much</a:t>
            </a:r>
            <a:r>
              <a:rPr lang="nl-NL" altLang="zh-CN" sz="2400" dirty="0"/>
              <a:t> different </a:t>
            </a:r>
            <a:r>
              <a:rPr lang="nl-NL" altLang="zh-CN" sz="2400" dirty="0" err="1"/>
              <a:t>from</a:t>
            </a:r>
            <a:r>
              <a:rPr lang="nl-NL" altLang="zh-CN" sz="2400" dirty="0"/>
              <a:t> </a:t>
            </a:r>
            <a:r>
              <a:rPr lang="nl-NL" altLang="zh-CN" sz="2400" u="sng" dirty="0"/>
              <a:t>Stem B score b</a:t>
            </a:r>
            <a:r>
              <a:rPr lang="nl-NL" altLang="zh-CN" sz="2400" dirty="0"/>
              <a:t>. </a:t>
            </a:r>
          </a:p>
          <a:p>
            <a:endParaRPr lang="nl-NL" altLang="zh-CN" sz="2400" dirty="0"/>
          </a:p>
          <a:p>
            <a:r>
              <a:rPr lang="nl-NL" altLang="zh-CN" sz="2400" dirty="0" err="1"/>
              <a:t>If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abs</a:t>
            </a:r>
            <a:r>
              <a:rPr lang="nl-NL" altLang="zh-CN" sz="2400" dirty="0"/>
              <a:t>(a - b) &gt; 30, </a:t>
            </a:r>
            <a:r>
              <a:rPr lang="nl-NL" altLang="zh-CN" sz="2400" dirty="0" err="1"/>
              <a:t>this</a:t>
            </a:r>
            <a:r>
              <a:rPr lang="nl-NL" altLang="zh-CN" sz="2400" dirty="0"/>
              <a:t> is a </a:t>
            </a:r>
            <a:r>
              <a:rPr lang="nl-NL" altLang="zh-CN" sz="2400" dirty="0" err="1"/>
              <a:t>false</a:t>
            </a:r>
            <a:r>
              <a:rPr lang="nl-NL" altLang="zh-CN" sz="2400" dirty="0"/>
              <a:t> pairing. </a:t>
            </a:r>
            <a:r>
              <a:rPr lang="nl-NL" altLang="zh-CN" sz="2400" dirty="0" err="1"/>
              <a:t>Then</a:t>
            </a:r>
            <a:r>
              <a:rPr lang="nl-NL" altLang="zh-CN" sz="2400" dirty="0"/>
              <a:t> Stem A has </a:t>
            </a:r>
            <a:r>
              <a:rPr lang="nl-NL" altLang="zh-CN" sz="2400" dirty="0" err="1"/>
              <a:t>to</a:t>
            </a:r>
            <a:r>
              <a:rPr lang="nl-NL" altLang="zh-CN" sz="2400" dirty="0"/>
              <a:t> move </a:t>
            </a:r>
            <a:r>
              <a:rPr lang="nl-NL" altLang="zh-CN" sz="2400" dirty="0" err="1"/>
              <a:t>to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second best </a:t>
            </a:r>
            <a:r>
              <a:rPr lang="nl-NL" altLang="zh-CN" sz="2400" dirty="0" err="1"/>
              <a:t>candidate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and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iterately</a:t>
            </a:r>
            <a:r>
              <a:rPr lang="nl-NL" altLang="zh-CN" sz="2400" dirty="0"/>
              <a:t> check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if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filter </a:t>
            </a:r>
            <a:r>
              <a:rPr lang="nl-NL" altLang="zh-CN" sz="2400" dirty="0" err="1"/>
              <a:t>condition</a:t>
            </a:r>
            <a:r>
              <a:rPr lang="nl-NL" altLang="zh-CN" sz="2400" dirty="0"/>
              <a:t> is </a:t>
            </a:r>
            <a:r>
              <a:rPr lang="nl-NL" altLang="zh-CN" sz="2400" dirty="0" err="1"/>
              <a:t>satisfied</a:t>
            </a:r>
            <a:endParaRPr lang="nl-NL" altLang="zh-CN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884B02-A21B-FC60-8740-30F200C71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284" y="424240"/>
            <a:ext cx="2871819" cy="2331423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1F03EF4-4438-7A53-D01C-6A89D8458CA1}"/>
              </a:ext>
            </a:extLst>
          </p:cNvPr>
          <p:cNvCxnSpPr/>
          <p:nvPr/>
        </p:nvCxnSpPr>
        <p:spPr>
          <a:xfrm>
            <a:off x="9458632" y="1042219"/>
            <a:ext cx="648929" cy="153383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EC10E7A-E539-45F3-5F64-45A0B232D8DA}"/>
              </a:ext>
            </a:extLst>
          </p:cNvPr>
          <p:cNvCxnSpPr>
            <a:cxnSpLocks/>
          </p:cNvCxnSpPr>
          <p:nvPr/>
        </p:nvCxnSpPr>
        <p:spPr>
          <a:xfrm>
            <a:off x="9615948" y="969822"/>
            <a:ext cx="73741" cy="1678626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99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9C0A-A820-7AF2-5685-10765B5A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CDB3FCE5-C3C5-BE06-DA11-13AA190D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CDDA8F-EB12-BD2A-5BC1-08E77718B64D}"/>
              </a:ext>
            </a:extLst>
          </p:cNvPr>
          <p:cNvSpPr txBox="1"/>
          <p:nvPr/>
        </p:nvSpPr>
        <p:spPr>
          <a:xfrm>
            <a:off x="0" y="0"/>
            <a:ext cx="54783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800" dirty="0"/>
              <a:t>2. Filter on </a:t>
            </a:r>
            <a:r>
              <a:rPr lang="nl-NL" altLang="zh-CN" sz="2800" dirty="0" err="1"/>
              <a:t>the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pairing</a:t>
            </a:r>
            <a:r>
              <a:rPr lang="nl-NL" altLang="zh-CN" sz="2800" dirty="0"/>
              <a:t> </a:t>
            </a:r>
            <a:r>
              <a:rPr lang="nl-NL" altLang="zh-CN" sz="2800" dirty="0" err="1"/>
              <a:t>strategy</a:t>
            </a:r>
            <a:endParaRPr lang="nl-NL" altLang="zh-CN" sz="2400" dirty="0"/>
          </a:p>
          <a:p>
            <a:endParaRPr lang="nl-NL" altLang="zh-CN" sz="2400" dirty="0"/>
          </a:p>
        </p:txBody>
      </p:sp>
      <p:pic>
        <p:nvPicPr>
          <p:cNvPr id="3" name="图片 2" descr="图片包含 桌子, 监控, 电脑, 蓝色&#10;&#10;AI 生成的内容可能不正确。">
            <a:extLst>
              <a:ext uri="{FF2B5EF4-FFF2-40B4-BE49-F238E27FC236}">
                <a16:creationId xmlns:a16="http://schemas.microsoft.com/office/drawing/2014/main" id="{30BF17FD-373D-EC59-240E-ADA6E8F1C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5645"/>
            <a:ext cx="5657850" cy="5657850"/>
          </a:xfrm>
          <a:prstGeom prst="rect">
            <a:avLst/>
          </a:prstGeom>
        </p:spPr>
      </p:pic>
      <p:pic>
        <p:nvPicPr>
          <p:cNvPr id="6" name="图片 5" descr="图片包含 监控, 桌子, 电脑, 照片&#10;&#10;AI 生成的内容可能不正确。">
            <a:extLst>
              <a:ext uri="{FF2B5EF4-FFF2-40B4-BE49-F238E27FC236}">
                <a16:creationId xmlns:a16="http://schemas.microsoft.com/office/drawing/2014/main" id="{69FEF640-DDF9-1DAF-8974-A9C38A635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955" y="775645"/>
            <a:ext cx="5657850" cy="5657850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9673AFE-732A-B27B-CE82-0AF462FD281F}"/>
              </a:ext>
            </a:extLst>
          </p:cNvPr>
          <p:cNvCxnSpPr>
            <a:cxnSpLocks/>
          </p:cNvCxnSpPr>
          <p:nvPr/>
        </p:nvCxnSpPr>
        <p:spPr>
          <a:xfrm>
            <a:off x="1744696" y="2137720"/>
            <a:ext cx="502008" cy="14341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64DE9ED5-37D8-5024-38FF-245FF2A07871}"/>
              </a:ext>
            </a:extLst>
          </p:cNvPr>
          <p:cNvSpPr/>
          <p:nvPr/>
        </p:nvSpPr>
        <p:spPr>
          <a:xfrm>
            <a:off x="1412875" y="1324561"/>
            <a:ext cx="1130300" cy="590022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Base Stem</a:t>
            </a:r>
            <a:endParaRPr lang="nl-NL" dirty="0"/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853CBC91-F0FC-1BE1-2337-DCC0E4FFF517}"/>
              </a:ext>
            </a:extLst>
          </p:cNvPr>
          <p:cNvSpPr/>
          <p:nvPr/>
        </p:nvSpPr>
        <p:spPr>
          <a:xfrm>
            <a:off x="82550" y="2199612"/>
            <a:ext cx="1330325" cy="590022"/>
          </a:xfrm>
          <a:prstGeom prst="wedgeRoundRectCallout">
            <a:avLst>
              <a:gd name="adj1" fmla="val 77482"/>
              <a:gd name="adj2" fmla="val 1299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True Partner</a:t>
            </a:r>
            <a:endParaRPr lang="nl-NL" dirty="0"/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15257CF3-A269-41AC-00D6-BA2802A03267}"/>
              </a:ext>
            </a:extLst>
          </p:cNvPr>
          <p:cNvSpPr/>
          <p:nvPr/>
        </p:nvSpPr>
        <p:spPr>
          <a:xfrm>
            <a:off x="2543174" y="3014548"/>
            <a:ext cx="1412875" cy="590022"/>
          </a:xfrm>
          <a:prstGeom prst="wedgeRoundRectCallout">
            <a:avLst>
              <a:gd name="adj1" fmla="val -66339"/>
              <a:gd name="adj2" fmla="val 5604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Best </a:t>
            </a:r>
            <a:r>
              <a:rPr lang="nl-NL" altLang="zh-CN" dirty="0" err="1"/>
              <a:t>candidate</a:t>
            </a:r>
            <a:endParaRPr lang="nl-NL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8798A0F-8B00-AB85-EE0B-889EBFA1DD59}"/>
              </a:ext>
            </a:extLst>
          </p:cNvPr>
          <p:cNvCxnSpPr>
            <a:cxnSpLocks/>
          </p:cNvCxnSpPr>
          <p:nvPr/>
        </p:nvCxnSpPr>
        <p:spPr>
          <a:xfrm flipH="1" flipV="1">
            <a:off x="8401050" y="1877066"/>
            <a:ext cx="253172" cy="18251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D770224A-6375-EEA8-8ACD-D77355201F6A}"/>
              </a:ext>
            </a:extLst>
          </p:cNvPr>
          <p:cNvSpPr/>
          <p:nvPr/>
        </p:nvSpPr>
        <p:spPr>
          <a:xfrm>
            <a:off x="6380955" y="513379"/>
            <a:ext cx="2001837" cy="1154817"/>
          </a:xfrm>
          <a:prstGeom prst="wedgeRoundRectCallout">
            <a:avLst>
              <a:gd name="adj1" fmla="val 90403"/>
              <a:gd name="adj2" fmla="val 4097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The score is way </a:t>
            </a:r>
            <a:r>
              <a:rPr lang="nl-NL" altLang="zh-CN" dirty="0" err="1"/>
              <a:t>too</a:t>
            </a:r>
            <a:r>
              <a:rPr lang="nl-NL" altLang="zh-CN" dirty="0"/>
              <a:t> large </a:t>
            </a:r>
            <a:r>
              <a:rPr lang="nl-NL" altLang="zh-CN" dirty="0" err="1"/>
              <a:t>to</a:t>
            </a:r>
            <a:r>
              <a:rPr lang="nl-NL" altLang="zh-CN" dirty="0"/>
              <a:t> </a:t>
            </a:r>
            <a:r>
              <a:rPr lang="nl-NL" altLang="zh-CN" dirty="0" err="1"/>
              <a:t>be</a:t>
            </a:r>
            <a:r>
              <a:rPr lang="nl-NL" altLang="zh-CN" dirty="0"/>
              <a:t> best </a:t>
            </a:r>
            <a:r>
              <a:rPr lang="nl-NL" altLang="zh-CN" dirty="0" err="1"/>
              <a:t>candidate</a:t>
            </a:r>
            <a:endParaRPr lang="nl-NL" dirty="0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6F839598-2D21-45AB-3EF6-2905A13137CF}"/>
              </a:ext>
            </a:extLst>
          </p:cNvPr>
          <p:cNvSpPr/>
          <p:nvPr/>
        </p:nvSpPr>
        <p:spPr>
          <a:xfrm>
            <a:off x="6262152" y="2394966"/>
            <a:ext cx="1777345" cy="694290"/>
          </a:xfrm>
          <a:prstGeom prst="wedgeRoundRectCallout">
            <a:avLst>
              <a:gd name="adj1" fmla="val 90086"/>
              <a:gd name="adj2" fmla="val -4700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Move </a:t>
            </a:r>
            <a:r>
              <a:rPr lang="nl-NL" altLang="zh-CN" dirty="0" err="1"/>
              <a:t>to</a:t>
            </a:r>
            <a:r>
              <a:rPr lang="nl-NL" altLang="zh-CN" dirty="0"/>
              <a:t> </a:t>
            </a:r>
            <a:r>
              <a:rPr lang="nl-NL" altLang="zh-CN" dirty="0" err="1"/>
              <a:t>seek</a:t>
            </a:r>
            <a:r>
              <a:rPr lang="nl-NL" altLang="zh-CN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next</a:t>
            </a:r>
            <a:endParaRPr lang="nl-NL" dirty="0"/>
          </a:p>
        </p:txBody>
      </p:sp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16273061-C6A4-DEB9-ECB0-3ABB3BB3C804}"/>
              </a:ext>
            </a:extLst>
          </p:cNvPr>
          <p:cNvSpPr/>
          <p:nvPr/>
        </p:nvSpPr>
        <p:spPr>
          <a:xfrm>
            <a:off x="8732804" y="2981853"/>
            <a:ext cx="1130300" cy="590022"/>
          </a:xfrm>
          <a:prstGeom prst="wedgeRoundRectCallout">
            <a:avLst>
              <a:gd name="adj1" fmla="val -51732"/>
              <a:gd name="adj2" fmla="val 7433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Base Stem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1280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4105-F5C5-4B03-0A68-5FC992B8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03CFAF4-5F03-1439-4797-78048B5EF7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6EB9C6A-DF09-8659-A113-07FDBAEF3F51}"/>
              </a:ext>
            </a:extLst>
          </p:cNvPr>
          <p:cNvSpPr txBox="1"/>
          <p:nvPr/>
        </p:nvSpPr>
        <p:spPr>
          <a:xfrm>
            <a:off x="74003" y="202803"/>
            <a:ext cx="838618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3. </a:t>
            </a:r>
            <a:r>
              <a:rPr lang="nl-NL" sz="2800" dirty="0" err="1"/>
              <a:t>Optimization</a:t>
            </a:r>
            <a:r>
              <a:rPr lang="nl-NL" sz="2800" dirty="0"/>
              <a:t> of </a:t>
            </a:r>
            <a:r>
              <a:rPr lang="nl-NL" sz="2800" dirty="0" err="1"/>
              <a:t>orientation</a:t>
            </a:r>
            <a:r>
              <a:rPr lang="nl-NL" sz="2800" dirty="0"/>
              <a:t> </a:t>
            </a:r>
            <a:r>
              <a:rPr lang="nl-NL" sz="2800" dirty="0" err="1"/>
              <a:t>tolerance</a:t>
            </a:r>
            <a:endParaRPr lang="nl-NL" sz="2800" dirty="0"/>
          </a:p>
          <a:p>
            <a:pPr marL="457200" indent="-457200">
              <a:buAutoNum type="arabicPeriod"/>
            </a:pPr>
            <a:endParaRPr lang="nl-NL" altLang="zh-CN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D1F75F-685D-A9AF-B66F-86CB46213D36}"/>
              </a:ext>
            </a:extLst>
          </p:cNvPr>
          <p:cNvSpPr/>
          <p:nvPr/>
        </p:nvSpPr>
        <p:spPr>
          <a:xfrm>
            <a:off x="391776" y="1095355"/>
            <a:ext cx="5067300" cy="48051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940E879-13B9-614F-A66D-89371822164D}"/>
              </a:ext>
            </a:extLst>
          </p:cNvPr>
          <p:cNvCxnSpPr>
            <a:cxnSpLocks/>
          </p:cNvCxnSpPr>
          <p:nvPr/>
        </p:nvCxnSpPr>
        <p:spPr>
          <a:xfrm flipH="1">
            <a:off x="2726136" y="1794794"/>
            <a:ext cx="44098" cy="391979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38CEB25-1E57-5A22-65FB-234F681A90E8}"/>
              </a:ext>
            </a:extLst>
          </p:cNvPr>
          <p:cNvSpPr/>
          <p:nvPr/>
        </p:nvSpPr>
        <p:spPr>
          <a:xfrm rot="1658645">
            <a:off x="2547125" y="365523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39A9C9A-AAC7-C579-BD49-44CB430383E3}"/>
              </a:ext>
            </a:extLst>
          </p:cNvPr>
          <p:cNvSpPr/>
          <p:nvPr/>
        </p:nvSpPr>
        <p:spPr>
          <a:xfrm rot="2106093">
            <a:off x="2247531" y="4193971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DE42071-FFAF-A39C-BF80-795D74F513F2}"/>
              </a:ext>
            </a:extLst>
          </p:cNvPr>
          <p:cNvSpPr/>
          <p:nvPr/>
        </p:nvSpPr>
        <p:spPr>
          <a:xfrm rot="19682516">
            <a:off x="2242255" y="1740793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EF73F8F-88D1-2034-22F0-9DB7EFAA91C6}"/>
              </a:ext>
            </a:extLst>
          </p:cNvPr>
          <p:cNvSpPr/>
          <p:nvPr/>
        </p:nvSpPr>
        <p:spPr>
          <a:xfrm rot="20146179">
            <a:off x="2523976" y="2323903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2CCF527-712F-C65F-9816-A02236146FEC}"/>
              </a:ext>
            </a:extLst>
          </p:cNvPr>
          <p:cNvSpPr/>
          <p:nvPr/>
        </p:nvSpPr>
        <p:spPr>
          <a:xfrm rot="2626670">
            <a:off x="1929644" y="465435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E565F0B-286D-4058-21FB-BFDA7B1F5E7E}"/>
              </a:ext>
            </a:extLst>
          </p:cNvPr>
          <p:cNvSpPr/>
          <p:nvPr/>
        </p:nvSpPr>
        <p:spPr>
          <a:xfrm>
            <a:off x="2719275" y="3057180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03619DC-B8D9-769E-D5B5-18E94C1A6E9B}"/>
              </a:ext>
            </a:extLst>
          </p:cNvPr>
          <p:cNvSpPr/>
          <p:nvPr/>
        </p:nvSpPr>
        <p:spPr>
          <a:xfrm rot="19009040">
            <a:off x="1825883" y="1208300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03444AC-9205-FFA5-1042-79F9DABA8BDC}"/>
              </a:ext>
            </a:extLst>
          </p:cNvPr>
          <p:cNvCxnSpPr>
            <a:cxnSpLocks/>
          </p:cNvCxnSpPr>
          <p:nvPr/>
        </p:nvCxnSpPr>
        <p:spPr>
          <a:xfrm>
            <a:off x="1942770" y="1807749"/>
            <a:ext cx="1782484" cy="3246262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8FD05A4-C71E-883A-15CA-D913E4069F29}"/>
              </a:ext>
            </a:extLst>
          </p:cNvPr>
          <p:cNvCxnSpPr>
            <a:cxnSpLocks/>
          </p:cNvCxnSpPr>
          <p:nvPr/>
        </p:nvCxnSpPr>
        <p:spPr>
          <a:xfrm flipH="1">
            <a:off x="1776005" y="1832406"/>
            <a:ext cx="1754912" cy="3301849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" name="弧形 20">
            <a:extLst>
              <a:ext uri="{FF2B5EF4-FFF2-40B4-BE49-F238E27FC236}">
                <a16:creationId xmlns:a16="http://schemas.microsoft.com/office/drawing/2014/main" id="{E4E52336-283C-AA95-7F61-3DB3307D933C}"/>
              </a:ext>
            </a:extLst>
          </p:cNvPr>
          <p:cNvSpPr/>
          <p:nvPr/>
        </p:nvSpPr>
        <p:spPr>
          <a:xfrm rot="19962843">
            <a:off x="2482717" y="3022761"/>
            <a:ext cx="284789" cy="81022"/>
          </a:xfrm>
          <a:prstGeom prst="arc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73B8453-ABE7-583B-C615-9C5B4F49426B}"/>
              </a:ext>
            </a:extLst>
          </p:cNvPr>
          <p:cNvSpPr txBox="1"/>
          <p:nvPr/>
        </p:nvSpPr>
        <p:spPr>
          <a:xfrm>
            <a:off x="2419119" y="2731390"/>
            <a:ext cx="766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20</a:t>
            </a:r>
            <a:r>
              <a:rPr lang="nl-NL" altLang="zh-CN" sz="1400" dirty="0"/>
              <a:t>°</a:t>
            </a:r>
            <a:endParaRPr lang="nl-NL" sz="14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C55D71-16F0-D33B-B7D1-612FD90FD3EF}"/>
              </a:ext>
            </a:extLst>
          </p:cNvPr>
          <p:cNvSpPr/>
          <p:nvPr/>
        </p:nvSpPr>
        <p:spPr>
          <a:xfrm>
            <a:off x="6544926" y="1125418"/>
            <a:ext cx="5067300" cy="48051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D1E7C9F-A2DC-782B-1E97-4711247F0FB4}"/>
              </a:ext>
            </a:extLst>
          </p:cNvPr>
          <p:cNvCxnSpPr>
            <a:cxnSpLocks/>
          </p:cNvCxnSpPr>
          <p:nvPr/>
        </p:nvCxnSpPr>
        <p:spPr>
          <a:xfrm flipH="1">
            <a:off x="8879286" y="1824857"/>
            <a:ext cx="44098" cy="391979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5CC44A5-63AC-2774-04FA-B66020899E14}"/>
              </a:ext>
            </a:extLst>
          </p:cNvPr>
          <p:cNvSpPr/>
          <p:nvPr/>
        </p:nvSpPr>
        <p:spPr>
          <a:xfrm>
            <a:off x="8872425" y="3087243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8B10B3E4-477B-F868-8B9A-55BD8A189544}"/>
              </a:ext>
            </a:extLst>
          </p:cNvPr>
          <p:cNvSpPr/>
          <p:nvPr/>
        </p:nvSpPr>
        <p:spPr>
          <a:xfrm rot="19009040">
            <a:off x="7979033" y="1238363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2AE2F02B-0A43-734C-80B4-6C25BC5E6DA4}"/>
              </a:ext>
            </a:extLst>
          </p:cNvPr>
          <p:cNvCxnSpPr>
            <a:cxnSpLocks/>
            <a:stCxn id="38" idx="1"/>
          </p:cNvCxnSpPr>
          <p:nvPr/>
        </p:nvCxnSpPr>
        <p:spPr>
          <a:xfrm flipH="1" flipV="1">
            <a:off x="7892562" y="1164163"/>
            <a:ext cx="979863" cy="2185934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B69EC19-76EB-A16F-3BCC-77682F1F0EED}"/>
              </a:ext>
            </a:extLst>
          </p:cNvPr>
          <p:cNvCxnSpPr>
            <a:cxnSpLocks/>
          </p:cNvCxnSpPr>
          <p:nvPr/>
        </p:nvCxnSpPr>
        <p:spPr>
          <a:xfrm flipH="1" flipV="1">
            <a:off x="7634270" y="1113346"/>
            <a:ext cx="1289114" cy="13240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弧形 52">
            <a:extLst>
              <a:ext uri="{FF2B5EF4-FFF2-40B4-BE49-F238E27FC236}">
                <a16:creationId xmlns:a16="http://schemas.microsoft.com/office/drawing/2014/main" id="{FC340AC4-B40C-98E5-D3B5-2A7FB5B90232}"/>
              </a:ext>
            </a:extLst>
          </p:cNvPr>
          <p:cNvSpPr/>
          <p:nvPr/>
        </p:nvSpPr>
        <p:spPr>
          <a:xfrm rot="19962843">
            <a:off x="8635868" y="3117950"/>
            <a:ext cx="284789" cy="81022"/>
          </a:xfrm>
          <a:prstGeom prst="arc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F422EE3-829F-8586-9977-3BCDA016B078}"/>
              </a:ext>
            </a:extLst>
          </p:cNvPr>
          <p:cNvSpPr txBox="1"/>
          <p:nvPr/>
        </p:nvSpPr>
        <p:spPr>
          <a:xfrm>
            <a:off x="7983668" y="2825146"/>
            <a:ext cx="895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 err="1"/>
              <a:t>ang_pos</a:t>
            </a:r>
            <a:endParaRPr lang="nl-NL" sz="1400" dirty="0"/>
          </a:p>
        </p:txBody>
      </p:sp>
      <p:sp>
        <p:nvSpPr>
          <p:cNvPr id="55" name="弧形 54">
            <a:extLst>
              <a:ext uri="{FF2B5EF4-FFF2-40B4-BE49-F238E27FC236}">
                <a16:creationId xmlns:a16="http://schemas.microsoft.com/office/drawing/2014/main" id="{24770022-3047-B111-5799-3160BDAB6D48}"/>
              </a:ext>
            </a:extLst>
          </p:cNvPr>
          <p:cNvSpPr/>
          <p:nvPr/>
        </p:nvSpPr>
        <p:spPr>
          <a:xfrm rot="19962843">
            <a:off x="8683143" y="2292474"/>
            <a:ext cx="284789" cy="81022"/>
          </a:xfrm>
          <a:prstGeom prst="arc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91E499B-174D-C6AA-9B40-2D5EDD8CA7E5}"/>
              </a:ext>
            </a:extLst>
          </p:cNvPr>
          <p:cNvSpPr txBox="1"/>
          <p:nvPr/>
        </p:nvSpPr>
        <p:spPr>
          <a:xfrm>
            <a:off x="8408296" y="4077384"/>
            <a:ext cx="895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 err="1"/>
              <a:t>ang</a:t>
            </a:r>
            <a:endParaRPr lang="nl-NL" sz="1400" dirty="0"/>
          </a:p>
        </p:txBody>
      </p:sp>
      <p:sp>
        <p:nvSpPr>
          <p:cNvPr id="57" name="对话气泡: 圆角矩形 56">
            <a:extLst>
              <a:ext uri="{FF2B5EF4-FFF2-40B4-BE49-F238E27FC236}">
                <a16:creationId xmlns:a16="http://schemas.microsoft.com/office/drawing/2014/main" id="{C70F4F1A-2AEF-9C78-74E9-64E0ED0056FA}"/>
              </a:ext>
            </a:extLst>
          </p:cNvPr>
          <p:cNvSpPr/>
          <p:nvPr/>
        </p:nvSpPr>
        <p:spPr>
          <a:xfrm>
            <a:off x="5276248" y="1762482"/>
            <a:ext cx="2198174" cy="1263650"/>
          </a:xfrm>
          <a:prstGeom prst="wedgeRoundRectCallout">
            <a:avLst>
              <a:gd name="adj1" fmla="val 72062"/>
              <a:gd name="adj2" fmla="val -6096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The </a:t>
            </a:r>
            <a:r>
              <a:rPr lang="nl-NL" dirty="0" err="1"/>
              <a:t>larger</a:t>
            </a:r>
            <a:r>
              <a:rPr lang="nl-NL" dirty="0"/>
              <a:t> </a:t>
            </a:r>
            <a:r>
              <a:rPr lang="nl-NL" dirty="0" err="1"/>
              <a:t>ang_pos</a:t>
            </a:r>
            <a:r>
              <a:rPr lang="nl-NL" dirty="0"/>
              <a:t>,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larger</a:t>
            </a:r>
            <a:r>
              <a:rPr lang="nl-NL" dirty="0"/>
              <a:t> </a:t>
            </a:r>
            <a:r>
              <a:rPr lang="nl-NL" dirty="0" err="1"/>
              <a:t>ang</a:t>
            </a:r>
            <a:r>
              <a:rPr lang="nl-NL" dirty="0"/>
              <a:t> </a:t>
            </a:r>
            <a:r>
              <a:rPr lang="nl-NL" dirty="0" err="1"/>
              <a:t>tolerance</a:t>
            </a:r>
            <a:endParaRPr lang="nl-NL" dirty="0"/>
          </a:p>
        </p:txBody>
      </p:sp>
      <p:sp>
        <p:nvSpPr>
          <p:cNvPr id="58" name="弧形 57">
            <a:extLst>
              <a:ext uri="{FF2B5EF4-FFF2-40B4-BE49-F238E27FC236}">
                <a16:creationId xmlns:a16="http://schemas.microsoft.com/office/drawing/2014/main" id="{5A71DA2F-9443-8A7E-45FF-C3C7283232CC}"/>
              </a:ext>
            </a:extLst>
          </p:cNvPr>
          <p:cNvSpPr/>
          <p:nvPr/>
        </p:nvSpPr>
        <p:spPr>
          <a:xfrm rot="8485711">
            <a:off x="8180189" y="1767473"/>
            <a:ext cx="220731" cy="45719"/>
          </a:xfrm>
          <a:prstGeom prst="arc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EE38A91-FD5E-B851-BDC3-92635A42048E}"/>
              </a:ext>
            </a:extLst>
          </p:cNvPr>
          <p:cNvSpPr txBox="1"/>
          <p:nvPr/>
        </p:nvSpPr>
        <p:spPr>
          <a:xfrm>
            <a:off x="8163726" y="1453750"/>
            <a:ext cx="2610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 err="1"/>
              <a:t>ang</a:t>
            </a:r>
            <a:r>
              <a:rPr lang="nl-NL" sz="1400" dirty="0"/>
              <a:t> – </a:t>
            </a:r>
            <a:r>
              <a:rPr lang="nl-NL" sz="1400" dirty="0" err="1"/>
              <a:t>ang_pos</a:t>
            </a:r>
            <a:r>
              <a:rPr lang="nl-NL" sz="1400" dirty="0"/>
              <a:t> &lt; 15 </a:t>
            </a:r>
            <a:r>
              <a:rPr lang="nl-NL" altLang="zh-CN" sz="1400" dirty="0"/>
              <a:t>°</a:t>
            </a:r>
            <a:r>
              <a:rPr lang="nl-NL" sz="1400" dirty="0"/>
              <a:t> 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13B9CED4-3A11-29B4-783C-2953CA7EA53A}"/>
              </a:ext>
            </a:extLst>
          </p:cNvPr>
          <p:cNvSpPr/>
          <p:nvPr/>
        </p:nvSpPr>
        <p:spPr>
          <a:xfrm rot="19009040">
            <a:off x="8858123" y="4488682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6AD735C-50AA-9D64-C1AC-80975A926E12}"/>
              </a:ext>
            </a:extLst>
          </p:cNvPr>
          <p:cNvCxnSpPr>
            <a:cxnSpLocks/>
          </p:cNvCxnSpPr>
          <p:nvPr/>
        </p:nvCxnSpPr>
        <p:spPr>
          <a:xfrm flipH="1" flipV="1">
            <a:off x="8190014" y="4037488"/>
            <a:ext cx="1289114" cy="13240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对话气泡: 圆角矩形 61">
            <a:extLst>
              <a:ext uri="{FF2B5EF4-FFF2-40B4-BE49-F238E27FC236}">
                <a16:creationId xmlns:a16="http://schemas.microsoft.com/office/drawing/2014/main" id="{0A5E1968-F5F0-89F9-ED32-9484450C1222}"/>
              </a:ext>
            </a:extLst>
          </p:cNvPr>
          <p:cNvSpPr/>
          <p:nvPr/>
        </p:nvSpPr>
        <p:spPr>
          <a:xfrm>
            <a:off x="9043203" y="2332985"/>
            <a:ext cx="3004949" cy="2040111"/>
          </a:xfrm>
          <a:prstGeom prst="wedgeRoundRectCallout">
            <a:avLst>
              <a:gd name="adj1" fmla="val -45828"/>
              <a:gd name="adj2" fmla="val 7086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The stem right on </a:t>
            </a:r>
            <a:r>
              <a:rPr lang="nl-NL" dirty="0" err="1"/>
              <a:t>the</a:t>
            </a:r>
            <a:r>
              <a:rPr lang="nl-NL" dirty="0"/>
              <a:t> stem line is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supposed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have large </a:t>
            </a:r>
            <a:r>
              <a:rPr lang="nl-NL" dirty="0" err="1"/>
              <a:t>ang</a:t>
            </a:r>
            <a:r>
              <a:rPr lang="nl-NL" dirty="0"/>
              <a:t> </a:t>
            </a:r>
            <a:r>
              <a:rPr lang="nl-NL" dirty="0" err="1"/>
              <a:t>difference</a:t>
            </a:r>
            <a:r>
              <a:rPr lang="nl-NL" dirty="0"/>
              <a:t>.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Here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less</a:t>
            </a:r>
            <a:r>
              <a:rPr lang="nl-NL" dirty="0"/>
              <a:t> </a:t>
            </a:r>
            <a:r>
              <a:rPr lang="nl-NL" dirty="0" err="1"/>
              <a:t>than</a:t>
            </a:r>
            <a:r>
              <a:rPr lang="nl-NL" dirty="0"/>
              <a:t> 15</a:t>
            </a:r>
            <a:r>
              <a:rPr lang="nl-NL" altLang="zh-CN" dirty="0"/>
              <a:t>° </a:t>
            </a:r>
            <a:r>
              <a:rPr lang="nl-NL" altLang="zh-CN" dirty="0" err="1"/>
              <a:t>if</a:t>
            </a:r>
            <a:r>
              <a:rPr lang="nl-NL" altLang="zh-CN" dirty="0"/>
              <a:t> </a:t>
            </a:r>
            <a:r>
              <a:rPr lang="nl-NL" altLang="zh-CN" dirty="0" err="1"/>
              <a:t>ang_pos</a:t>
            </a:r>
            <a:r>
              <a:rPr lang="nl-NL" altLang="zh-CN" dirty="0"/>
              <a:t> is 0</a:t>
            </a:r>
            <a:endParaRPr lang="nl-NL" dirty="0"/>
          </a:p>
        </p:txBody>
      </p:sp>
      <p:sp>
        <p:nvSpPr>
          <p:cNvPr id="63" name="弧形 62">
            <a:extLst>
              <a:ext uri="{FF2B5EF4-FFF2-40B4-BE49-F238E27FC236}">
                <a16:creationId xmlns:a16="http://schemas.microsoft.com/office/drawing/2014/main" id="{A65E07B7-2609-8DB4-A352-C2A4EE0671AB}"/>
              </a:ext>
            </a:extLst>
          </p:cNvPr>
          <p:cNvSpPr/>
          <p:nvPr/>
        </p:nvSpPr>
        <p:spPr>
          <a:xfrm rot="19962843">
            <a:off x="8622213" y="4549800"/>
            <a:ext cx="284789" cy="81022"/>
          </a:xfrm>
          <a:prstGeom prst="arc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9670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4C670-1A1A-DBC9-3788-6DA9F7E7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96621670-8225-005B-26D9-4F1BF336E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CB8E710-180D-1A36-812A-3A4E9CC66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3" y="749212"/>
            <a:ext cx="5496692" cy="5801535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B134EE8-C2E1-89E4-1D42-9C0E38BC0602}"/>
              </a:ext>
            </a:extLst>
          </p:cNvPr>
          <p:cNvCxnSpPr>
            <a:cxnSpLocks/>
          </p:cNvCxnSpPr>
          <p:nvPr/>
        </p:nvCxnSpPr>
        <p:spPr>
          <a:xfrm>
            <a:off x="1605268" y="2215824"/>
            <a:ext cx="2103404" cy="38929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48D67850-45FA-3D7B-D97D-157F5F3A90F2}"/>
              </a:ext>
            </a:extLst>
          </p:cNvPr>
          <p:cNvSpPr/>
          <p:nvPr/>
        </p:nvSpPr>
        <p:spPr>
          <a:xfrm>
            <a:off x="1661160" y="1516380"/>
            <a:ext cx="1417320" cy="609600"/>
          </a:xfrm>
          <a:prstGeom prst="wedgeRoundRectCallout">
            <a:avLst>
              <a:gd name="adj1" fmla="val -39650"/>
              <a:gd name="adj2" fmla="val 7875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Base Stem</a:t>
            </a:r>
            <a:endParaRPr lang="nl-NL" dirty="0"/>
          </a:p>
        </p:txBody>
      </p:sp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E4E990EC-A484-C140-F376-93675231D298}"/>
              </a:ext>
            </a:extLst>
          </p:cNvPr>
          <p:cNvSpPr/>
          <p:nvPr/>
        </p:nvSpPr>
        <p:spPr>
          <a:xfrm>
            <a:off x="1239650" y="4765750"/>
            <a:ext cx="1417320" cy="609600"/>
          </a:xfrm>
          <a:prstGeom prst="wedgeRoundRectCallout">
            <a:avLst>
              <a:gd name="adj1" fmla="val 59275"/>
              <a:gd name="adj2" fmla="val 7375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 err="1"/>
              <a:t>Neighbor</a:t>
            </a:r>
            <a:endParaRPr lang="nl-NL" dirty="0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8C30C930-8512-3669-5535-022B42F4A2D7}"/>
              </a:ext>
            </a:extLst>
          </p:cNvPr>
          <p:cNvSpPr/>
          <p:nvPr/>
        </p:nvSpPr>
        <p:spPr>
          <a:xfrm>
            <a:off x="3566160" y="4920931"/>
            <a:ext cx="1417320" cy="609600"/>
          </a:xfrm>
          <a:prstGeom prst="wedgeRoundRectCallout">
            <a:avLst>
              <a:gd name="adj1" fmla="val -39650"/>
              <a:gd name="adj2" fmla="val 7875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Best </a:t>
            </a:r>
            <a:r>
              <a:rPr lang="nl-NL" altLang="zh-CN" dirty="0" err="1"/>
              <a:t>candidate</a:t>
            </a:r>
            <a:endParaRPr lang="nl-NL" dirty="0"/>
          </a:p>
        </p:txBody>
      </p:sp>
      <p:pic>
        <p:nvPicPr>
          <p:cNvPr id="22" name="图片 21" descr="电脑游戏的屏幕&#10;&#10;AI 生成的内容可能不正确。">
            <a:extLst>
              <a:ext uri="{FF2B5EF4-FFF2-40B4-BE49-F238E27FC236}">
                <a16:creationId xmlns:a16="http://schemas.microsoft.com/office/drawing/2014/main" id="{D98EAE46-64FD-4B2E-045E-FC10A5A9BB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956" y="85274"/>
            <a:ext cx="6360041" cy="6360041"/>
          </a:xfrm>
          <a:prstGeom prst="rect">
            <a:avLst/>
          </a:prstGeom>
        </p:spPr>
      </p:pic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F1A45A7A-3380-4032-9CFE-17C3D45D97E8}"/>
              </a:ext>
            </a:extLst>
          </p:cNvPr>
          <p:cNvSpPr/>
          <p:nvPr/>
        </p:nvSpPr>
        <p:spPr>
          <a:xfrm>
            <a:off x="8690610" y="2444750"/>
            <a:ext cx="1896122" cy="633730"/>
          </a:xfrm>
          <a:prstGeom prst="wedgeRoundRectCallout">
            <a:avLst>
              <a:gd name="adj1" fmla="val -39650"/>
              <a:gd name="adj2" fmla="val 7875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 err="1"/>
              <a:t>Filtered</a:t>
            </a:r>
            <a:r>
              <a:rPr lang="nl-NL" altLang="zh-CN" dirty="0"/>
              <a:t> out </a:t>
            </a:r>
            <a:endParaRPr lang="nl-NL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109F8F-94F3-8DA3-EBAA-D1976EE84134}"/>
              </a:ext>
            </a:extLst>
          </p:cNvPr>
          <p:cNvSpPr txBox="1"/>
          <p:nvPr/>
        </p:nvSpPr>
        <p:spPr>
          <a:xfrm>
            <a:off x="8283" y="-12367"/>
            <a:ext cx="60219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3. </a:t>
            </a:r>
            <a:r>
              <a:rPr lang="nl-NL" sz="2800" dirty="0" err="1"/>
              <a:t>Optimization</a:t>
            </a:r>
            <a:r>
              <a:rPr lang="nl-NL" sz="2800" dirty="0"/>
              <a:t> of </a:t>
            </a:r>
            <a:r>
              <a:rPr lang="nl-NL" sz="2800" dirty="0" err="1"/>
              <a:t>orientation</a:t>
            </a:r>
            <a:r>
              <a:rPr lang="nl-NL" sz="2800" dirty="0"/>
              <a:t> </a:t>
            </a:r>
            <a:r>
              <a:rPr lang="nl-NL" sz="2800" dirty="0" err="1"/>
              <a:t>tolerance</a:t>
            </a:r>
            <a:endParaRPr lang="nl-NL" sz="2800" dirty="0"/>
          </a:p>
          <a:p>
            <a:pPr marL="457200" indent="-457200">
              <a:buAutoNum type="arabicPeriod"/>
            </a:pPr>
            <a:endParaRPr lang="nl-NL" altLang="zh-CN" sz="2400" dirty="0"/>
          </a:p>
        </p:txBody>
      </p:sp>
    </p:spTree>
    <p:extLst>
      <p:ext uri="{BB962C8B-B14F-4D97-AF65-F5344CB8AC3E}">
        <p14:creationId xmlns:p14="http://schemas.microsoft.com/office/powerpoint/2010/main" val="680498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35BD7-C8F8-21EA-EA30-22A09095D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0610E002-B038-84BC-948C-A93D41EDF8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B6D5278-C1D4-C3DA-F811-96F51095C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3" y="749212"/>
            <a:ext cx="5496692" cy="5801535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AE940AF-8C7A-606A-81BC-AB16A9F5D159}"/>
              </a:ext>
            </a:extLst>
          </p:cNvPr>
          <p:cNvCxnSpPr>
            <a:cxnSpLocks/>
          </p:cNvCxnSpPr>
          <p:nvPr/>
        </p:nvCxnSpPr>
        <p:spPr>
          <a:xfrm>
            <a:off x="1605268" y="2215824"/>
            <a:ext cx="2103404" cy="38929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FDDF037F-84E7-0EDC-FB4A-9F378CAC5D1F}"/>
              </a:ext>
            </a:extLst>
          </p:cNvPr>
          <p:cNvSpPr/>
          <p:nvPr/>
        </p:nvSpPr>
        <p:spPr>
          <a:xfrm>
            <a:off x="1661160" y="1516380"/>
            <a:ext cx="1417320" cy="609600"/>
          </a:xfrm>
          <a:prstGeom prst="wedgeRoundRectCallout">
            <a:avLst>
              <a:gd name="adj1" fmla="val -39650"/>
              <a:gd name="adj2" fmla="val 7875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Base Stem</a:t>
            </a:r>
            <a:endParaRPr lang="nl-NL" dirty="0"/>
          </a:p>
        </p:txBody>
      </p:sp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B69EDEBA-786D-18F3-B452-F553C5224127}"/>
              </a:ext>
            </a:extLst>
          </p:cNvPr>
          <p:cNvSpPr/>
          <p:nvPr/>
        </p:nvSpPr>
        <p:spPr>
          <a:xfrm>
            <a:off x="1239650" y="4765750"/>
            <a:ext cx="1417320" cy="609600"/>
          </a:xfrm>
          <a:prstGeom prst="wedgeRoundRectCallout">
            <a:avLst>
              <a:gd name="adj1" fmla="val 59275"/>
              <a:gd name="adj2" fmla="val 7375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 err="1"/>
              <a:t>Neighbor</a:t>
            </a:r>
            <a:endParaRPr lang="nl-NL" dirty="0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46AA76D7-02E5-2D69-032A-303084D877A2}"/>
              </a:ext>
            </a:extLst>
          </p:cNvPr>
          <p:cNvSpPr/>
          <p:nvPr/>
        </p:nvSpPr>
        <p:spPr>
          <a:xfrm>
            <a:off x="3566160" y="4920931"/>
            <a:ext cx="1417320" cy="609600"/>
          </a:xfrm>
          <a:prstGeom prst="wedgeRoundRectCallout">
            <a:avLst>
              <a:gd name="adj1" fmla="val -39650"/>
              <a:gd name="adj2" fmla="val 7875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Best </a:t>
            </a:r>
            <a:r>
              <a:rPr lang="nl-NL" altLang="zh-CN" dirty="0" err="1"/>
              <a:t>candidate</a:t>
            </a:r>
            <a:endParaRPr lang="nl-NL" dirty="0"/>
          </a:p>
        </p:txBody>
      </p:sp>
      <p:pic>
        <p:nvPicPr>
          <p:cNvPr id="3" name="图片 2" descr="图片包含 电子, 监控, 桌子, 显示器&#10;&#10;AI 生成的内容可能不正确。">
            <a:extLst>
              <a:ext uri="{FF2B5EF4-FFF2-40B4-BE49-F238E27FC236}">
                <a16:creationId xmlns:a16="http://schemas.microsoft.com/office/drawing/2014/main" id="{66A9C805-0067-4401-44B0-BD23C466F6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313" y="0"/>
            <a:ext cx="6621305" cy="662130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4B1AAA8-990E-9BF4-7F39-AC04AA3C7A91}"/>
              </a:ext>
            </a:extLst>
          </p:cNvPr>
          <p:cNvSpPr txBox="1"/>
          <p:nvPr/>
        </p:nvSpPr>
        <p:spPr>
          <a:xfrm>
            <a:off x="0" y="-44368"/>
            <a:ext cx="61934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3. </a:t>
            </a:r>
            <a:r>
              <a:rPr lang="nl-NL" sz="2800" dirty="0" err="1"/>
              <a:t>Optimization</a:t>
            </a:r>
            <a:r>
              <a:rPr lang="nl-NL" sz="2800" dirty="0"/>
              <a:t> of </a:t>
            </a:r>
            <a:r>
              <a:rPr lang="nl-NL" sz="2800" dirty="0" err="1"/>
              <a:t>orientation</a:t>
            </a:r>
            <a:r>
              <a:rPr lang="nl-NL" sz="2800" dirty="0"/>
              <a:t> </a:t>
            </a:r>
            <a:r>
              <a:rPr lang="nl-NL" sz="2800" dirty="0" err="1"/>
              <a:t>tolerance</a:t>
            </a:r>
            <a:endParaRPr lang="nl-NL" sz="2800" dirty="0"/>
          </a:p>
          <a:p>
            <a:pPr marL="457200" indent="-457200">
              <a:buAutoNum type="arabicPeriod"/>
            </a:pPr>
            <a:endParaRPr lang="nl-NL" altLang="zh-CN" sz="2400" dirty="0"/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9EF3F144-76C8-EABB-3A70-C68D0465AECD}"/>
              </a:ext>
            </a:extLst>
          </p:cNvPr>
          <p:cNvSpPr/>
          <p:nvPr/>
        </p:nvSpPr>
        <p:spPr>
          <a:xfrm>
            <a:off x="6955832" y="2819400"/>
            <a:ext cx="1417320" cy="609600"/>
          </a:xfrm>
          <a:prstGeom prst="wedgeRoundRectCallout">
            <a:avLst>
              <a:gd name="adj1" fmla="val 85220"/>
              <a:gd name="adj2" fmla="val 4810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 err="1"/>
              <a:t>Neighbor</a:t>
            </a:r>
            <a:r>
              <a:rPr lang="nl-NL" altLang="zh-CN" dirty="0"/>
              <a:t> is found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8112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4CC08-9356-B515-B051-0EEBC0DB7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3EABA9F-5D28-CEDD-4E5F-549AFE87F0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979EAC7-18DD-E343-525E-245ADD3D3AB1}"/>
              </a:ext>
            </a:extLst>
          </p:cNvPr>
          <p:cNvSpPr txBox="1"/>
          <p:nvPr/>
        </p:nvSpPr>
        <p:spPr>
          <a:xfrm>
            <a:off x="74003" y="202803"/>
            <a:ext cx="7813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4. </a:t>
            </a:r>
            <a:r>
              <a:rPr lang="nl-NL" sz="2800" dirty="0" err="1"/>
              <a:t>Optimization</a:t>
            </a:r>
            <a:r>
              <a:rPr lang="nl-NL" sz="2800" dirty="0"/>
              <a:t> of small score </a:t>
            </a:r>
            <a:r>
              <a:rPr lang="nl-NL" sz="2800" dirty="0" err="1"/>
              <a:t>strategy</a:t>
            </a:r>
            <a:r>
              <a:rPr lang="nl-NL" sz="2800" dirty="0"/>
              <a:t> </a:t>
            </a:r>
            <a:endParaRPr lang="nl-NL" altLang="zh-CN" sz="2400" dirty="0"/>
          </a:p>
        </p:txBody>
      </p:sp>
      <p:pic>
        <p:nvPicPr>
          <p:cNvPr id="15" name="图片 14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F21A0EDF-C6FC-447D-0B8A-A129EC405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66" y="726023"/>
            <a:ext cx="5944263" cy="5944263"/>
          </a:xfrm>
          <a:prstGeom prst="rect">
            <a:avLst/>
          </a:prstGeom>
        </p:spPr>
      </p:pic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72830E58-1237-4F6F-B136-8C51EB1913A1}"/>
              </a:ext>
            </a:extLst>
          </p:cNvPr>
          <p:cNvSpPr/>
          <p:nvPr/>
        </p:nvSpPr>
        <p:spPr>
          <a:xfrm>
            <a:off x="4055167" y="2639833"/>
            <a:ext cx="985960" cy="560566"/>
          </a:xfrm>
          <a:prstGeom prst="wedgeRoundRectCallout">
            <a:avLst>
              <a:gd name="adj1" fmla="val -65917"/>
              <a:gd name="adj2" fmla="val 7526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Base Stem</a:t>
            </a:r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2078DA7E-FB9F-A62B-4D49-B8680DDD8E3D}"/>
              </a:ext>
            </a:extLst>
          </p:cNvPr>
          <p:cNvSpPr/>
          <p:nvPr/>
        </p:nvSpPr>
        <p:spPr>
          <a:xfrm>
            <a:off x="3872287" y="4581011"/>
            <a:ext cx="1582307" cy="886209"/>
          </a:xfrm>
          <a:prstGeom prst="wedgeRoundRectCallout">
            <a:avLst>
              <a:gd name="adj1" fmla="val -78390"/>
              <a:gd name="adj2" fmla="val -7650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Best </a:t>
            </a:r>
            <a:r>
              <a:rPr lang="nl-NL" dirty="0" err="1"/>
              <a:t>candidate</a:t>
            </a:r>
            <a:r>
              <a:rPr lang="nl-NL" dirty="0"/>
              <a:t> (0.1)</a:t>
            </a:r>
          </a:p>
        </p:txBody>
      </p:sp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9FAB1613-1395-C876-9453-BAC0510A5E7C}"/>
              </a:ext>
            </a:extLst>
          </p:cNvPr>
          <p:cNvSpPr/>
          <p:nvPr/>
        </p:nvSpPr>
        <p:spPr>
          <a:xfrm>
            <a:off x="389614" y="2258170"/>
            <a:ext cx="3220278" cy="999213"/>
          </a:xfrm>
          <a:prstGeom prst="wedgeRoundRectCallout">
            <a:avLst>
              <a:gd name="adj1" fmla="val 51861"/>
              <a:gd name="adj2" fmla="val 8640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The </a:t>
            </a:r>
            <a:r>
              <a:rPr lang="nl-NL" dirty="0" err="1"/>
              <a:t>neighbor</a:t>
            </a:r>
            <a:r>
              <a:rPr lang="nl-NL" dirty="0"/>
              <a:t> is </a:t>
            </a:r>
            <a:r>
              <a:rPr lang="nl-NL" dirty="0" err="1"/>
              <a:t>skipped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comparing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score*</a:t>
            </a:r>
            <a:r>
              <a:rPr lang="nl-NL" dirty="0" err="1"/>
              <a:t>distance</a:t>
            </a:r>
            <a:r>
              <a:rPr lang="nl-NL" dirty="0"/>
              <a:t> (1&lt;)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89AD3FF-C7B5-FCC4-E062-85ED2D4BEB6C}"/>
              </a:ext>
            </a:extLst>
          </p:cNvPr>
          <p:cNvSpPr txBox="1"/>
          <p:nvPr/>
        </p:nvSpPr>
        <p:spPr>
          <a:xfrm>
            <a:off x="6961555" y="202803"/>
            <a:ext cx="57284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candiate</a:t>
            </a:r>
            <a:r>
              <a:rPr lang="nl-NL" dirty="0"/>
              <a:t> score is </a:t>
            </a:r>
            <a:r>
              <a:rPr lang="nl-NL" dirty="0" err="1"/>
              <a:t>less</a:t>
            </a:r>
            <a:r>
              <a:rPr lang="nl-NL" dirty="0"/>
              <a:t> </a:t>
            </a:r>
            <a:r>
              <a:rPr lang="nl-NL" dirty="0" err="1"/>
              <a:t>than</a:t>
            </a:r>
            <a:r>
              <a:rPr lang="nl-NL" dirty="0"/>
              <a:t> 3,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compare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distance</a:t>
            </a:r>
            <a:endParaRPr lang="nl-NL" dirty="0"/>
          </a:p>
          <a:p>
            <a:pPr marL="342900" indent="-342900">
              <a:buAutoNum type="arabicParenBoth"/>
            </a:pPr>
            <a:endParaRPr lang="nl-NL" dirty="0"/>
          </a:p>
          <a:p>
            <a:r>
              <a:rPr lang="nl-NL" dirty="0"/>
              <a:t>(2)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score is 3 – 11, </a:t>
            </a:r>
            <a:r>
              <a:rPr lang="nl-NL" dirty="0" err="1"/>
              <a:t>compare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score * </a:t>
            </a:r>
            <a:r>
              <a:rPr lang="nl-NL" dirty="0" err="1"/>
              <a:t>distance</a:t>
            </a:r>
            <a:endParaRPr lang="nl-NL" dirty="0"/>
          </a:p>
          <a:p>
            <a:endParaRPr lang="nl-NL" dirty="0"/>
          </a:p>
          <a:p>
            <a:r>
              <a:rPr lang="nl-NL" dirty="0"/>
              <a:t>(3) Else, </a:t>
            </a:r>
            <a:r>
              <a:rPr lang="nl-NL" dirty="0" err="1"/>
              <a:t>compare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score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03E0790-7011-B082-9896-ECAFE4564A70}"/>
              </a:ext>
            </a:extLst>
          </p:cNvPr>
          <p:cNvSpPr txBox="1"/>
          <p:nvPr/>
        </p:nvSpPr>
        <p:spPr>
          <a:xfrm>
            <a:off x="6247736" y="2550784"/>
            <a:ext cx="5728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The </a:t>
            </a:r>
            <a:r>
              <a:rPr lang="nl-NL" dirty="0" err="1"/>
              <a:t>distance</a:t>
            </a:r>
            <a:r>
              <a:rPr lang="nl-NL" dirty="0"/>
              <a:t> is </a:t>
            </a:r>
            <a:r>
              <a:rPr lang="nl-NL" dirty="0" err="1"/>
              <a:t>calculated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: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159CFE6-C4C0-AF65-D058-EFC736DE697E}"/>
              </a:ext>
            </a:extLst>
          </p:cNvPr>
          <p:cNvCxnSpPr>
            <a:cxnSpLocks/>
          </p:cNvCxnSpPr>
          <p:nvPr/>
        </p:nvCxnSpPr>
        <p:spPr>
          <a:xfrm flipH="1">
            <a:off x="9717941" y="3100511"/>
            <a:ext cx="66763" cy="30272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2550B9F-7CA8-A4FA-CCC2-EF1BA75FDB1B}"/>
              </a:ext>
            </a:extLst>
          </p:cNvPr>
          <p:cNvSpPr/>
          <p:nvPr/>
        </p:nvSpPr>
        <p:spPr>
          <a:xfrm rot="20146179">
            <a:off x="9160977" y="310539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0CD4AB2D-F45D-2390-D240-B56E212BCE8A}"/>
              </a:ext>
            </a:extLst>
          </p:cNvPr>
          <p:cNvSpPr/>
          <p:nvPr/>
        </p:nvSpPr>
        <p:spPr>
          <a:xfrm>
            <a:off x="9717941" y="5025952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0A09813-0A00-F85F-D860-6D23FF711C48}"/>
              </a:ext>
            </a:extLst>
          </p:cNvPr>
          <p:cNvCxnSpPr>
            <a:stCxn id="41" idx="0"/>
            <a:endCxn id="39" idx="2"/>
          </p:cNvCxnSpPr>
          <p:nvPr/>
        </p:nvCxnSpPr>
        <p:spPr>
          <a:xfrm flipH="1" flipV="1">
            <a:off x="9277350" y="3622021"/>
            <a:ext cx="474881" cy="1403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F5C82B7E-CA82-77D8-497F-2D101898E257}"/>
              </a:ext>
            </a:extLst>
          </p:cNvPr>
          <p:cNvSpPr/>
          <p:nvPr/>
        </p:nvSpPr>
        <p:spPr>
          <a:xfrm rot="1321482">
            <a:off x="10353996" y="2852726"/>
            <a:ext cx="69144" cy="1177372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B2933985-4636-2314-8E43-108EAA9F2584}"/>
              </a:ext>
            </a:extLst>
          </p:cNvPr>
          <p:cNvCxnSpPr>
            <a:cxnSpLocks/>
          </p:cNvCxnSpPr>
          <p:nvPr/>
        </p:nvCxnSpPr>
        <p:spPr>
          <a:xfrm>
            <a:off x="8502309" y="3368250"/>
            <a:ext cx="2431263" cy="3203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FF12AE61-9494-E75B-4A5E-B6395F5D521E}"/>
              </a:ext>
            </a:extLst>
          </p:cNvPr>
          <p:cNvCxnSpPr>
            <a:cxnSpLocks/>
            <a:endCxn id="57" idx="2"/>
          </p:cNvCxnSpPr>
          <p:nvPr/>
        </p:nvCxnSpPr>
        <p:spPr>
          <a:xfrm flipV="1">
            <a:off x="9716124" y="3987137"/>
            <a:ext cx="451683" cy="1036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DDFDD261-0D62-06CB-31B4-F36188EEE2F4}"/>
              </a:ext>
            </a:extLst>
          </p:cNvPr>
          <p:cNvSpPr txBox="1"/>
          <p:nvPr/>
        </p:nvSpPr>
        <p:spPr>
          <a:xfrm>
            <a:off x="6312859" y="4581011"/>
            <a:ext cx="32883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Instead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distance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centers, we </a:t>
            </a:r>
            <a:r>
              <a:rPr lang="nl-NL" dirty="0" err="1"/>
              <a:t>calculate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top-</a:t>
            </a:r>
            <a:r>
              <a:rPr lang="nl-NL" dirty="0" err="1"/>
              <a:t>bottom</a:t>
            </a:r>
            <a:r>
              <a:rPr lang="nl-NL" dirty="0"/>
              <a:t> </a:t>
            </a:r>
            <a:r>
              <a:rPr lang="nl-NL" dirty="0" err="1"/>
              <a:t>distance</a:t>
            </a:r>
            <a:r>
              <a:rPr lang="nl-NL" dirty="0"/>
              <a:t> </a:t>
            </a: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longer</a:t>
            </a:r>
            <a:r>
              <a:rPr lang="nl-NL" dirty="0"/>
              <a:t> stem is more </a:t>
            </a:r>
            <a:r>
              <a:rPr lang="nl-NL" dirty="0" err="1"/>
              <a:t>persuasive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8863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87218-AF7E-4256-D4E6-BEFF60A44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86A72707-C833-1EE7-1F4E-37FFC3C64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D56BDE9-9DD7-4840-CC7B-17A7AB54DF17}"/>
              </a:ext>
            </a:extLst>
          </p:cNvPr>
          <p:cNvSpPr txBox="1"/>
          <p:nvPr/>
        </p:nvSpPr>
        <p:spPr>
          <a:xfrm>
            <a:off x="0" y="-103630"/>
            <a:ext cx="65985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4. </a:t>
            </a:r>
            <a:r>
              <a:rPr lang="nl-NL" sz="2800" dirty="0" err="1"/>
              <a:t>Optimization</a:t>
            </a:r>
            <a:r>
              <a:rPr lang="nl-NL" sz="2800" dirty="0"/>
              <a:t> of small score </a:t>
            </a:r>
            <a:r>
              <a:rPr lang="nl-NL" sz="2800" dirty="0" err="1"/>
              <a:t>strategy</a:t>
            </a:r>
            <a:r>
              <a:rPr lang="nl-NL" sz="2800" dirty="0"/>
              <a:t> </a:t>
            </a:r>
            <a:endParaRPr lang="nl-NL" altLang="zh-CN" sz="2400" dirty="0"/>
          </a:p>
        </p:txBody>
      </p:sp>
      <p:pic>
        <p:nvPicPr>
          <p:cNvPr id="15" name="图片 14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163925D3-EE2E-516B-C7D8-6F650E3AF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66" y="726023"/>
            <a:ext cx="5944263" cy="5944263"/>
          </a:xfrm>
          <a:prstGeom prst="rect">
            <a:avLst/>
          </a:prstGeom>
        </p:spPr>
      </p:pic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EACC63C9-212E-2358-3788-F1E9016C1516}"/>
              </a:ext>
            </a:extLst>
          </p:cNvPr>
          <p:cNvSpPr/>
          <p:nvPr/>
        </p:nvSpPr>
        <p:spPr>
          <a:xfrm>
            <a:off x="4055167" y="2639833"/>
            <a:ext cx="985960" cy="560566"/>
          </a:xfrm>
          <a:prstGeom prst="wedgeRoundRectCallout">
            <a:avLst>
              <a:gd name="adj1" fmla="val -65917"/>
              <a:gd name="adj2" fmla="val 7526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Base Stem</a:t>
            </a:r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EF214884-16E8-B18B-FC42-A2660AFBD901}"/>
              </a:ext>
            </a:extLst>
          </p:cNvPr>
          <p:cNvSpPr/>
          <p:nvPr/>
        </p:nvSpPr>
        <p:spPr>
          <a:xfrm>
            <a:off x="3872287" y="4581011"/>
            <a:ext cx="1582307" cy="886209"/>
          </a:xfrm>
          <a:prstGeom prst="wedgeRoundRectCallout">
            <a:avLst>
              <a:gd name="adj1" fmla="val -78390"/>
              <a:gd name="adj2" fmla="val -7650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Best </a:t>
            </a:r>
            <a:r>
              <a:rPr lang="nl-NL" dirty="0" err="1"/>
              <a:t>candidate</a:t>
            </a:r>
            <a:r>
              <a:rPr lang="nl-NL" dirty="0"/>
              <a:t> (0.1)</a:t>
            </a:r>
          </a:p>
        </p:txBody>
      </p:sp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4954E3B9-F06F-02C3-59AC-E59732C7A3A0}"/>
              </a:ext>
            </a:extLst>
          </p:cNvPr>
          <p:cNvSpPr/>
          <p:nvPr/>
        </p:nvSpPr>
        <p:spPr>
          <a:xfrm>
            <a:off x="389614" y="2258170"/>
            <a:ext cx="3220278" cy="999213"/>
          </a:xfrm>
          <a:prstGeom prst="wedgeRoundRectCallout">
            <a:avLst>
              <a:gd name="adj1" fmla="val 51861"/>
              <a:gd name="adj2" fmla="val 8640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The </a:t>
            </a:r>
            <a:r>
              <a:rPr lang="nl-NL" dirty="0" err="1"/>
              <a:t>neighbor</a:t>
            </a:r>
            <a:r>
              <a:rPr lang="nl-NL" dirty="0"/>
              <a:t> is </a:t>
            </a:r>
            <a:r>
              <a:rPr lang="nl-NL" dirty="0" err="1"/>
              <a:t>skipped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comparing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score*</a:t>
            </a:r>
            <a:r>
              <a:rPr lang="nl-NL" dirty="0" err="1"/>
              <a:t>distance</a:t>
            </a:r>
            <a:r>
              <a:rPr lang="nl-NL" dirty="0"/>
              <a:t> (1&lt;)</a:t>
            </a:r>
          </a:p>
        </p:txBody>
      </p:sp>
      <p:pic>
        <p:nvPicPr>
          <p:cNvPr id="3" name="图片 2" descr="图片包含 室内, 桌子, 监控, 电脑&#10;&#10;AI 生成的内容可能不正确。">
            <a:extLst>
              <a:ext uri="{FF2B5EF4-FFF2-40B4-BE49-F238E27FC236}">
                <a16:creationId xmlns:a16="http://schemas.microsoft.com/office/drawing/2014/main" id="{E15C054D-86B1-22AA-E3CC-858FD47355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521" y="647700"/>
            <a:ext cx="6022586" cy="602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09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D2E2E-7BAA-7887-D042-D4E880070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2E40D30C-2D44-72F3-1D3E-E4D4E429AF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76A81A6-960B-3709-9B63-07143091874B}"/>
              </a:ext>
            </a:extLst>
          </p:cNvPr>
          <p:cNvSpPr txBox="1"/>
          <p:nvPr/>
        </p:nvSpPr>
        <p:spPr>
          <a:xfrm>
            <a:off x="88279" y="51430"/>
            <a:ext cx="58058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5. </a:t>
            </a:r>
            <a:r>
              <a:rPr lang="nl-NL" sz="2800" dirty="0" err="1"/>
              <a:t>Horizontal</a:t>
            </a:r>
            <a:r>
              <a:rPr lang="nl-NL" sz="2800" dirty="0"/>
              <a:t> stem </a:t>
            </a:r>
            <a:r>
              <a:rPr lang="nl-NL" sz="2800" dirty="0" err="1"/>
              <a:t>problem</a:t>
            </a:r>
            <a:endParaRPr lang="nl-NL" sz="2800" dirty="0"/>
          </a:p>
          <a:p>
            <a:endParaRPr lang="nl-NL" sz="2800" dirty="0"/>
          </a:p>
        </p:txBody>
      </p:sp>
      <p:pic>
        <p:nvPicPr>
          <p:cNvPr id="6" name="图片 5" descr="电脑萤幕&#10;&#10;AI 生成的内容可能不正确。">
            <a:extLst>
              <a:ext uri="{FF2B5EF4-FFF2-40B4-BE49-F238E27FC236}">
                <a16:creationId xmlns:a16="http://schemas.microsoft.com/office/drawing/2014/main" id="{8006F251-9AC5-8980-0EDA-97CE6EC75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66" y="619539"/>
            <a:ext cx="6087386" cy="608738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A8E4C65-843C-19DC-B8B5-D2AE372003E3}"/>
              </a:ext>
            </a:extLst>
          </p:cNvPr>
          <p:cNvSpPr/>
          <p:nvPr/>
        </p:nvSpPr>
        <p:spPr>
          <a:xfrm>
            <a:off x="6588140" y="619539"/>
            <a:ext cx="5393394" cy="5362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1729023-07D7-F43C-E3FD-E4A0F7AF2A33}"/>
              </a:ext>
            </a:extLst>
          </p:cNvPr>
          <p:cNvSpPr/>
          <p:nvPr/>
        </p:nvSpPr>
        <p:spPr>
          <a:xfrm rot="15117157" flipH="1">
            <a:off x="10180092" y="2477052"/>
            <a:ext cx="100528" cy="1483200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A377748-795A-76E6-FBF3-D7A650D9AE7B}"/>
              </a:ext>
            </a:extLst>
          </p:cNvPr>
          <p:cNvSpPr txBox="1"/>
          <p:nvPr/>
        </p:nvSpPr>
        <p:spPr>
          <a:xfrm>
            <a:off x="8264657" y="2029561"/>
            <a:ext cx="4146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400" dirty="0" err="1"/>
              <a:t>They</a:t>
            </a:r>
            <a:r>
              <a:rPr lang="nl-NL" altLang="zh-CN" sz="1400" dirty="0"/>
              <a:t> are </a:t>
            </a:r>
            <a:r>
              <a:rPr lang="nl-NL" altLang="zh-CN" sz="1400" dirty="0" err="1"/>
              <a:t>each</a:t>
            </a:r>
            <a:r>
              <a:rPr lang="nl-NL" altLang="zh-CN" sz="1400" dirty="0"/>
              <a:t> </a:t>
            </a:r>
            <a:r>
              <a:rPr lang="nl-NL" altLang="zh-CN" sz="1400" dirty="0" err="1"/>
              <a:t>others</a:t>
            </a:r>
            <a:r>
              <a:rPr lang="nl-NL" altLang="zh-CN" sz="1400" dirty="0"/>
              <a:t> </a:t>
            </a:r>
            <a:r>
              <a:rPr lang="nl-NL" altLang="zh-CN" sz="1400" dirty="0" err="1"/>
              <a:t>lower</a:t>
            </a:r>
            <a:r>
              <a:rPr lang="nl-NL" altLang="zh-CN" sz="1400" dirty="0"/>
              <a:t> </a:t>
            </a:r>
            <a:r>
              <a:rPr lang="nl-NL" altLang="zh-CN" sz="1400" dirty="0" err="1"/>
              <a:t>candidate</a:t>
            </a:r>
            <a:r>
              <a:rPr lang="nl-NL" altLang="zh-CN" sz="1400" dirty="0"/>
              <a:t> </a:t>
            </a:r>
            <a:r>
              <a:rPr lang="nl-NL" altLang="zh-CN" sz="1400" dirty="0" err="1"/>
              <a:t>so</a:t>
            </a:r>
            <a:r>
              <a:rPr lang="nl-NL" altLang="zh-CN" sz="1400" dirty="0"/>
              <a:t> </a:t>
            </a:r>
            <a:r>
              <a:rPr lang="nl-NL" altLang="zh-CN" sz="1400" dirty="0" err="1"/>
              <a:t>won’t</a:t>
            </a:r>
            <a:r>
              <a:rPr lang="nl-NL" altLang="zh-CN" sz="1400" dirty="0"/>
              <a:t> </a:t>
            </a:r>
            <a:r>
              <a:rPr lang="nl-NL" altLang="zh-CN" sz="1400" dirty="0" err="1"/>
              <a:t>be</a:t>
            </a:r>
            <a:r>
              <a:rPr lang="nl-NL" altLang="zh-CN" sz="1400" dirty="0"/>
              <a:t> </a:t>
            </a:r>
            <a:r>
              <a:rPr lang="nl-NL" altLang="zh-CN" sz="1400" dirty="0" err="1"/>
              <a:t>paired</a:t>
            </a:r>
            <a:r>
              <a:rPr lang="nl-NL" altLang="zh-CN" sz="1400" dirty="0"/>
              <a:t> </a:t>
            </a:r>
            <a:endParaRPr lang="nl-NL" sz="1400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02DD90B-1994-31D0-DD65-AE1370BFAB0A}"/>
              </a:ext>
            </a:extLst>
          </p:cNvPr>
          <p:cNvSpPr/>
          <p:nvPr/>
        </p:nvSpPr>
        <p:spPr>
          <a:xfrm rot="16921894" flipH="1">
            <a:off x="8360503" y="2550050"/>
            <a:ext cx="100528" cy="1483200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538BAEB-C94E-F54F-7D47-00761D26BA69}"/>
              </a:ext>
            </a:extLst>
          </p:cNvPr>
          <p:cNvCxnSpPr>
            <a:cxnSpLocks/>
          </p:cNvCxnSpPr>
          <p:nvPr/>
        </p:nvCxnSpPr>
        <p:spPr>
          <a:xfrm flipH="1" flipV="1">
            <a:off x="6999922" y="2990270"/>
            <a:ext cx="1410845" cy="3013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B61CB98-7235-13E2-794F-A0B8425454AC}"/>
              </a:ext>
            </a:extLst>
          </p:cNvPr>
          <p:cNvCxnSpPr>
            <a:cxnSpLocks/>
          </p:cNvCxnSpPr>
          <p:nvPr/>
        </p:nvCxnSpPr>
        <p:spPr>
          <a:xfrm flipV="1">
            <a:off x="10168702" y="2771493"/>
            <a:ext cx="1419021" cy="4677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6D5D99B-82CC-AD6A-431B-B1DA0F6EB66D}"/>
              </a:ext>
            </a:extLst>
          </p:cNvPr>
          <p:cNvCxnSpPr>
            <a:cxnSpLocks/>
          </p:cNvCxnSpPr>
          <p:nvPr/>
        </p:nvCxnSpPr>
        <p:spPr>
          <a:xfrm>
            <a:off x="8418193" y="3300612"/>
            <a:ext cx="1665607" cy="36262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F0861023-C9E7-F074-BCE5-67A875B1C9E4}"/>
              </a:ext>
            </a:extLst>
          </p:cNvPr>
          <p:cNvSpPr txBox="1"/>
          <p:nvPr/>
        </p:nvSpPr>
        <p:spPr>
          <a:xfrm>
            <a:off x="7705344" y="3765050"/>
            <a:ext cx="4146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400" dirty="0" err="1"/>
              <a:t>So</a:t>
            </a:r>
            <a:r>
              <a:rPr lang="nl-NL" altLang="zh-CN" sz="1400" dirty="0"/>
              <a:t> I have </a:t>
            </a:r>
            <a:r>
              <a:rPr lang="nl-NL" altLang="zh-CN" sz="1400" dirty="0" err="1"/>
              <a:t>to</a:t>
            </a:r>
            <a:r>
              <a:rPr lang="nl-NL" altLang="zh-CN" sz="1400" dirty="0"/>
              <a:t> reverse </a:t>
            </a:r>
            <a:r>
              <a:rPr lang="nl-NL" altLang="zh-CN" sz="1400" dirty="0" err="1"/>
              <a:t>the</a:t>
            </a:r>
            <a:r>
              <a:rPr lang="nl-NL" altLang="zh-CN" sz="1400" dirty="0"/>
              <a:t> vector </a:t>
            </a:r>
            <a:r>
              <a:rPr lang="nl-NL" altLang="zh-CN" sz="1400" dirty="0" err="1"/>
              <a:t>temporarily</a:t>
            </a:r>
            <a:endParaRPr lang="nl-NL" sz="1400" dirty="0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2DCAD54D-4B7E-ED13-529C-A0EB6CBC4B10}"/>
              </a:ext>
            </a:extLst>
          </p:cNvPr>
          <p:cNvCxnSpPr>
            <a:cxnSpLocks/>
          </p:cNvCxnSpPr>
          <p:nvPr/>
        </p:nvCxnSpPr>
        <p:spPr>
          <a:xfrm flipH="1">
            <a:off x="8308751" y="2809983"/>
            <a:ext cx="218883" cy="99355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4B21DE7E-C2DA-7701-4C94-CCB59DBC3072}"/>
              </a:ext>
            </a:extLst>
          </p:cNvPr>
          <p:cNvCxnSpPr>
            <a:cxnSpLocks/>
          </p:cNvCxnSpPr>
          <p:nvPr/>
        </p:nvCxnSpPr>
        <p:spPr>
          <a:xfrm>
            <a:off x="10043779" y="2821637"/>
            <a:ext cx="298925" cy="95315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3AD84930-FF03-C637-D489-E9E6377F0158}"/>
              </a:ext>
            </a:extLst>
          </p:cNvPr>
          <p:cNvSpPr txBox="1"/>
          <p:nvPr/>
        </p:nvSpPr>
        <p:spPr>
          <a:xfrm>
            <a:off x="8593057" y="2836381"/>
            <a:ext cx="67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400" dirty="0" err="1"/>
              <a:t>lower</a:t>
            </a:r>
            <a:endParaRPr lang="nl-NL" sz="14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E58F67E-34EC-94E1-3518-1D959D0D4233}"/>
              </a:ext>
            </a:extLst>
          </p:cNvPr>
          <p:cNvSpPr txBox="1"/>
          <p:nvPr/>
        </p:nvSpPr>
        <p:spPr>
          <a:xfrm>
            <a:off x="9373415" y="2838622"/>
            <a:ext cx="67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400" dirty="0" err="1"/>
              <a:t>lower</a:t>
            </a:r>
            <a:endParaRPr lang="nl-NL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10A1CF5-23C9-E5F6-11F5-8C780337BDBC}"/>
              </a:ext>
            </a:extLst>
          </p:cNvPr>
          <p:cNvSpPr txBox="1"/>
          <p:nvPr/>
        </p:nvSpPr>
        <p:spPr>
          <a:xfrm>
            <a:off x="10153773" y="2682492"/>
            <a:ext cx="887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400" dirty="0" err="1"/>
              <a:t>upper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1830420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4B02F-3AFE-FF96-0837-8E13E9905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A8709034-F8B6-2A9B-DB1C-1294F58067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EA9D442-EDA4-6FE7-5117-D6B1F75A9017}"/>
              </a:ext>
            </a:extLst>
          </p:cNvPr>
          <p:cNvSpPr txBox="1"/>
          <p:nvPr/>
        </p:nvSpPr>
        <p:spPr>
          <a:xfrm>
            <a:off x="88279" y="51430"/>
            <a:ext cx="58058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5. </a:t>
            </a:r>
            <a:r>
              <a:rPr lang="nl-NL" sz="2800" dirty="0" err="1"/>
              <a:t>Horizontal</a:t>
            </a:r>
            <a:r>
              <a:rPr lang="nl-NL" sz="2800" dirty="0"/>
              <a:t> stem </a:t>
            </a:r>
            <a:r>
              <a:rPr lang="nl-NL" sz="2800" dirty="0" err="1"/>
              <a:t>problem</a:t>
            </a:r>
            <a:endParaRPr lang="nl-NL" sz="2800" dirty="0"/>
          </a:p>
          <a:p>
            <a:endParaRPr lang="nl-NL" sz="2800" dirty="0"/>
          </a:p>
        </p:txBody>
      </p:sp>
      <p:pic>
        <p:nvPicPr>
          <p:cNvPr id="3" name="图片 2" descr="正在游泳的人&#10;&#10;AI 生成的内容可能不正确。">
            <a:extLst>
              <a:ext uri="{FF2B5EF4-FFF2-40B4-BE49-F238E27FC236}">
                <a16:creationId xmlns:a16="http://schemas.microsoft.com/office/drawing/2014/main" id="{75558145-E9C8-CFA8-114C-979789BE4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96" y="571833"/>
            <a:ext cx="5347914" cy="5347914"/>
          </a:xfrm>
          <a:prstGeom prst="rect">
            <a:avLst/>
          </a:prstGeom>
        </p:spPr>
      </p:pic>
      <p:pic>
        <p:nvPicPr>
          <p:cNvPr id="11" name="图片 10" descr="正在游泳的人&#10;&#10;AI 生成的内容可能不正确。">
            <a:extLst>
              <a:ext uri="{FF2B5EF4-FFF2-40B4-BE49-F238E27FC236}">
                <a16:creationId xmlns:a16="http://schemas.microsoft.com/office/drawing/2014/main" id="{B5913341-84FC-EB43-50F0-D1F0040FF4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737" y="198118"/>
            <a:ext cx="5896555" cy="589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33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5393-726C-7F6D-2A54-5B61E7A4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33AAB7B-BAC5-8380-6DC4-DC0907A85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6C63A805-56F5-FE31-3F26-714801EB7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54" y="2582557"/>
            <a:ext cx="10986696" cy="1399032"/>
          </a:xfrm>
        </p:spPr>
        <p:txBody>
          <a:bodyPr>
            <a:noAutofit/>
          </a:bodyPr>
          <a:lstStyle/>
          <a:p>
            <a:r>
              <a:rPr lang="nl-NL" altLang="zh-CN" sz="2800" dirty="0" err="1"/>
              <a:t>Future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Work</a:t>
            </a:r>
            <a:r>
              <a:rPr lang="nl-NL" altLang="zh-CN" sz="2800" dirty="0"/>
              <a:t>:</a:t>
            </a:r>
          </a:p>
          <a:p>
            <a:pPr marL="514350" indent="-514350">
              <a:buAutoNum type="arabicParenBoth"/>
            </a:pPr>
            <a:endParaRPr lang="nl-NL" sz="2800" dirty="0"/>
          </a:p>
          <a:p>
            <a:pPr marL="514350" indent="-514350">
              <a:buAutoNum type="arabicParenBoth"/>
            </a:pPr>
            <a:r>
              <a:rPr lang="nl-NL" sz="2800" dirty="0"/>
              <a:t> </a:t>
            </a:r>
            <a:r>
              <a:rPr lang="nl-NL" altLang="zh-CN" sz="2800" dirty="0"/>
              <a:t>Optimization2</a:t>
            </a:r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7537957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0</TotalTime>
  <Words>508</Words>
  <Application>Microsoft Office PowerPoint</Application>
  <PresentationFormat>宽屏</PresentationFormat>
  <Paragraphs>76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Arial</vt:lpstr>
      <vt:lpstr>Bierstadt</vt:lpstr>
      <vt:lpstr>Neue Haas Grotesk Text Pro</vt:lpstr>
      <vt:lpstr>GestaltVTI</vt:lpstr>
      <vt:lpstr>Optimization1 of Stem Pairing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Jiang</dc:creator>
  <cp:lastModifiedBy>Hua Jiang</cp:lastModifiedBy>
  <cp:revision>36</cp:revision>
  <dcterms:created xsi:type="dcterms:W3CDTF">2025-09-24T08:15:25Z</dcterms:created>
  <dcterms:modified xsi:type="dcterms:W3CDTF">2025-11-12T10:36:39Z</dcterms:modified>
</cp:coreProperties>
</file>