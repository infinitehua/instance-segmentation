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79" r:id="rId3"/>
    <p:sldId id="280" r:id="rId4"/>
    <p:sldId id="281" r:id="rId5"/>
    <p:sldId id="282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968093" y="-10"/>
            <a:ext cx="622388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2985" y="1444010"/>
            <a:ext cx="6649433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altLang="zh-CN" sz="4400" dirty="0">
                <a:solidFill>
                  <a:schemeClr val="bg1"/>
                </a:solidFill>
              </a:rPr>
              <a:t>Optimization4 of </a:t>
            </a:r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11 Hua Jiang</a:t>
            </a:r>
          </a:p>
        </p:txBody>
      </p:sp>
      <p:pic>
        <p:nvPicPr>
          <p:cNvPr id="12" name="图片 11" descr="图片包含 电子, 显示器, 监控, 桌子&#10;&#10;AI 生成的内容可能不正确。">
            <a:extLst>
              <a:ext uri="{FF2B5EF4-FFF2-40B4-BE49-F238E27FC236}">
                <a16:creationId xmlns:a16="http://schemas.microsoft.com/office/drawing/2014/main" id="{14B18281-8CB5-B193-6BFF-35EFF42FD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07" y="874115"/>
            <a:ext cx="5331878" cy="533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9D2D422E-96CA-22C9-5566-2BE26EF12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82" y="4555272"/>
            <a:ext cx="3629374" cy="1399032"/>
          </a:xfrm>
        </p:spPr>
        <p:txBody>
          <a:bodyPr>
            <a:normAutofit fontScale="92500"/>
          </a:bodyPr>
          <a:lstStyle/>
          <a:p>
            <a:r>
              <a:rPr lang="en-US" dirty="0"/>
              <a:t>Successfully passed the test sets from 19 – 32, around 66 images</a:t>
            </a:r>
            <a:endParaRPr lang="nl-NL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470D960-081B-BF05-12D2-0F4C87D6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796" y="108866"/>
            <a:ext cx="7979232" cy="589039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DC4914-7D25-4CCD-D103-18B385C323C4}"/>
              </a:ext>
            </a:extLst>
          </p:cNvPr>
          <p:cNvSpPr txBox="1"/>
          <p:nvPr/>
        </p:nvSpPr>
        <p:spPr>
          <a:xfrm>
            <a:off x="219135" y="1654994"/>
            <a:ext cx="3553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Tunning parameters and I changed the main pairing strategy!</a:t>
            </a:r>
            <a:endParaRPr lang="nl-NL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45F357-21F5-7FDD-A5A2-B58A1EEBC732}"/>
              </a:ext>
            </a:extLst>
          </p:cNvPr>
          <p:cNvSpPr/>
          <p:nvPr/>
        </p:nvSpPr>
        <p:spPr>
          <a:xfrm>
            <a:off x="7869638" y="1194354"/>
            <a:ext cx="2202180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score &lt;3</a:t>
            </a:r>
            <a:endParaRPr lang="nl-NL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73DC0B-8022-C329-844B-CA2FBB2B1F2F}"/>
              </a:ext>
            </a:extLst>
          </p:cNvPr>
          <p:cNvSpPr/>
          <p:nvPr/>
        </p:nvSpPr>
        <p:spPr>
          <a:xfrm>
            <a:off x="8738318" y="2364775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3&lt; score &lt;11</a:t>
            </a:r>
            <a:endParaRPr lang="nl-NL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F6B17C4-2D47-99C1-AEBB-2A96F5EAB9A0}"/>
              </a:ext>
            </a:extLst>
          </p:cNvPr>
          <p:cNvSpPr/>
          <p:nvPr/>
        </p:nvSpPr>
        <p:spPr>
          <a:xfrm>
            <a:off x="9396454" y="3611144"/>
            <a:ext cx="2338346" cy="892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candidates with 11&lt; score</a:t>
            </a:r>
            <a:endParaRPr lang="nl-NL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89D595C-D3C5-569A-EF00-845E04830FCD}"/>
              </a:ext>
            </a:extLst>
          </p:cNvPr>
          <p:cNvSpPr/>
          <p:nvPr/>
        </p:nvSpPr>
        <p:spPr>
          <a:xfrm>
            <a:off x="8807395" y="156776"/>
            <a:ext cx="1758232" cy="68376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scores</a:t>
            </a:r>
            <a:endParaRPr lang="nl-NL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C29A2DF-040A-74C5-569A-E41F84290DF0}"/>
              </a:ext>
            </a:extLst>
          </p:cNvPr>
          <p:cNvCxnSpPr/>
          <p:nvPr/>
        </p:nvCxnSpPr>
        <p:spPr>
          <a:xfrm>
            <a:off x="9235440" y="867354"/>
            <a:ext cx="0" cy="32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A32DB83-0978-1088-A034-9F584A3BA7D5}"/>
              </a:ext>
            </a:extLst>
          </p:cNvPr>
          <p:cNvCxnSpPr/>
          <p:nvPr/>
        </p:nvCxnSpPr>
        <p:spPr>
          <a:xfrm rot="16200000" flipH="1">
            <a:off x="9190617" y="1085512"/>
            <a:ext cx="1316466" cy="1242060"/>
          </a:xfrm>
          <a:prstGeom prst="bentConnector3">
            <a:avLst>
              <a:gd name="adj1" fmla="val -9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7EFE557-2600-7287-2241-1AEB73FFE17E}"/>
              </a:ext>
            </a:extLst>
          </p:cNvPr>
          <p:cNvCxnSpPr/>
          <p:nvPr/>
        </p:nvCxnSpPr>
        <p:spPr>
          <a:xfrm rot="16200000" flipH="1">
            <a:off x="9934203" y="2176307"/>
            <a:ext cx="1970514" cy="899160"/>
          </a:xfrm>
          <a:prstGeom prst="bentConnector3">
            <a:avLst>
              <a:gd name="adj1" fmla="val 3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F3A6239-7C9D-EC7E-CCA1-E1CCD6213CEF}"/>
              </a:ext>
            </a:extLst>
          </p:cNvPr>
          <p:cNvCxnSpPr/>
          <p:nvPr/>
        </p:nvCxnSpPr>
        <p:spPr>
          <a:xfrm>
            <a:off x="8199120" y="2086906"/>
            <a:ext cx="0" cy="3017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49BD6B2-B836-53AD-D67F-C304D696D693}"/>
              </a:ext>
            </a:extLst>
          </p:cNvPr>
          <p:cNvCxnSpPr/>
          <p:nvPr/>
        </p:nvCxnSpPr>
        <p:spPr>
          <a:xfrm>
            <a:off x="9326880" y="2086906"/>
            <a:ext cx="0" cy="319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2948E25-0485-AB05-3D7C-415B21ECA5B8}"/>
              </a:ext>
            </a:extLst>
          </p:cNvPr>
          <p:cNvCxnSpPr/>
          <p:nvPr/>
        </p:nvCxnSpPr>
        <p:spPr>
          <a:xfrm>
            <a:off x="9105900" y="3257327"/>
            <a:ext cx="0" cy="1846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6F42E01-F1CE-898B-6F4B-17FB4E3DCF2A}"/>
              </a:ext>
            </a:extLst>
          </p:cNvPr>
          <p:cNvCxnSpPr>
            <a:cxnSpLocks/>
          </p:cNvCxnSpPr>
          <p:nvPr/>
        </p:nvCxnSpPr>
        <p:spPr>
          <a:xfrm>
            <a:off x="9907491" y="3257327"/>
            <a:ext cx="0" cy="465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CB8BA70-5274-5EFD-A332-978A4EA103E5}"/>
              </a:ext>
            </a:extLst>
          </p:cNvPr>
          <p:cNvCxnSpPr>
            <a:cxnSpLocks/>
          </p:cNvCxnSpPr>
          <p:nvPr/>
        </p:nvCxnSpPr>
        <p:spPr>
          <a:xfrm>
            <a:off x="9907491" y="4503696"/>
            <a:ext cx="0" cy="600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2657172-D3AA-8A43-C9A8-7C890316416F}"/>
              </a:ext>
            </a:extLst>
          </p:cNvPr>
          <p:cNvSpPr/>
          <p:nvPr/>
        </p:nvSpPr>
        <p:spPr>
          <a:xfrm>
            <a:off x="7909560" y="5126737"/>
            <a:ext cx="2392680" cy="84047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nl-NL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3ABC08-DC7E-A247-1F27-A17143D4E1F5}"/>
              </a:ext>
            </a:extLst>
          </p:cNvPr>
          <p:cNvSpPr txBox="1"/>
          <p:nvPr/>
        </p:nvSpPr>
        <p:spPr>
          <a:xfrm>
            <a:off x="7551917" y="3432541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E752F7-8BAF-4E13-2E87-B8B3D9D4977F}"/>
              </a:ext>
            </a:extLst>
          </p:cNvPr>
          <p:cNvSpPr txBox="1"/>
          <p:nvPr/>
        </p:nvSpPr>
        <p:spPr>
          <a:xfrm>
            <a:off x="8600164" y="372267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9DC37C9-3BA9-4FFD-683E-72EE320BD730}"/>
              </a:ext>
            </a:extLst>
          </p:cNvPr>
          <p:cNvSpPr txBox="1"/>
          <p:nvPr/>
        </p:nvSpPr>
        <p:spPr>
          <a:xfrm>
            <a:off x="9393638" y="463155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nl-NL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CACCCF-6EDE-0327-2867-8B251C437FBF}"/>
              </a:ext>
            </a:extLst>
          </p:cNvPr>
          <p:cNvSpPr txBox="1"/>
          <p:nvPr/>
        </p:nvSpPr>
        <p:spPr>
          <a:xfrm>
            <a:off x="9528313" y="2056062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9E9CC2-DC6E-C23E-1C54-B4D626588B7C}"/>
              </a:ext>
            </a:extLst>
          </p:cNvPr>
          <p:cNvSpPr txBox="1"/>
          <p:nvPr/>
        </p:nvSpPr>
        <p:spPr>
          <a:xfrm>
            <a:off x="9361905" y="3262761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nl-NL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AB00C9-54F8-DC2F-6914-81E2EB6966EF}"/>
              </a:ext>
            </a:extLst>
          </p:cNvPr>
          <p:cNvSpPr txBox="1"/>
          <p:nvPr/>
        </p:nvSpPr>
        <p:spPr>
          <a:xfrm>
            <a:off x="8850133" y="87075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7D8FA8-5107-D105-8C7A-6B307812946D}"/>
              </a:ext>
            </a:extLst>
          </p:cNvPr>
          <p:cNvSpPr txBox="1"/>
          <p:nvPr/>
        </p:nvSpPr>
        <p:spPr>
          <a:xfrm>
            <a:off x="10477500" y="1030854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nl-NL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D1C9793-C1A7-D509-5206-0B02705CAB60}"/>
              </a:ext>
            </a:extLst>
          </p:cNvPr>
          <p:cNvSpPr txBox="1"/>
          <p:nvPr/>
        </p:nvSpPr>
        <p:spPr>
          <a:xfrm>
            <a:off x="10145367" y="183774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  <a:endParaRPr lang="nl-NL" dirty="0"/>
          </a:p>
        </p:txBody>
      </p:sp>
      <p:pic>
        <p:nvPicPr>
          <p:cNvPr id="32" name="图片 31" descr="图片包含 桌子, 监控, 电脑, 蓝色&#10;&#10;AI 生成的内容可能不正确。">
            <a:extLst>
              <a:ext uri="{FF2B5EF4-FFF2-40B4-BE49-F238E27FC236}">
                <a16:creationId xmlns:a16="http://schemas.microsoft.com/office/drawing/2014/main" id="{051AD4FF-A0B9-BC47-C3B6-40BB79FF1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23" y="174222"/>
            <a:ext cx="5657850" cy="5657850"/>
          </a:xfrm>
          <a:prstGeom prst="rect">
            <a:avLst/>
          </a:prstGeom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C23302A-7CA6-9850-5F2E-0F8563FE157D}"/>
              </a:ext>
            </a:extLst>
          </p:cNvPr>
          <p:cNvCxnSpPr>
            <a:cxnSpLocks/>
          </p:cNvCxnSpPr>
          <p:nvPr/>
        </p:nvCxnSpPr>
        <p:spPr>
          <a:xfrm>
            <a:off x="2235819" y="1536297"/>
            <a:ext cx="502008" cy="1434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对话气泡: 圆角矩形 33">
            <a:extLst>
              <a:ext uri="{FF2B5EF4-FFF2-40B4-BE49-F238E27FC236}">
                <a16:creationId xmlns:a16="http://schemas.microsoft.com/office/drawing/2014/main" id="{6B5080FC-FA08-D5F5-A4B3-7E526B80DDC3}"/>
              </a:ext>
            </a:extLst>
          </p:cNvPr>
          <p:cNvSpPr/>
          <p:nvPr/>
        </p:nvSpPr>
        <p:spPr>
          <a:xfrm>
            <a:off x="1903998" y="723138"/>
            <a:ext cx="1130300" cy="590022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Base Stem</a:t>
            </a:r>
            <a:endParaRPr lang="nl-NL" dirty="0"/>
          </a:p>
        </p:txBody>
      </p:sp>
      <p:sp>
        <p:nvSpPr>
          <p:cNvPr id="35" name="对话气泡: 圆角矩形 34">
            <a:extLst>
              <a:ext uri="{FF2B5EF4-FFF2-40B4-BE49-F238E27FC236}">
                <a16:creationId xmlns:a16="http://schemas.microsoft.com/office/drawing/2014/main" id="{101B10D4-F394-453E-051C-F391E9F82C9D}"/>
              </a:ext>
            </a:extLst>
          </p:cNvPr>
          <p:cNvSpPr/>
          <p:nvPr/>
        </p:nvSpPr>
        <p:spPr>
          <a:xfrm>
            <a:off x="573673" y="1598189"/>
            <a:ext cx="1330325" cy="590022"/>
          </a:xfrm>
          <a:prstGeom prst="wedgeRoundRectCallout">
            <a:avLst>
              <a:gd name="adj1" fmla="val 77482"/>
              <a:gd name="adj2" fmla="val 129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True Partner</a:t>
            </a:r>
            <a:endParaRPr lang="nl-NL" dirty="0"/>
          </a:p>
        </p:txBody>
      </p:sp>
      <p:sp>
        <p:nvSpPr>
          <p:cNvPr id="36" name="对话气泡: 圆角矩形 35">
            <a:extLst>
              <a:ext uri="{FF2B5EF4-FFF2-40B4-BE49-F238E27FC236}">
                <a16:creationId xmlns:a16="http://schemas.microsoft.com/office/drawing/2014/main" id="{E5D43392-37B3-86E6-F0E8-559B39596918}"/>
              </a:ext>
            </a:extLst>
          </p:cNvPr>
          <p:cNvSpPr/>
          <p:nvPr/>
        </p:nvSpPr>
        <p:spPr>
          <a:xfrm>
            <a:off x="3034297" y="2413125"/>
            <a:ext cx="1412875" cy="590022"/>
          </a:xfrm>
          <a:prstGeom prst="wedgeRoundRectCallout">
            <a:avLst>
              <a:gd name="adj1" fmla="val -66339"/>
              <a:gd name="adj2" fmla="val 560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dirty="0"/>
              <a:t>Best </a:t>
            </a:r>
            <a:r>
              <a:rPr lang="nl-NL" altLang="zh-CN" dirty="0" err="1"/>
              <a:t>candidate</a:t>
            </a:r>
            <a:endParaRPr lang="nl-NL" dirty="0"/>
          </a:p>
        </p:txBody>
      </p:sp>
      <p:sp>
        <p:nvSpPr>
          <p:cNvPr id="37" name="对话气泡: 圆角矩形 36">
            <a:extLst>
              <a:ext uri="{FF2B5EF4-FFF2-40B4-BE49-F238E27FC236}">
                <a16:creationId xmlns:a16="http://schemas.microsoft.com/office/drawing/2014/main" id="{08199F97-64D8-35DB-A414-E6ED2F046B30}"/>
              </a:ext>
            </a:extLst>
          </p:cNvPr>
          <p:cNvSpPr/>
          <p:nvPr/>
        </p:nvSpPr>
        <p:spPr>
          <a:xfrm>
            <a:off x="6472858" y="210771"/>
            <a:ext cx="1770491" cy="862345"/>
          </a:xfrm>
          <a:prstGeom prst="wedgeRoundRectCallout">
            <a:avLst>
              <a:gd name="adj1" fmla="val 63098"/>
              <a:gd name="adj2" fmla="val 5608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only distance</a:t>
            </a:r>
            <a:endParaRPr lang="nl-NL" dirty="0"/>
          </a:p>
        </p:txBody>
      </p:sp>
      <p:sp>
        <p:nvSpPr>
          <p:cNvPr id="38" name="对话气泡: 圆角矩形 37">
            <a:extLst>
              <a:ext uri="{FF2B5EF4-FFF2-40B4-BE49-F238E27FC236}">
                <a16:creationId xmlns:a16="http://schemas.microsoft.com/office/drawing/2014/main" id="{4CBA4C2F-4204-CCFC-9C07-D2A6E43BF358}"/>
              </a:ext>
            </a:extLst>
          </p:cNvPr>
          <p:cNvSpPr/>
          <p:nvPr/>
        </p:nvSpPr>
        <p:spPr>
          <a:xfrm>
            <a:off x="6445443" y="2232641"/>
            <a:ext cx="1893712" cy="862345"/>
          </a:xfrm>
          <a:prstGeom prst="wedgeRoundRectCallout">
            <a:avLst>
              <a:gd name="adj1" fmla="val 71182"/>
              <a:gd name="adj2" fmla="val 1735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distance*score</a:t>
            </a:r>
            <a:endParaRPr lang="nl-NL" dirty="0"/>
          </a:p>
        </p:txBody>
      </p:sp>
      <p:sp>
        <p:nvSpPr>
          <p:cNvPr id="39" name="对话气泡: 圆角矩形 38">
            <a:extLst>
              <a:ext uri="{FF2B5EF4-FFF2-40B4-BE49-F238E27FC236}">
                <a16:creationId xmlns:a16="http://schemas.microsoft.com/office/drawing/2014/main" id="{C94BEA7E-7305-3D38-B54C-2B679D14FD2C}"/>
              </a:ext>
            </a:extLst>
          </p:cNvPr>
          <p:cNvSpPr/>
          <p:nvPr/>
        </p:nvSpPr>
        <p:spPr>
          <a:xfrm>
            <a:off x="10298288" y="4786197"/>
            <a:ext cx="1893712" cy="862345"/>
          </a:xfrm>
          <a:prstGeom prst="wedgeRoundRectCallout">
            <a:avLst>
              <a:gd name="adj1" fmla="val 6101"/>
              <a:gd name="adj2" fmla="val -7485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only score</a:t>
            </a:r>
            <a:endParaRPr lang="nl-NL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F5CF393-5739-34F9-F54B-DBB0B2367C49}"/>
              </a:ext>
            </a:extLst>
          </p:cNvPr>
          <p:cNvSpPr txBox="1"/>
          <p:nvPr/>
        </p:nvSpPr>
        <p:spPr>
          <a:xfrm>
            <a:off x="699715" y="6216571"/>
            <a:ext cx="7275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don’t want to only pick up the candidate with the lowest score, not high chance to be correct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1550-0BFF-00F9-BFFF-3E10092F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B912151-108C-7D0B-0724-46B44BD0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76FB8FCE-9320-CAE7-0715-B3128A6EF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39" y="2233271"/>
            <a:ext cx="8575793" cy="665895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Pairing</a:t>
            </a:r>
            <a:r>
              <a:rPr lang="nl-NL" altLang="zh-CN" sz="2800" dirty="0"/>
              <a:t> is </a:t>
            </a:r>
            <a:r>
              <a:rPr lang="nl-NL" altLang="zh-CN" sz="2800" dirty="0" err="1"/>
              <a:t>not</a:t>
            </a:r>
            <a:r>
              <a:rPr lang="nl-NL" altLang="zh-CN" sz="2800" dirty="0"/>
              <a:t> </a:t>
            </a:r>
            <a:r>
              <a:rPr lang="nl-NL" altLang="zh-CN" sz="2800" dirty="0" err="1"/>
              <a:t>unilateral</a:t>
            </a:r>
            <a:r>
              <a:rPr lang="nl-NL" altLang="zh-CN" sz="2800" dirty="0"/>
              <a:t>, </a:t>
            </a:r>
            <a:r>
              <a:rPr lang="nl-NL" altLang="zh-CN" sz="2800" dirty="0" err="1"/>
              <a:t>it’s</a:t>
            </a:r>
            <a:r>
              <a:rPr lang="nl-NL" altLang="zh-CN" sz="2800" dirty="0"/>
              <a:t> </a:t>
            </a:r>
            <a:r>
              <a:rPr lang="nl-NL" altLang="zh-CN" sz="2800" dirty="0" err="1"/>
              <a:t>bilateral</a:t>
            </a:r>
            <a:r>
              <a:rPr lang="nl-NL" altLang="zh-CN" sz="2800" dirty="0"/>
              <a:t>:</a:t>
            </a:r>
          </a:p>
          <a:p>
            <a:endParaRPr lang="nl-NL" sz="2400" dirty="0"/>
          </a:p>
          <a:p>
            <a:pPr marL="457200" indent="-457200">
              <a:buAutoNum type="arabicParenBoth"/>
            </a:pPr>
            <a:r>
              <a:rPr lang="nl-NL" sz="2000" i="0" dirty="0" err="1"/>
              <a:t>score_i_j</a:t>
            </a:r>
            <a:r>
              <a:rPr lang="nl-NL" sz="2000" i="0" dirty="0"/>
              <a:t>: </a:t>
            </a:r>
            <a:r>
              <a:rPr lang="nl-NL" sz="2000" i="0" dirty="0" err="1"/>
              <a:t>the</a:t>
            </a:r>
            <a:r>
              <a:rPr lang="nl-NL" sz="2000" i="0" dirty="0"/>
              <a:t> score of stem j </a:t>
            </a:r>
            <a:r>
              <a:rPr lang="nl-NL" sz="2000" i="0" dirty="0" err="1"/>
              <a:t>based</a:t>
            </a:r>
            <a:r>
              <a:rPr lang="nl-NL" sz="2000" i="0" dirty="0"/>
              <a:t> on stem i</a:t>
            </a:r>
          </a:p>
          <a:p>
            <a:pPr marL="457200" indent="-457200">
              <a:buFont typeface="Arial" panose="020B0604020202020204" pitchFamily="34" charset="0"/>
              <a:buAutoNum type="arabicParenBoth"/>
            </a:pPr>
            <a:r>
              <a:rPr lang="nl-NL" sz="2000" i="0" dirty="0" err="1"/>
              <a:t>score_j_i</a:t>
            </a:r>
            <a:r>
              <a:rPr lang="nl-NL" sz="2000" i="0" dirty="0"/>
              <a:t>: </a:t>
            </a:r>
            <a:r>
              <a:rPr lang="nl-NL" sz="2000" i="0" dirty="0" err="1"/>
              <a:t>the</a:t>
            </a:r>
            <a:r>
              <a:rPr lang="nl-NL" sz="2000" i="0" dirty="0"/>
              <a:t> score of stem i </a:t>
            </a:r>
            <a:r>
              <a:rPr lang="nl-NL" sz="2000" i="0" dirty="0" err="1"/>
              <a:t>based</a:t>
            </a:r>
            <a:r>
              <a:rPr lang="nl-NL" sz="2000" i="0" dirty="0"/>
              <a:t> on stem j</a:t>
            </a:r>
          </a:p>
          <a:p>
            <a:pPr marL="457200" indent="-457200">
              <a:buAutoNum type="arabicParenBoth"/>
            </a:pPr>
            <a:endParaRPr lang="nl-NL" sz="20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EF9B6B-3A75-02CF-1B45-D3F1511AB16C}"/>
              </a:ext>
            </a:extLst>
          </p:cNvPr>
          <p:cNvSpPr/>
          <p:nvPr/>
        </p:nvSpPr>
        <p:spPr>
          <a:xfrm>
            <a:off x="7299297" y="1574306"/>
            <a:ext cx="1970267" cy="89054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Stem j: </a:t>
            </a:r>
            <a:r>
              <a:rPr lang="en-US" dirty="0" err="1"/>
              <a:t>scores_i_j</a:t>
            </a:r>
            <a:endParaRPr lang="nl-NL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F44EA2B-BCB5-8961-78A0-EC56A276DF89}"/>
              </a:ext>
            </a:extLst>
          </p:cNvPr>
          <p:cNvSpPr/>
          <p:nvPr/>
        </p:nvSpPr>
        <p:spPr>
          <a:xfrm>
            <a:off x="7659259" y="411273"/>
            <a:ext cx="1758232" cy="68376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Stem </a:t>
            </a:r>
            <a:r>
              <a:rPr lang="en-US" dirty="0" err="1"/>
              <a:t>i</a:t>
            </a:r>
            <a:endParaRPr lang="nl-NL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D786E9B-6865-4EFC-565D-A84633DEBD4C}"/>
              </a:ext>
            </a:extLst>
          </p:cNvPr>
          <p:cNvCxnSpPr>
            <a:cxnSpLocks/>
          </p:cNvCxnSpPr>
          <p:nvPr/>
        </p:nvCxnSpPr>
        <p:spPr>
          <a:xfrm>
            <a:off x="8512203" y="1095034"/>
            <a:ext cx="0" cy="479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3565483-1816-135C-D8C3-AFDC6C412279}"/>
              </a:ext>
            </a:extLst>
          </p:cNvPr>
          <p:cNvSpPr txBox="1"/>
          <p:nvPr/>
        </p:nvSpPr>
        <p:spPr>
          <a:xfrm>
            <a:off x="9406393" y="1781088"/>
            <a:ext cx="60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+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07749C3-8E63-0FF6-24F4-464C926E58AD}"/>
              </a:ext>
            </a:extLst>
          </p:cNvPr>
          <p:cNvSpPr/>
          <p:nvPr/>
        </p:nvSpPr>
        <p:spPr>
          <a:xfrm>
            <a:off x="10010693" y="1574306"/>
            <a:ext cx="1906147" cy="90840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Reversely, find </a:t>
            </a:r>
            <a:r>
              <a:rPr lang="en-US" dirty="0" err="1"/>
              <a:t>score_j_i</a:t>
            </a:r>
            <a:endParaRPr lang="nl-NL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27CA596-0C1A-E9D5-D07D-336D29D0BF00}"/>
              </a:ext>
            </a:extLst>
          </p:cNvPr>
          <p:cNvCxnSpPr>
            <a:cxnSpLocks/>
          </p:cNvCxnSpPr>
          <p:nvPr/>
        </p:nvCxnSpPr>
        <p:spPr>
          <a:xfrm>
            <a:off x="9269564" y="1781088"/>
            <a:ext cx="741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BD92CF3-C1B0-B243-F8CB-F36AD3AE17FA}"/>
              </a:ext>
            </a:extLst>
          </p:cNvPr>
          <p:cNvSpPr/>
          <p:nvPr/>
        </p:nvSpPr>
        <p:spPr>
          <a:xfrm>
            <a:off x="8012761" y="3036557"/>
            <a:ext cx="3254734" cy="112414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candidate j_1 to </a:t>
            </a:r>
            <a:r>
              <a:rPr lang="en-US" dirty="0" err="1"/>
              <a:t>j_k</a:t>
            </a:r>
            <a:r>
              <a:rPr lang="en-US" dirty="0"/>
              <a:t>, find the lowest </a:t>
            </a:r>
            <a:r>
              <a:rPr lang="en-US" dirty="0" err="1"/>
              <a:t>score_i_j</a:t>
            </a:r>
            <a:r>
              <a:rPr lang="en-US" dirty="0"/>
              <a:t> +</a:t>
            </a:r>
            <a:r>
              <a:rPr lang="en-US" dirty="0" err="1"/>
              <a:t>score_j_i</a:t>
            </a:r>
            <a:endParaRPr lang="nl-NL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9F39A34-A352-1257-5275-4CC3E9A42C7F}"/>
              </a:ext>
            </a:extLst>
          </p:cNvPr>
          <p:cNvCxnSpPr>
            <a:cxnSpLocks/>
          </p:cNvCxnSpPr>
          <p:nvPr/>
        </p:nvCxnSpPr>
        <p:spPr>
          <a:xfrm>
            <a:off x="8890055" y="2464849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AB5BB5F-080C-7CF2-B9AD-415A67842998}"/>
              </a:ext>
            </a:extLst>
          </p:cNvPr>
          <p:cNvCxnSpPr>
            <a:cxnSpLocks/>
          </p:cNvCxnSpPr>
          <p:nvPr/>
        </p:nvCxnSpPr>
        <p:spPr>
          <a:xfrm>
            <a:off x="10465738" y="2464849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767B3E6-3299-AEB5-B1EF-8509D22DB11E}"/>
              </a:ext>
            </a:extLst>
          </p:cNvPr>
          <p:cNvSpPr/>
          <p:nvPr/>
        </p:nvSpPr>
        <p:spPr>
          <a:xfrm>
            <a:off x="8512203" y="4785098"/>
            <a:ext cx="2392680" cy="84047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best candidate</a:t>
            </a:r>
            <a:endParaRPr lang="nl-NL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DF32583-3172-4783-0C38-149777BB963D}"/>
              </a:ext>
            </a:extLst>
          </p:cNvPr>
          <p:cNvCxnSpPr>
            <a:cxnSpLocks/>
          </p:cNvCxnSpPr>
          <p:nvPr/>
        </p:nvCxnSpPr>
        <p:spPr>
          <a:xfrm>
            <a:off x="9708543" y="4213390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DD9638A-12C5-51E2-2073-BE93D3AF8166}"/>
              </a:ext>
            </a:extLst>
          </p:cNvPr>
          <p:cNvSpPr txBox="1"/>
          <p:nvPr/>
        </p:nvSpPr>
        <p:spPr>
          <a:xfrm>
            <a:off x="129517" y="2806730"/>
            <a:ext cx="7883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Instead of choosing the lowest candidate score, find the lowest matching score!</a:t>
            </a:r>
            <a:endParaRPr lang="nl-NL" altLang="zh-CN" sz="2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83DFBC-1C4A-8FC8-3A21-4939FB43C2B8}"/>
              </a:ext>
            </a:extLst>
          </p:cNvPr>
          <p:cNvSpPr txBox="1"/>
          <p:nvPr/>
        </p:nvSpPr>
        <p:spPr>
          <a:xfrm>
            <a:off x="194452" y="4934788"/>
            <a:ext cx="7883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That curtails the line of code from 1600 to 1100, increase the computational speed by 2-3 times, with generally 100% accuracy!</a:t>
            </a:r>
          </a:p>
          <a:p>
            <a:endParaRPr lang="nl-NL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0870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8FCC3-10F5-CD3C-9293-8E90FD11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95D50345-0EE4-DE3E-C56F-AEC631C1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0F34DB-4EAF-17D5-2DF1-3BFCD2BC50B5}"/>
              </a:ext>
            </a:extLst>
          </p:cNvPr>
          <p:cNvSpPr/>
          <p:nvPr/>
        </p:nvSpPr>
        <p:spPr>
          <a:xfrm>
            <a:off x="7299297" y="1574306"/>
            <a:ext cx="1970267" cy="89054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 Stem j: </a:t>
            </a:r>
            <a:r>
              <a:rPr lang="en-US" dirty="0" err="1"/>
              <a:t>scores_i_j</a:t>
            </a:r>
            <a:endParaRPr lang="nl-NL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A772A28-845A-9F3E-542B-E02364465DF4}"/>
              </a:ext>
            </a:extLst>
          </p:cNvPr>
          <p:cNvSpPr/>
          <p:nvPr/>
        </p:nvSpPr>
        <p:spPr>
          <a:xfrm>
            <a:off x="7659259" y="411273"/>
            <a:ext cx="1758232" cy="68376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Stem </a:t>
            </a:r>
            <a:r>
              <a:rPr lang="en-US" dirty="0" err="1"/>
              <a:t>i</a:t>
            </a:r>
            <a:endParaRPr lang="nl-NL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BD7DDD7-452A-2679-70EC-775A675F9ADF}"/>
              </a:ext>
            </a:extLst>
          </p:cNvPr>
          <p:cNvCxnSpPr>
            <a:cxnSpLocks/>
          </p:cNvCxnSpPr>
          <p:nvPr/>
        </p:nvCxnSpPr>
        <p:spPr>
          <a:xfrm>
            <a:off x="8512203" y="1095034"/>
            <a:ext cx="0" cy="479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379CE99-10D9-3283-FCFB-4F1554B63CF6}"/>
              </a:ext>
            </a:extLst>
          </p:cNvPr>
          <p:cNvSpPr txBox="1"/>
          <p:nvPr/>
        </p:nvSpPr>
        <p:spPr>
          <a:xfrm>
            <a:off x="9406393" y="1781088"/>
            <a:ext cx="60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+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8C2F6FD-0F9A-4084-8B6B-067C56D6EB9D}"/>
              </a:ext>
            </a:extLst>
          </p:cNvPr>
          <p:cNvSpPr/>
          <p:nvPr/>
        </p:nvSpPr>
        <p:spPr>
          <a:xfrm>
            <a:off x="10010693" y="1574306"/>
            <a:ext cx="1906147" cy="90840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Reversely, find </a:t>
            </a:r>
            <a:r>
              <a:rPr lang="en-US" dirty="0" err="1"/>
              <a:t>score_j_i</a:t>
            </a:r>
            <a:endParaRPr lang="nl-NL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D1B615B-54A5-6D7E-1F9D-927CB2B281E6}"/>
              </a:ext>
            </a:extLst>
          </p:cNvPr>
          <p:cNvCxnSpPr>
            <a:cxnSpLocks/>
          </p:cNvCxnSpPr>
          <p:nvPr/>
        </p:nvCxnSpPr>
        <p:spPr>
          <a:xfrm>
            <a:off x="9269564" y="1781088"/>
            <a:ext cx="741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558C656-0FE1-361B-ACC5-0F08F4160A19}"/>
              </a:ext>
            </a:extLst>
          </p:cNvPr>
          <p:cNvSpPr/>
          <p:nvPr/>
        </p:nvSpPr>
        <p:spPr>
          <a:xfrm>
            <a:off x="8012761" y="3036557"/>
            <a:ext cx="3254734" cy="112414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candidate j_1 to </a:t>
            </a:r>
            <a:r>
              <a:rPr lang="en-US" dirty="0" err="1"/>
              <a:t>j_k</a:t>
            </a:r>
            <a:r>
              <a:rPr lang="en-US" dirty="0"/>
              <a:t>, find the lowest </a:t>
            </a:r>
            <a:r>
              <a:rPr lang="en-US" dirty="0" err="1"/>
              <a:t>score_i_j</a:t>
            </a:r>
            <a:r>
              <a:rPr lang="en-US" dirty="0"/>
              <a:t> +</a:t>
            </a:r>
            <a:r>
              <a:rPr lang="en-US" dirty="0" err="1"/>
              <a:t>score_j_i</a:t>
            </a:r>
            <a:endParaRPr lang="nl-NL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EC4E666-ABC2-D891-1D57-BE1C6922551C}"/>
              </a:ext>
            </a:extLst>
          </p:cNvPr>
          <p:cNvCxnSpPr>
            <a:cxnSpLocks/>
          </p:cNvCxnSpPr>
          <p:nvPr/>
        </p:nvCxnSpPr>
        <p:spPr>
          <a:xfrm>
            <a:off x="8890055" y="2464849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F9876DD-7691-AAF9-F918-DA9734845C76}"/>
              </a:ext>
            </a:extLst>
          </p:cNvPr>
          <p:cNvCxnSpPr>
            <a:cxnSpLocks/>
          </p:cNvCxnSpPr>
          <p:nvPr/>
        </p:nvCxnSpPr>
        <p:spPr>
          <a:xfrm>
            <a:off x="10465738" y="2464849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B929141-FBA7-CE81-594E-2C0EA4FA75A2}"/>
              </a:ext>
            </a:extLst>
          </p:cNvPr>
          <p:cNvSpPr/>
          <p:nvPr/>
        </p:nvSpPr>
        <p:spPr>
          <a:xfrm>
            <a:off x="8512203" y="4785098"/>
            <a:ext cx="2392680" cy="84047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best candidate</a:t>
            </a:r>
            <a:endParaRPr lang="nl-NL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3869458-1406-88B3-8AB4-0F19C94FE8AE}"/>
              </a:ext>
            </a:extLst>
          </p:cNvPr>
          <p:cNvCxnSpPr>
            <a:cxnSpLocks/>
          </p:cNvCxnSpPr>
          <p:nvPr/>
        </p:nvCxnSpPr>
        <p:spPr>
          <a:xfrm>
            <a:off x="9708543" y="4213390"/>
            <a:ext cx="0" cy="571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480187C-9E89-CAA1-0A4F-0ADDBA556452}"/>
              </a:ext>
            </a:extLst>
          </p:cNvPr>
          <p:cNvSpPr txBox="1"/>
          <p:nvPr/>
        </p:nvSpPr>
        <p:spPr>
          <a:xfrm>
            <a:off x="194452" y="4934788"/>
            <a:ext cx="7883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That curtails the line of code from 1600 to 1100, increase the computational speed by 2-3 times, with generally 100% accuracy!</a:t>
            </a:r>
          </a:p>
          <a:p>
            <a:endParaRPr lang="nl-NL" altLang="zh-CN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EED758-8D33-40C0-7F2E-7DBD4825D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7" y="101807"/>
            <a:ext cx="3349327" cy="48329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CD09452-3C91-B582-56E6-9E6DD0F51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869" y="117657"/>
            <a:ext cx="2676599" cy="4832981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5E541231-7321-770D-881B-4590081C675D}"/>
              </a:ext>
            </a:extLst>
          </p:cNvPr>
          <p:cNvSpPr/>
          <p:nvPr/>
        </p:nvSpPr>
        <p:spPr>
          <a:xfrm>
            <a:off x="3753016" y="2410771"/>
            <a:ext cx="612248" cy="2623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4CE76C-1EA5-625F-27E0-90B993898C62}"/>
              </a:ext>
            </a:extLst>
          </p:cNvPr>
          <p:cNvSpPr txBox="1"/>
          <p:nvPr/>
        </p:nvSpPr>
        <p:spPr>
          <a:xfrm>
            <a:off x="1232203" y="1574306"/>
            <a:ext cx="4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EDFB8F-7835-73D3-F21D-FB215198EDCE}"/>
              </a:ext>
            </a:extLst>
          </p:cNvPr>
          <p:cNvSpPr txBox="1"/>
          <p:nvPr/>
        </p:nvSpPr>
        <p:spPr>
          <a:xfrm>
            <a:off x="1448218" y="2464849"/>
            <a:ext cx="4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A495E5-8FB4-DC83-BE62-4301C5CCCFC0}"/>
              </a:ext>
            </a:extLst>
          </p:cNvPr>
          <p:cNvSpPr txBox="1"/>
          <p:nvPr/>
        </p:nvSpPr>
        <p:spPr>
          <a:xfrm>
            <a:off x="1655225" y="1411756"/>
            <a:ext cx="4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E40C62-248C-28E7-383F-6F8344DF233A}"/>
              </a:ext>
            </a:extLst>
          </p:cNvPr>
          <p:cNvSpPr txBox="1"/>
          <p:nvPr/>
        </p:nvSpPr>
        <p:spPr>
          <a:xfrm>
            <a:off x="1838913" y="2172635"/>
            <a:ext cx="4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AE3ED8-BC64-1B98-02F8-4BC2B5172CA2}"/>
              </a:ext>
            </a:extLst>
          </p:cNvPr>
          <p:cNvSpPr txBox="1"/>
          <p:nvPr/>
        </p:nvSpPr>
        <p:spPr>
          <a:xfrm>
            <a:off x="2129711" y="2748848"/>
            <a:ext cx="43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543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5393-726C-7F6D-2A54-5B61E7A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33AAB7B-BAC5-8380-6DC4-DC0907A8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sp>
        <p:nvSpPr>
          <p:cNvPr id="7" name="副标题 6">
            <a:extLst>
              <a:ext uri="{FF2B5EF4-FFF2-40B4-BE49-F238E27FC236}">
                <a16:creationId xmlns:a16="http://schemas.microsoft.com/office/drawing/2014/main" id="{6C63A805-56F5-FE31-3F26-714801EB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473" y="2255159"/>
            <a:ext cx="11343676" cy="1399032"/>
          </a:xfrm>
        </p:spPr>
        <p:txBody>
          <a:bodyPr>
            <a:noAutofit/>
          </a:bodyPr>
          <a:lstStyle/>
          <a:p>
            <a:r>
              <a:rPr lang="nl-NL" altLang="zh-CN" sz="2800" dirty="0" err="1"/>
              <a:t>Future</a:t>
            </a:r>
            <a:r>
              <a:rPr lang="nl-NL" altLang="zh-CN" sz="2800" dirty="0"/>
              <a:t> </a:t>
            </a:r>
            <a:r>
              <a:rPr lang="nl-NL" altLang="zh-CN" sz="2800" dirty="0" err="1"/>
              <a:t>Work</a:t>
            </a:r>
            <a:r>
              <a:rPr lang="nl-NL" altLang="zh-CN" sz="2800" dirty="0"/>
              <a:t>:</a:t>
            </a:r>
          </a:p>
          <a:p>
            <a:pPr marL="514350" indent="-514350">
              <a:buAutoNum type="arabicParenBoth"/>
            </a:pP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sz="2800" dirty="0" err="1"/>
              <a:t>Validate</a:t>
            </a:r>
            <a:r>
              <a:rPr lang="nl-NL" altLang="zh-CN" sz="2800" dirty="0"/>
              <a:t> on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rest 70 images </a:t>
            </a:r>
            <a:r>
              <a:rPr lang="nl-NL" altLang="zh-CN" sz="2800" dirty="0" err="1"/>
              <a:t>and</a:t>
            </a:r>
            <a:r>
              <a:rPr lang="nl-NL" altLang="zh-CN" sz="2800" dirty="0"/>
              <a:t> tune </a:t>
            </a:r>
            <a:r>
              <a:rPr lang="nl-NL" altLang="zh-CN" sz="2800" dirty="0" err="1"/>
              <a:t>the</a:t>
            </a:r>
            <a:r>
              <a:rPr lang="nl-NL" altLang="zh-CN" sz="2800" dirty="0"/>
              <a:t> parameter</a:t>
            </a:r>
          </a:p>
          <a:p>
            <a:pPr marL="514350" indent="-514350">
              <a:buAutoNum type="arabicParenBoth"/>
            </a:pPr>
            <a:r>
              <a:rPr lang="nl-NL" sz="2800" dirty="0"/>
              <a:t> Test on a new dataset </a:t>
            </a:r>
            <a:r>
              <a:rPr lang="nl-NL" sz="2800" dirty="0" err="1"/>
              <a:t>for</a:t>
            </a:r>
            <a:r>
              <a:rPr lang="nl-NL" sz="2800" dirty="0"/>
              <a:t> overall </a:t>
            </a:r>
            <a:r>
              <a:rPr lang="nl-NL" sz="2800" dirty="0" err="1"/>
              <a:t>accuracy</a:t>
            </a:r>
            <a:endParaRPr lang="nl-NL" sz="2800" dirty="0"/>
          </a:p>
          <a:p>
            <a:pPr marL="514350" indent="-514350">
              <a:buAutoNum type="arabicParenBoth"/>
            </a:pPr>
            <a:r>
              <a:rPr lang="nl-NL" sz="2800" dirty="0"/>
              <a:t> </a:t>
            </a:r>
            <a:r>
              <a:rPr lang="nl-NL" sz="2800" dirty="0" err="1"/>
              <a:t>Implement</a:t>
            </a:r>
            <a:r>
              <a:rPr lang="nl-NL" sz="2800" dirty="0"/>
              <a:t> </a:t>
            </a:r>
            <a:r>
              <a:rPr lang="nl-NL" sz="2800" dirty="0" err="1"/>
              <a:t>the</a:t>
            </a:r>
            <a:r>
              <a:rPr lang="nl-NL" sz="2800" dirty="0"/>
              <a:t> ‘Top </a:t>
            </a:r>
            <a:r>
              <a:rPr lang="nl-NL" sz="2800" dirty="0" err="1"/>
              <a:t>Selection’algorithm</a:t>
            </a:r>
            <a:r>
              <a:rPr lang="nl-NL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7957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333</Words>
  <Application>Microsoft Office PowerPoint</Application>
  <PresentationFormat>宽屏</PresentationFormat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Arial</vt:lpstr>
      <vt:lpstr>Bierstadt</vt:lpstr>
      <vt:lpstr>Neue Haas Grotesk Text Pro</vt:lpstr>
      <vt:lpstr>GestaltVTI</vt:lpstr>
      <vt:lpstr>Optimization4 of Stem Pairing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48</cp:revision>
  <dcterms:created xsi:type="dcterms:W3CDTF">2025-09-24T08:15:25Z</dcterms:created>
  <dcterms:modified xsi:type="dcterms:W3CDTF">2025-11-12T09:56:03Z</dcterms:modified>
</cp:coreProperties>
</file>