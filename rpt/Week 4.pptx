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886" y="789893"/>
            <a:ext cx="7602841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sz="4400" dirty="0" err="1">
                <a:solidFill>
                  <a:schemeClr val="bg1"/>
                </a:solidFill>
              </a:rPr>
              <a:t>Annotaion</a:t>
            </a:r>
            <a:r>
              <a:rPr lang="nl-NL" sz="4400" dirty="0">
                <a:solidFill>
                  <a:schemeClr val="bg1"/>
                </a:solidFill>
              </a:rPr>
              <a:t> </a:t>
            </a:r>
            <a:br>
              <a:rPr lang="nl-NL" sz="4400" dirty="0">
                <a:solidFill>
                  <a:schemeClr val="bg1"/>
                </a:solidFill>
              </a:rPr>
            </a:br>
            <a:r>
              <a:rPr lang="nl-NL" sz="4400" dirty="0" err="1">
                <a:solidFill>
                  <a:schemeClr val="bg1"/>
                </a:solidFill>
              </a:rPr>
              <a:t>and</a:t>
            </a:r>
            <a:r>
              <a:rPr lang="nl-NL" sz="4400" dirty="0">
                <a:solidFill>
                  <a:schemeClr val="bg1"/>
                </a:solidFill>
              </a:rPr>
              <a:t> Model Training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4 Hua Jiang</a:t>
            </a:r>
          </a:p>
        </p:txBody>
      </p:sp>
      <p:pic>
        <p:nvPicPr>
          <p:cNvPr id="7" name="图片 6" descr="图片包含 室内, 桌子, 小, 蓝色&#10;&#10;AI 生成的内容可能不正确。">
            <a:extLst>
              <a:ext uri="{FF2B5EF4-FFF2-40B4-BE49-F238E27FC236}">
                <a16:creationId xmlns:a16="http://schemas.microsoft.com/office/drawing/2014/main" id="{672918FE-885B-D8AD-DA7A-87417B4F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62" y="1051149"/>
            <a:ext cx="1651907" cy="1651907"/>
          </a:xfrm>
          <a:prstGeom prst="rect">
            <a:avLst/>
          </a:prstGeom>
        </p:spPr>
      </p:pic>
      <p:pic>
        <p:nvPicPr>
          <p:cNvPr id="10" name="图片 9" descr="图片包含 桌子, 大, 水, 蓝色&#10;&#10;AI 生成的内容可能不正确。">
            <a:extLst>
              <a:ext uri="{FF2B5EF4-FFF2-40B4-BE49-F238E27FC236}">
                <a16:creationId xmlns:a16="http://schemas.microsoft.com/office/drawing/2014/main" id="{2E802E55-2101-BAF3-0CFB-79C8EB9C1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01" y="1051149"/>
            <a:ext cx="1651907" cy="1651907"/>
          </a:xfrm>
          <a:prstGeom prst="rect">
            <a:avLst/>
          </a:prstGeom>
        </p:spPr>
      </p:pic>
      <p:pic>
        <p:nvPicPr>
          <p:cNvPr id="14" name="图片 13" descr="图片包含 小, 盘子, 桌子, 蓝色&#10;&#10;AI 生成的内容可能不正确。">
            <a:extLst>
              <a:ext uri="{FF2B5EF4-FFF2-40B4-BE49-F238E27FC236}">
                <a16:creationId xmlns:a16="http://schemas.microsoft.com/office/drawing/2014/main" id="{17977557-00BC-22B7-59EE-4D1BED7D4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703" y="1051149"/>
            <a:ext cx="1651907" cy="1651907"/>
          </a:xfrm>
          <a:prstGeom prst="rect">
            <a:avLst/>
          </a:prstGeom>
        </p:spPr>
      </p:pic>
      <p:pic>
        <p:nvPicPr>
          <p:cNvPr id="16" name="图片 15" descr="在水里&#10;&#10;AI 生成的内容可能不正确。">
            <a:extLst>
              <a:ext uri="{FF2B5EF4-FFF2-40B4-BE49-F238E27FC236}">
                <a16:creationId xmlns:a16="http://schemas.microsoft.com/office/drawing/2014/main" id="{A111B8A1-255A-01A3-57E4-7F2A1F3CA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61" y="2998264"/>
            <a:ext cx="1651907" cy="1651907"/>
          </a:xfrm>
          <a:prstGeom prst="rect">
            <a:avLst/>
          </a:prstGeom>
        </p:spPr>
      </p:pic>
      <p:pic>
        <p:nvPicPr>
          <p:cNvPr id="18" name="图片 17" descr="图片包含 桌子, 食物, 蓝色, 盘子&#10;&#10;AI 生成的内容可能不正确。">
            <a:extLst>
              <a:ext uri="{FF2B5EF4-FFF2-40B4-BE49-F238E27FC236}">
                <a16:creationId xmlns:a16="http://schemas.microsoft.com/office/drawing/2014/main" id="{E64DC94C-AF89-A2B3-5EDB-694A3729F5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498" y="2998264"/>
            <a:ext cx="1651907" cy="1651907"/>
          </a:xfrm>
          <a:prstGeom prst="rect">
            <a:avLst/>
          </a:prstGeom>
        </p:spPr>
      </p:pic>
      <p:pic>
        <p:nvPicPr>
          <p:cNvPr id="20" name="图片 19" descr="图片包含 礁石, 桌子, 大, 蓝色&#10;&#10;AI 生成的内容可能不正确。">
            <a:extLst>
              <a:ext uri="{FF2B5EF4-FFF2-40B4-BE49-F238E27FC236}">
                <a16:creationId xmlns:a16="http://schemas.microsoft.com/office/drawing/2014/main" id="{02B83B69-63CC-74F2-2046-37F6FFD2B8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701" y="2998263"/>
            <a:ext cx="1651907" cy="1651907"/>
          </a:xfrm>
          <a:prstGeom prst="rect">
            <a:avLst/>
          </a:prstGeom>
        </p:spPr>
      </p:pic>
      <p:pic>
        <p:nvPicPr>
          <p:cNvPr id="22" name="图片 21" descr="蓝色的花&#10;&#10;AI 生成的内容可能不正确。">
            <a:extLst>
              <a:ext uri="{FF2B5EF4-FFF2-40B4-BE49-F238E27FC236}">
                <a16:creationId xmlns:a16="http://schemas.microsoft.com/office/drawing/2014/main" id="{6C48C2FE-EE6B-AE5B-B8D4-29145A70FF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61" y="4945379"/>
            <a:ext cx="1651907" cy="1651907"/>
          </a:xfrm>
          <a:prstGeom prst="rect">
            <a:avLst/>
          </a:prstGeom>
        </p:spPr>
      </p:pic>
      <p:pic>
        <p:nvPicPr>
          <p:cNvPr id="24" name="图片 23" descr="蓝色的花&#10;&#10;AI 生成的内容可能不正确。">
            <a:extLst>
              <a:ext uri="{FF2B5EF4-FFF2-40B4-BE49-F238E27FC236}">
                <a16:creationId xmlns:a16="http://schemas.microsoft.com/office/drawing/2014/main" id="{C02D1026-34CE-E3AD-88A3-2C8A3412CC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497" y="4945379"/>
            <a:ext cx="1651907" cy="1651907"/>
          </a:xfrm>
          <a:prstGeom prst="rect">
            <a:avLst/>
          </a:prstGeom>
        </p:spPr>
      </p:pic>
      <p:pic>
        <p:nvPicPr>
          <p:cNvPr id="26" name="图片 25" descr="蓝色的花&#10;&#10;AI 生成的内容可能不正确。">
            <a:extLst>
              <a:ext uri="{FF2B5EF4-FFF2-40B4-BE49-F238E27FC236}">
                <a16:creationId xmlns:a16="http://schemas.microsoft.com/office/drawing/2014/main" id="{DF9C01AB-81CE-FC4B-D5E5-9BAF9AB5E5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701" y="4928131"/>
            <a:ext cx="1651907" cy="165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BCCE-DA7C-8BF9-9B1D-5857329C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9D07C2-A297-E1B3-CBD8-A15F2D7E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3E0DD66E-A8A8-20C0-428C-99570176E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55" y="4587319"/>
            <a:ext cx="7104888" cy="1399032"/>
          </a:xfrm>
        </p:spPr>
        <p:txBody>
          <a:bodyPr/>
          <a:lstStyle/>
          <a:p>
            <a:r>
              <a:rPr lang="nl-NL" altLang="zh-CN" dirty="0"/>
              <a:t>Dataset </a:t>
            </a:r>
            <a:r>
              <a:rPr lang="nl-NL" altLang="zh-CN" dirty="0" err="1"/>
              <a:t>composition</a:t>
            </a:r>
            <a:r>
              <a:rPr lang="nl-NL" altLang="zh-CN" dirty="0"/>
              <a:t>:</a:t>
            </a:r>
          </a:p>
          <a:p>
            <a:r>
              <a:rPr lang="nl-NL" altLang="zh-CN" dirty="0" err="1"/>
              <a:t>From</a:t>
            </a:r>
            <a:r>
              <a:rPr lang="nl-NL" altLang="zh-CN" dirty="0"/>
              <a:t> 1 </a:t>
            </a:r>
            <a:r>
              <a:rPr lang="nl-NL" altLang="zh-CN" dirty="0" err="1"/>
              <a:t>rose</a:t>
            </a:r>
            <a:r>
              <a:rPr lang="nl-NL" altLang="zh-CN" dirty="0"/>
              <a:t> </a:t>
            </a:r>
            <a:r>
              <a:rPr lang="nl-NL" altLang="zh-CN" dirty="0" err="1"/>
              <a:t>to</a:t>
            </a:r>
            <a:r>
              <a:rPr lang="nl-NL" altLang="zh-CN" dirty="0"/>
              <a:t> 10 </a:t>
            </a:r>
            <a:r>
              <a:rPr lang="nl-NL" altLang="zh-CN" dirty="0" err="1"/>
              <a:t>roses</a:t>
            </a:r>
            <a:r>
              <a:rPr lang="nl-NL" altLang="zh-CN" dirty="0"/>
              <a:t>, 100 images in </a:t>
            </a:r>
            <a:r>
              <a:rPr lang="nl-NL" altLang="zh-CN" dirty="0" err="1"/>
              <a:t>total</a:t>
            </a:r>
            <a:endParaRPr lang="nl-NL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004D5DB-68F1-5BA1-6C75-665D4F434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22" y="981579"/>
            <a:ext cx="2907457" cy="288099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A7895D6-E400-D14B-0705-9AE121EC9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1" y="981579"/>
            <a:ext cx="2822020" cy="290901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18DFC65-19EB-F51C-802B-44DECC39B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1" y="981579"/>
            <a:ext cx="2935730" cy="290901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43074CF-5C0C-BAE7-4069-D96F59714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370" y="981579"/>
            <a:ext cx="2849141" cy="290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6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401A-8E65-082D-F767-F5F297E4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A6D4707-E2E6-CDD8-7FA8-CB1B3027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A0F844DC-728F-63D2-0EB8-2CE092821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1:</a:t>
            </a:r>
          </a:p>
          <a:p>
            <a:r>
              <a:rPr lang="nl-NL" dirty="0" err="1"/>
              <a:t>mmdetection</a:t>
            </a:r>
            <a:r>
              <a:rPr lang="nl-NL" dirty="0"/>
              <a:t>,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25 images, 12 </a:t>
            </a:r>
            <a:r>
              <a:rPr lang="nl-NL" dirty="0" err="1"/>
              <a:t>epochs</a:t>
            </a:r>
            <a:endParaRPr lang="nl-NL" dirty="0"/>
          </a:p>
        </p:txBody>
      </p:sp>
      <p:pic>
        <p:nvPicPr>
          <p:cNvPr id="3" name="图片 2" descr="图片包含 桌子, 挂, 灯光, 华美&#10;&#10;AI 生成的内容可能不正确。">
            <a:extLst>
              <a:ext uri="{FF2B5EF4-FFF2-40B4-BE49-F238E27FC236}">
                <a16:creationId xmlns:a16="http://schemas.microsoft.com/office/drawing/2014/main" id="{E98FCA69-5BD1-6309-8C80-0664D3200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5901"/>
            <a:ext cx="5935579" cy="59355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5694C71-F0AB-6979-6D3A-B5EB2BD55EA9}"/>
              </a:ext>
            </a:extLst>
          </p:cNvPr>
          <p:cNvSpPr txBox="1"/>
          <p:nvPr/>
        </p:nvSpPr>
        <p:spPr>
          <a:xfrm>
            <a:off x="357579" y="1010653"/>
            <a:ext cx="51576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tell</a:t>
            </a:r>
            <a:r>
              <a:rPr lang="nl-NL" sz="2400" dirty="0"/>
              <a:t> </a:t>
            </a:r>
            <a:r>
              <a:rPr lang="nl-NL" sz="2400" dirty="0" err="1"/>
              <a:t>two</a:t>
            </a:r>
            <a:r>
              <a:rPr lang="nl-NL" sz="2400" dirty="0"/>
              <a:t> classes: stem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blue background</a:t>
            </a:r>
          </a:p>
        </p:txBody>
      </p:sp>
    </p:spTree>
    <p:extLst>
      <p:ext uri="{BB962C8B-B14F-4D97-AF65-F5344CB8AC3E}">
        <p14:creationId xmlns:p14="http://schemas.microsoft.com/office/powerpoint/2010/main" val="317598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075C-E3F8-C514-88DA-A311EEFE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D80556F-FACC-8774-2C2C-8C7197E1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8D071F19-639D-A41B-18C2-E5F1D5256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2:</a:t>
            </a:r>
          </a:p>
          <a:p>
            <a:r>
              <a:rPr lang="nl-NL" dirty="0"/>
              <a:t>YOLOv8 +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35 images, 300 </a:t>
            </a:r>
            <a:r>
              <a:rPr lang="nl-NL" dirty="0" err="1"/>
              <a:t>epochs</a:t>
            </a:r>
            <a:endParaRPr lang="nl-NL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E3F86E-2064-C2D0-505C-2F80D0D5744F}"/>
              </a:ext>
            </a:extLst>
          </p:cNvPr>
          <p:cNvSpPr txBox="1"/>
          <p:nvPr/>
        </p:nvSpPr>
        <p:spPr>
          <a:xfrm>
            <a:off x="496784" y="458203"/>
            <a:ext cx="515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confidence</a:t>
            </a:r>
            <a:r>
              <a:rPr lang="nl-NL" sz="2400" dirty="0"/>
              <a:t> score!</a:t>
            </a:r>
          </a:p>
        </p:txBody>
      </p:sp>
      <p:pic>
        <p:nvPicPr>
          <p:cNvPr id="6" name="图片 5" descr="图片包含 地图&#10;&#10;AI 生成的内容可能不正确。">
            <a:extLst>
              <a:ext uri="{FF2B5EF4-FFF2-40B4-BE49-F238E27FC236}">
                <a16:creationId xmlns:a16="http://schemas.microsoft.com/office/drawing/2014/main" id="{457DB894-BB8C-7A46-C7CC-E67E04D7B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686" y="115904"/>
            <a:ext cx="6113586" cy="611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14F8-5FA2-7D0C-EEAE-15C9E5C2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318BAED2-4428-9247-7DDC-8135F5CA5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ED487816-ACD9-4B71-F476-193D009E5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2:</a:t>
            </a:r>
          </a:p>
          <a:p>
            <a:r>
              <a:rPr lang="nl-NL" dirty="0"/>
              <a:t>YOLOv8 +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35 images, 300 </a:t>
            </a:r>
            <a:r>
              <a:rPr lang="nl-NL" dirty="0" err="1"/>
              <a:t>epochs</a:t>
            </a:r>
            <a:endParaRPr lang="nl-NL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B62B0F-D236-1491-D435-6BAD33774F19}"/>
              </a:ext>
            </a:extLst>
          </p:cNvPr>
          <p:cNvSpPr txBox="1"/>
          <p:nvPr/>
        </p:nvSpPr>
        <p:spPr>
          <a:xfrm>
            <a:off x="496784" y="458203"/>
            <a:ext cx="515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confidence</a:t>
            </a:r>
            <a:r>
              <a:rPr lang="nl-NL" sz="2400" dirty="0"/>
              <a:t> score!</a:t>
            </a:r>
          </a:p>
        </p:txBody>
      </p:sp>
      <p:pic>
        <p:nvPicPr>
          <p:cNvPr id="3" name="图片 2" descr="图片包含 游戏机, 桌子&#10;&#10;AI 生成的内容可能不正确。">
            <a:extLst>
              <a:ext uri="{FF2B5EF4-FFF2-40B4-BE49-F238E27FC236}">
                <a16:creationId xmlns:a16="http://schemas.microsoft.com/office/drawing/2014/main" id="{107936B2-7CF4-B3D1-258A-F83802AE0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311" y="133349"/>
            <a:ext cx="59912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74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2B3E-97A3-8B9E-8FF3-FF7703D6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2B279AE-937A-F21A-2DF1-EF6F7902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886EC596-AF82-BD9F-5419-03CE9C77B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2:</a:t>
            </a:r>
          </a:p>
          <a:p>
            <a:r>
              <a:rPr lang="nl-NL" dirty="0"/>
              <a:t>YOLOv8 +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35 images, 300 </a:t>
            </a:r>
            <a:r>
              <a:rPr lang="nl-NL" dirty="0" err="1"/>
              <a:t>epochs</a:t>
            </a:r>
            <a:endParaRPr lang="nl-NL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2556F6-39FD-F0F9-0081-DCC95B116D48}"/>
              </a:ext>
            </a:extLst>
          </p:cNvPr>
          <p:cNvSpPr txBox="1"/>
          <p:nvPr/>
        </p:nvSpPr>
        <p:spPr>
          <a:xfrm>
            <a:off x="496784" y="458203"/>
            <a:ext cx="515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confidence</a:t>
            </a:r>
            <a:r>
              <a:rPr lang="nl-NL" sz="2400" dirty="0"/>
              <a:t> score!</a:t>
            </a:r>
          </a:p>
        </p:txBody>
      </p:sp>
      <p:pic>
        <p:nvPicPr>
          <p:cNvPr id="6" name="图片 5" descr="图片包含 游戏机, 房间, 钟表&#10;&#10;AI 生成的内容可能不正确。">
            <a:extLst>
              <a:ext uri="{FF2B5EF4-FFF2-40B4-BE49-F238E27FC236}">
                <a16:creationId xmlns:a16="http://schemas.microsoft.com/office/drawing/2014/main" id="{98807C8A-3344-5464-6AE2-C9C36A7A7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324" y="128366"/>
            <a:ext cx="5882048" cy="58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0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BF9A-D467-CB96-CC22-2C64172C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42A6326-D689-37E8-BAAB-07A7D89D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2D061994-59AC-15B5-A6F5-FA718BBB5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2:</a:t>
            </a:r>
          </a:p>
          <a:p>
            <a:r>
              <a:rPr lang="nl-NL" dirty="0"/>
              <a:t>YOLOv8 +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35 images, 300 </a:t>
            </a:r>
            <a:r>
              <a:rPr lang="nl-NL" dirty="0" err="1"/>
              <a:t>epochs</a:t>
            </a:r>
            <a:endParaRPr lang="nl-NL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4BF52C-5993-3880-E5E1-343CB23FE93D}"/>
              </a:ext>
            </a:extLst>
          </p:cNvPr>
          <p:cNvSpPr txBox="1"/>
          <p:nvPr/>
        </p:nvSpPr>
        <p:spPr>
          <a:xfrm>
            <a:off x="496784" y="458203"/>
            <a:ext cx="515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confidence</a:t>
            </a:r>
            <a:r>
              <a:rPr lang="nl-NL" sz="2400" dirty="0"/>
              <a:t> score!</a:t>
            </a:r>
          </a:p>
        </p:txBody>
      </p:sp>
      <p:pic>
        <p:nvPicPr>
          <p:cNvPr id="3" name="图片 2" descr="图片包含 游戏机&#10;&#10;AI 生成的内容可能不正确。">
            <a:extLst>
              <a:ext uri="{FF2B5EF4-FFF2-40B4-BE49-F238E27FC236}">
                <a16:creationId xmlns:a16="http://schemas.microsoft.com/office/drawing/2014/main" id="{5B8B0D50-78F7-1FC6-3792-941F54704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50" y="85724"/>
            <a:ext cx="61626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3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BB2C-F910-B5EC-4166-D1B59848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2481B147-9EAD-55D8-D301-C7CD5FF9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DE58B5CB-EAF9-52DA-C14A-0BC3E88F3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2:</a:t>
            </a:r>
          </a:p>
          <a:p>
            <a:r>
              <a:rPr lang="nl-NL" dirty="0"/>
              <a:t>YOLOv8 +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35 images, 300 </a:t>
            </a:r>
            <a:r>
              <a:rPr lang="nl-NL" dirty="0" err="1"/>
              <a:t>epochs</a:t>
            </a:r>
            <a:endParaRPr lang="nl-NL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17BE4A-6EDF-A6FB-BD7D-2369A0935FC7}"/>
              </a:ext>
            </a:extLst>
          </p:cNvPr>
          <p:cNvSpPr txBox="1"/>
          <p:nvPr/>
        </p:nvSpPr>
        <p:spPr>
          <a:xfrm>
            <a:off x="496784" y="458203"/>
            <a:ext cx="515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confidence</a:t>
            </a:r>
            <a:r>
              <a:rPr lang="nl-NL" sz="2400" dirty="0"/>
              <a:t> score!</a:t>
            </a:r>
          </a:p>
        </p:txBody>
      </p:sp>
      <p:pic>
        <p:nvPicPr>
          <p:cNvPr id="6" name="图片 5" descr="图片包含 游戏机, 桌子&#10;&#10;AI 生成的内容可能不正确。">
            <a:extLst>
              <a:ext uri="{FF2B5EF4-FFF2-40B4-BE49-F238E27FC236}">
                <a16:creationId xmlns:a16="http://schemas.microsoft.com/office/drawing/2014/main" id="{C848CF24-D8A0-BD4B-0266-9A77B0E6C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231" y="91880"/>
            <a:ext cx="6118419" cy="6118419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1433C394-B669-74C5-0383-DE1BFE218A21}"/>
              </a:ext>
            </a:extLst>
          </p:cNvPr>
          <p:cNvSpPr/>
          <p:nvPr/>
        </p:nvSpPr>
        <p:spPr>
          <a:xfrm>
            <a:off x="3819525" y="2886075"/>
            <a:ext cx="2571750" cy="1323975"/>
          </a:xfrm>
          <a:prstGeom prst="wedgeRoundRectCallout">
            <a:avLst>
              <a:gd name="adj1" fmla="val 60095"/>
              <a:gd name="adj2" fmla="val -54766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solidFill>
                  <a:srgbClr val="FF0000"/>
                </a:solidFill>
              </a:rPr>
              <a:t>Somtimes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unable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to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detect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the</a:t>
            </a:r>
            <a:r>
              <a:rPr lang="nl-NL" sz="2000" dirty="0">
                <a:solidFill>
                  <a:srgbClr val="FF0000"/>
                </a:solidFill>
              </a:rPr>
              <a:t> long stem segment</a:t>
            </a:r>
          </a:p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162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5194-B4E9-727A-3CD1-57A3EFE7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4951798-1849-CD74-6748-11913CC4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B8B21498-9924-33D4-9687-B57A5F052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79" y="4611382"/>
            <a:ext cx="7104888" cy="1399032"/>
          </a:xfrm>
        </p:spPr>
        <p:txBody>
          <a:bodyPr>
            <a:normAutofit fontScale="92500" lnSpcReduction="20000"/>
          </a:bodyPr>
          <a:lstStyle/>
          <a:p>
            <a:r>
              <a:rPr lang="nl-NL" altLang="zh-CN" dirty="0"/>
              <a:t>Test 2:</a:t>
            </a:r>
          </a:p>
          <a:p>
            <a:r>
              <a:rPr lang="nl-NL" dirty="0"/>
              <a:t>YOLOv8 + </a:t>
            </a:r>
            <a:r>
              <a:rPr lang="nl-NL" dirty="0" err="1"/>
              <a:t>Mask</a:t>
            </a:r>
            <a:r>
              <a:rPr lang="nl-NL" dirty="0"/>
              <a:t>-RCNN</a:t>
            </a:r>
          </a:p>
          <a:p>
            <a:r>
              <a:rPr lang="nl-NL" dirty="0"/>
              <a:t>35 images, 300 </a:t>
            </a:r>
            <a:r>
              <a:rPr lang="nl-NL" dirty="0" err="1"/>
              <a:t>epochs</a:t>
            </a:r>
            <a:endParaRPr lang="nl-NL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8610C4-00ED-8AEE-9298-4FAF9D27A88A}"/>
              </a:ext>
            </a:extLst>
          </p:cNvPr>
          <p:cNvSpPr txBox="1"/>
          <p:nvPr/>
        </p:nvSpPr>
        <p:spPr>
          <a:xfrm>
            <a:off x="496784" y="458203"/>
            <a:ext cx="515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segment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flowers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confidence</a:t>
            </a:r>
            <a:r>
              <a:rPr lang="nl-NL" sz="2400" dirty="0"/>
              <a:t> score!</a:t>
            </a:r>
          </a:p>
        </p:txBody>
      </p:sp>
      <p:pic>
        <p:nvPicPr>
          <p:cNvPr id="6" name="图片 5" descr="图片包含 游戏机, 桌子, 房间, 水&#10;&#10;AI 生成的内容可能不正确。">
            <a:extLst>
              <a:ext uri="{FF2B5EF4-FFF2-40B4-BE49-F238E27FC236}">
                <a16:creationId xmlns:a16="http://schemas.microsoft.com/office/drawing/2014/main" id="{468BCB3B-559B-AC11-5D32-73D3910E9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60" y="67556"/>
            <a:ext cx="6170315" cy="6170315"/>
          </a:xfrm>
          <a:prstGeom prst="rect">
            <a:avLst/>
          </a:prstGeom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CBB79744-B143-592D-33EE-80A418BD45C1}"/>
              </a:ext>
            </a:extLst>
          </p:cNvPr>
          <p:cNvSpPr/>
          <p:nvPr/>
        </p:nvSpPr>
        <p:spPr>
          <a:xfrm>
            <a:off x="4611985" y="2876550"/>
            <a:ext cx="2571750" cy="1323975"/>
          </a:xfrm>
          <a:prstGeom prst="wedgeRoundRectCallout">
            <a:avLst>
              <a:gd name="adj1" fmla="val 107502"/>
              <a:gd name="adj2" fmla="val -16637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solidFill>
                  <a:srgbClr val="FF0000"/>
                </a:solidFill>
              </a:rPr>
              <a:t>Somtimes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unable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to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detect</a:t>
            </a:r>
            <a:r>
              <a:rPr lang="nl-NL" sz="2000" dirty="0">
                <a:solidFill>
                  <a:srgbClr val="FF0000"/>
                </a:solidFill>
              </a:rPr>
              <a:t> </a:t>
            </a:r>
            <a:r>
              <a:rPr lang="nl-NL" sz="2000" dirty="0" err="1">
                <a:solidFill>
                  <a:srgbClr val="FF0000"/>
                </a:solidFill>
              </a:rPr>
              <a:t>the</a:t>
            </a:r>
            <a:r>
              <a:rPr lang="nl-NL" sz="2000" dirty="0">
                <a:solidFill>
                  <a:srgbClr val="FF0000"/>
                </a:solidFill>
              </a:rPr>
              <a:t> long stem segment</a:t>
            </a:r>
          </a:p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6934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r>
              <a:rPr lang="nl-NL" sz="2800" dirty="0"/>
              <a:t>(1) </a:t>
            </a:r>
            <a:r>
              <a:rPr lang="nl-NL" sz="2800" dirty="0" err="1"/>
              <a:t>Enlarge</a:t>
            </a:r>
            <a:r>
              <a:rPr lang="nl-NL" sz="2800" dirty="0"/>
              <a:t> </a:t>
            </a:r>
            <a:r>
              <a:rPr lang="nl-NL" sz="2800" dirty="0" err="1"/>
              <a:t>the</a:t>
            </a:r>
            <a:r>
              <a:rPr lang="nl-NL" sz="2800" dirty="0"/>
              <a:t> dataset</a:t>
            </a:r>
          </a:p>
          <a:p>
            <a:r>
              <a:rPr lang="nl-NL" sz="2800" dirty="0"/>
              <a:t>(2) </a:t>
            </a:r>
            <a:r>
              <a:rPr lang="nl-NL" sz="2800" dirty="0" err="1"/>
              <a:t>Compare</a:t>
            </a:r>
            <a:r>
              <a:rPr lang="nl-NL" sz="2800" dirty="0"/>
              <a:t> </a:t>
            </a:r>
            <a:r>
              <a:rPr lang="nl-NL" sz="2800" dirty="0" err="1"/>
              <a:t>the</a:t>
            </a:r>
            <a:r>
              <a:rPr lang="nl-NL" sz="2800" dirty="0"/>
              <a:t> model performance </a:t>
            </a:r>
            <a:r>
              <a:rPr lang="nl-NL" sz="2800" dirty="0" err="1"/>
              <a:t>between</a:t>
            </a:r>
            <a:r>
              <a:rPr lang="nl-NL" sz="2800" dirty="0"/>
              <a:t> YOLO </a:t>
            </a:r>
            <a:r>
              <a:rPr lang="nl-NL" sz="2800" dirty="0" err="1"/>
              <a:t>and</a:t>
            </a:r>
            <a:r>
              <a:rPr lang="nl-NL" sz="2800" dirty="0"/>
              <a:t> </a:t>
            </a:r>
            <a:r>
              <a:rPr lang="nl-NL" sz="2800" dirty="0" err="1"/>
              <a:t>Mmdetection</a:t>
            </a:r>
            <a:endParaRPr lang="nl-NL" sz="2800" dirty="0"/>
          </a:p>
          <a:p>
            <a:r>
              <a:rPr lang="nl-NL" sz="2800" dirty="0"/>
              <a:t>(3) Move </a:t>
            </a:r>
            <a:r>
              <a:rPr lang="nl-NL" sz="2800" dirty="0" err="1"/>
              <a:t>to</a:t>
            </a:r>
            <a:r>
              <a:rPr lang="nl-NL" sz="2800" dirty="0"/>
              <a:t> next </a:t>
            </a:r>
            <a:r>
              <a:rPr lang="nl-NL" sz="2800" dirty="0" err="1"/>
              <a:t>phase</a:t>
            </a:r>
            <a:r>
              <a:rPr lang="nl-NL" sz="2800" dirty="0"/>
              <a:t>: Anchor </a:t>
            </a:r>
            <a:r>
              <a:rPr lang="nl-NL" sz="2800" dirty="0" err="1"/>
              <a:t>and</a:t>
            </a:r>
            <a:r>
              <a:rPr lang="nl-NL" sz="2800" dirty="0"/>
              <a:t> Stem line </a:t>
            </a:r>
            <a:r>
              <a:rPr lang="nl-NL" sz="2800" dirty="0" err="1"/>
              <a:t>proposal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253</Words>
  <Application>Microsoft Office PowerPoint</Application>
  <PresentationFormat>宽屏</PresentationFormat>
  <Paragraphs>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Bierstadt</vt:lpstr>
      <vt:lpstr>Neue Haas Grotesk Text Pro</vt:lpstr>
      <vt:lpstr>GestaltVTI</vt:lpstr>
      <vt:lpstr>Annotaion  and Model Training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3</cp:revision>
  <dcterms:created xsi:type="dcterms:W3CDTF">2025-09-24T08:15:25Z</dcterms:created>
  <dcterms:modified xsi:type="dcterms:W3CDTF">2025-09-24T09:55:13Z</dcterms:modified>
</cp:coreProperties>
</file>