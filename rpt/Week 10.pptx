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79" r:id="rId3"/>
    <p:sldId id="280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968093" y="-10"/>
            <a:ext cx="622388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2985" y="1444010"/>
            <a:ext cx="6649433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altLang="zh-CN" sz="4400" dirty="0">
                <a:solidFill>
                  <a:schemeClr val="bg1"/>
                </a:solidFill>
              </a:rPr>
              <a:t>Optimization3 of </a:t>
            </a:r>
            <a:r>
              <a:rPr lang="nl-NL" sz="4400" dirty="0">
                <a:solidFill>
                  <a:schemeClr val="bg1"/>
                </a:solidFill>
              </a:rPr>
              <a:t>Stem </a:t>
            </a:r>
            <a:r>
              <a:rPr lang="nl-NL" sz="4400" dirty="0" err="1">
                <a:solidFill>
                  <a:schemeClr val="bg1"/>
                </a:solidFill>
              </a:rPr>
              <a:t>Pa</a:t>
            </a:r>
            <a:r>
              <a:rPr lang="nl-NL" altLang="zh-CN" sz="4400" dirty="0" err="1">
                <a:solidFill>
                  <a:schemeClr val="bg1"/>
                </a:solidFill>
              </a:rPr>
              <a:t>i</a:t>
            </a:r>
            <a:r>
              <a:rPr lang="nl-NL" sz="4400" dirty="0" err="1">
                <a:solidFill>
                  <a:schemeClr val="bg1"/>
                </a:solidFill>
              </a:rPr>
              <a:t>ring</a:t>
            </a:r>
            <a:endParaRPr lang="nl-NL" sz="44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10 Hua Jiang</a:t>
            </a:r>
          </a:p>
        </p:txBody>
      </p:sp>
      <p:pic>
        <p:nvPicPr>
          <p:cNvPr id="8" name="图片 7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A00BF404-D0B4-323B-9B0F-EB152E1AF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4" y="978152"/>
            <a:ext cx="5559064" cy="555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624B-7869-A8F7-73D4-CBBC4E73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78AF324-6C44-CDF3-A9CC-85C5A9B54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C4D4444C-26FE-8C04-0C04-2FAC745B2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3" y="63609"/>
            <a:ext cx="12207059" cy="523991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endParaRPr lang="nl-NL" altLang="zh-CN" dirty="0"/>
          </a:p>
          <a:p>
            <a:r>
              <a:rPr lang="nl-NL" altLang="zh-CN" sz="2800" dirty="0"/>
              <a:t>Three </a:t>
            </a:r>
            <a:r>
              <a:rPr lang="nl-NL" altLang="zh-CN" sz="2800" dirty="0" err="1"/>
              <a:t>main</a:t>
            </a:r>
            <a:r>
              <a:rPr lang="nl-NL" altLang="zh-CN" sz="2800" dirty="0"/>
              <a:t> </a:t>
            </a:r>
            <a:r>
              <a:rPr lang="nl-NL" altLang="zh-CN" sz="2800" dirty="0" err="1"/>
              <a:t>flaws</a:t>
            </a:r>
            <a:r>
              <a:rPr lang="nl-NL" altLang="zh-CN" sz="2800" dirty="0"/>
              <a:t> of </a:t>
            </a:r>
            <a:r>
              <a:rPr lang="nl-NL" altLang="zh-CN" sz="2800" dirty="0" err="1"/>
              <a:t>the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algorithm</a:t>
            </a:r>
            <a:r>
              <a:rPr lang="nl-NL" altLang="zh-CN" sz="2800" dirty="0"/>
              <a:t>:</a:t>
            </a:r>
          </a:p>
          <a:p>
            <a:endParaRPr lang="nl-NL" altLang="zh-CN" sz="2800" dirty="0"/>
          </a:p>
          <a:p>
            <a:pPr marL="457200" indent="-457200">
              <a:buAutoNum type="arabicPeriod"/>
            </a:pPr>
            <a:r>
              <a:rPr lang="nl-NL" altLang="zh-CN" dirty="0" err="1"/>
              <a:t>Crossroad</a:t>
            </a:r>
            <a:r>
              <a:rPr lang="nl-NL" altLang="zh-CN" dirty="0"/>
              <a:t> </a:t>
            </a:r>
            <a:r>
              <a:rPr lang="nl-NL" altLang="zh-CN" dirty="0" err="1"/>
              <a:t>Problem</a:t>
            </a:r>
            <a:endParaRPr lang="nl-NL" altLang="zh-CN" dirty="0"/>
          </a:p>
          <a:p>
            <a:pPr marL="457200" indent="-457200">
              <a:buAutoNum type="arabicPeriod"/>
            </a:pPr>
            <a:endParaRPr lang="nl-NL" altLang="zh-CN" dirty="0"/>
          </a:p>
          <a:p>
            <a:r>
              <a:rPr lang="nl-NL" dirty="0"/>
              <a:t>2. The </a:t>
            </a:r>
            <a:r>
              <a:rPr lang="nl-NL" dirty="0" err="1"/>
              <a:t>Triangle</a:t>
            </a:r>
            <a:r>
              <a:rPr lang="nl-NL" dirty="0"/>
              <a:t> </a:t>
            </a:r>
            <a:r>
              <a:rPr lang="nl-NL" dirty="0" err="1"/>
              <a:t>Problem</a:t>
            </a:r>
            <a:endParaRPr lang="nl-NL" dirty="0"/>
          </a:p>
          <a:p>
            <a:endParaRPr lang="nl-NL" dirty="0"/>
          </a:p>
          <a:p>
            <a:r>
              <a:rPr lang="nl-NL" dirty="0"/>
              <a:t>3. The </a:t>
            </a:r>
            <a:r>
              <a:rPr lang="nl-NL" dirty="0" err="1"/>
              <a:t>Problem</a:t>
            </a:r>
            <a:r>
              <a:rPr lang="nl-NL" dirty="0"/>
              <a:t> of Skipping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7252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7CF9-EF1D-332F-2962-93C02340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127249A2-B63C-963C-CC72-DFE24745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12EE759-BD15-6F80-5E9E-8F85AA59B5C5}"/>
              </a:ext>
            </a:extLst>
          </p:cNvPr>
          <p:cNvSpPr txBox="1"/>
          <p:nvPr/>
        </p:nvSpPr>
        <p:spPr>
          <a:xfrm>
            <a:off x="-1" y="64625"/>
            <a:ext cx="40539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nl-NL" altLang="zh-CN" sz="2800" dirty="0" err="1"/>
              <a:t>Crossroad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Problem</a:t>
            </a:r>
            <a:endParaRPr lang="nl-NL" altLang="zh-CN" sz="2800" dirty="0"/>
          </a:p>
          <a:p>
            <a:endParaRPr lang="nl-NL" altLang="zh-CN" sz="2800" dirty="0"/>
          </a:p>
          <a:p>
            <a:r>
              <a:rPr lang="nl-NL" altLang="zh-CN" sz="2400" dirty="0" err="1"/>
              <a:t>When</a:t>
            </a:r>
            <a:r>
              <a:rPr lang="nl-NL" altLang="zh-CN" sz="2400" dirty="0"/>
              <a:t> a stem is at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center of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crossroad</a:t>
            </a:r>
            <a:r>
              <a:rPr lang="nl-NL" altLang="zh-CN" sz="2400" dirty="0"/>
              <a:t>, </a:t>
            </a:r>
            <a:r>
              <a:rPr lang="nl-NL" altLang="zh-CN" sz="2400" dirty="0" err="1"/>
              <a:t>it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will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be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best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for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all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roads</a:t>
            </a:r>
            <a:r>
              <a:rPr lang="nl-NL" altLang="zh-CN" sz="2400" dirty="0"/>
              <a:t> (</a:t>
            </a:r>
            <a:r>
              <a:rPr lang="nl-NL" altLang="zh-CN" sz="2400" dirty="0" err="1"/>
              <a:t>other</a:t>
            </a:r>
            <a:r>
              <a:rPr lang="nl-NL" altLang="zh-CN" sz="2400" dirty="0"/>
              <a:t> </a:t>
            </a:r>
            <a:r>
              <a:rPr lang="nl-NL" altLang="zh-CN" sz="2400" dirty="0" err="1"/>
              <a:t>stems</a:t>
            </a:r>
            <a:r>
              <a:rPr lang="nl-NL" altLang="zh-CN" sz="2400" dirty="0"/>
              <a:t>). </a:t>
            </a:r>
            <a:r>
              <a:rPr lang="nl-NL" altLang="zh-CN" sz="2400" dirty="0" err="1"/>
              <a:t>Who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it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picks</a:t>
            </a:r>
            <a:r>
              <a:rPr lang="nl-NL" altLang="zh-CN" sz="2400" dirty="0"/>
              <a:t> is </a:t>
            </a:r>
            <a:r>
              <a:rPr lang="nl-NL" altLang="zh-CN" sz="2400" dirty="0" err="1"/>
              <a:t>deterministic</a:t>
            </a:r>
            <a:r>
              <a:rPr lang="nl-NL" altLang="zh-CN" sz="2400" dirty="0"/>
              <a:t>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19BABA4-4D96-DDCF-898B-BA3002189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47" y="366583"/>
            <a:ext cx="3646201" cy="49646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2492303-03A1-467F-D6E0-895D52BEE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909" y="366583"/>
            <a:ext cx="3940530" cy="4866447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8864B8B-EEB0-1D95-1D94-8F27EA017CDD}"/>
              </a:ext>
            </a:extLst>
          </p:cNvPr>
          <p:cNvCxnSpPr>
            <a:cxnSpLocks/>
          </p:cNvCxnSpPr>
          <p:nvPr/>
        </p:nvCxnSpPr>
        <p:spPr>
          <a:xfrm flipV="1">
            <a:off x="10072570" y="1895693"/>
            <a:ext cx="626829" cy="71893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9F8411C-2A20-8971-2944-A9EAFCDD6A16}"/>
              </a:ext>
            </a:extLst>
          </p:cNvPr>
          <p:cNvCxnSpPr/>
          <p:nvPr/>
        </p:nvCxnSpPr>
        <p:spPr>
          <a:xfrm flipH="1">
            <a:off x="9698859" y="2581513"/>
            <a:ext cx="373711" cy="146304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7F68169-2364-0E6D-2919-778012B3256F}"/>
              </a:ext>
            </a:extLst>
          </p:cNvPr>
          <p:cNvCxnSpPr/>
          <p:nvPr/>
        </p:nvCxnSpPr>
        <p:spPr>
          <a:xfrm flipH="1">
            <a:off x="9723646" y="714510"/>
            <a:ext cx="899557" cy="420624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638FCE24-8C60-2E6D-6D8C-8E47433BE712}"/>
              </a:ext>
            </a:extLst>
          </p:cNvPr>
          <p:cNvSpPr/>
          <p:nvPr/>
        </p:nvSpPr>
        <p:spPr>
          <a:xfrm>
            <a:off x="6349712" y="3567457"/>
            <a:ext cx="1399823" cy="1014695"/>
          </a:xfrm>
          <a:prstGeom prst="wedgeRoundRectCallout">
            <a:avLst>
              <a:gd name="adj1" fmla="val -99094"/>
              <a:gd name="adj2" fmla="val -417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Lower</a:t>
            </a:r>
            <a:r>
              <a:rPr lang="nl-NL" dirty="0"/>
              <a:t> best </a:t>
            </a:r>
            <a:r>
              <a:rPr lang="nl-NL" dirty="0" err="1"/>
              <a:t>candidate</a:t>
            </a:r>
            <a:endParaRPr lang="nl-NL" dirty="0"/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32A9CBF4-36AD-D75B-EF77-212AD2E67567}"/>
              </a:ext>
            </a:extLst>
          </p:cNvPr>
          <p:cNvSpPr/>
          <p:nvPr/>
        </p:nvSpPr>
        <p:spPr>
          <a:xfrm>
            <a:off x="4409666" y="1225167"/>
            <a:ext cx="1399823" cy="1014695"/>
          </a:xfrm>
          <a:prstGeom prst="wedgeRoundRectCallout">
            <a:avLst>
              <a:gd name="adj1" fmla="val 86082"/>
              <a:gd name="adj2" fmla="val 4209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Upper</a:t>
            </a:r>
            <a:r>
              <a:rPr lang="nl-NL" dirty="0"/>
              <a:t> best </a:t>
            </a:r>
            <a:r>
              <a:rPr lang="nl-NL" dirty="0" err="1"/>
              <a:t>candidate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999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0D9F-810C-DB52-409C-B2684F78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121ED34-4252-4F22-E1B8-EF41E6E90A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C43CF7B-A607-BC15-F2EE-C7558934DECC}"/>
              </a:ext>
            </a:extLst>
          </p:cNvPr>
          <p:cNvSpPr txBox="1"/>
          <p:nvPr/>
        </p:nvSpPr>
        <p:spPr>
          <a:xfrm>
            <a:off x="-1" y="64625"/>
            <a:ext cx="462373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nl-NL" altLang="zh-CN" sz="2800" dirty="0" err="1"/>
              <a:t>Crossroad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Problem</a:t>
            </a:r>
            <a:endParaRPr lang="nl-NL" altLang="zh-CN" sz="2800" dirty="0"/>
          </a:p>
          <a:p>
            <a:endParaRPr lang="nl-NL" altLang="zh-CN" sz="2800" dirty="0"/>
          </a:p>
          <a:p>
            <a:r>
              <a:rPr lang="nl-NL" altLang="zh-CN" sz="2400" dirty="0"/>
              <a:t>Solution: </a:t>
            </a:r>
          </a:p>
          <a:p>
            <a:r>
              <a:rPr lang="nl-NL" altLang="zh-CN" sz="2400" dirty="0" err="1"/>
              <a:t>Consistency</a:t>
            </a:r>
            <a:r>
              <a:rPr lang="nl-NL" altLang="zh-CN" sz="2400" dirty="0"/>
              <a:t> </a:t>
            </a:r>
            <a:r>
              <a:rPr lang="nl-NL" altLang="zh-CN" sz="2400" dirty="0" err="1"/>
              <a:t>Identification</a:t>
            </a: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/>
              <a:t>- For a stem </a:t>
            </a:r>
            <a:r>
              <a:rPr lang="nl-NL" altLang="zh-CN" sz="2400" dirty="0" err="1"/>
              <a:t>both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paired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with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best </a:t>
            </a:r>
            <a:r>
              <a:rPr lang="nl-NL" altLang="zh-CN" sz="2400" dirty="0" err="1"/>
              <a:t>upper</a:t>
            </a:r>
            <a:r>
              <a:rPr lang="nl-NL" altLang="zh-CN" sz="2400" dirty="0"/>
              <a:t>/</a:t>
            </a:r>
            <a:r>
              <a:rPr lang="nl-NL" altLang="zh-CN" sz="2400" dirty="0" err="1"/>
              <a:t>lower</a:t>
            </a:r>
            <a:r>
              <a:rPr lang="nl-NL" altLang="zh-CN" sz="2400" dirty="0"/>
              <a:t>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. Check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orientation</a:t>
            </a:r>
            <a:r>
              <a:rPr lang="nl-NL" altLang="zh-CN" sz="2400" dirty="0"/>
              <a:t> of </a:t>
            </a:r>
            <a:r>
              <a:rPr lang="nl-NL" altLang="zh-CN" sz="2400" dirty="0" err="1"/>
              <a:t>two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paterners</a:t>
            </a:r>
            <a:r>
              <a:rPr lang="nl-NL" altLang="zh-CN" sz="2400" dirty="0"/>
              <a:t>. The error </a:t>
            </a:r>
            <a:r>
              <a:rPr lang="nl-NL" altLang="zh-CN" sz="2400" dirty="0" err="1"/>
              <a:t>shall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not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be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larger</a:t>
            </a:r>
            <a:r>
              <a:rPr lang="nl-NL" altLang="zh-CN" sz="2400" dirty="0"/>
              <a:t> 20 </a:t>
            </a:r>
            <a:r>
              <a:rPr lang="nl-NL" altLang="zh-CN" sz="2400" dirty="0" err="1"/>
              <a:t>degree</a:t>
            </a:r>
            <a:r>
              <a:rPr lang="nl-NL" altLang="zh-CN" sz="2400" dirty="0"/>
              <a:t>, </a:t>
            </a:r>
            <a:r>
              <a:rPr lang="nl-NL" altLang="zh-CN" sz="2400" dirty="0" err="1"/>
              <a:t>otherwise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remove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with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relative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higher</a:t>
            </a:r>
            <a:r>
              <a:rPr lang="nl-NL" altLang="zh-CN" sz="2400" dirty="0"/>
              <a:t> score.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348E0E-F3FD-8EF3-7DA5-00FFBA4B7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540" y="366583"/>
            <a:ext cx="3646201" cy="4964600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9FDB218-8D8E-AF68-260A-5E91284A89DF}"/>
              </a:ext>
            </a:extLst>
          </p:cNvPr>
          <p:cNvCxnSpPr>
            <a:cxnSpLocks/>
          </p:cNvCxnSpPr>
          <p:nvPr/>
        </p:nvCxnSpPr>
        <p:spPr>
          <a:xfrm flipV="1">
            <a:off x="10246179" y="1619085"/>
            <a:ext cx="1157423" cy="1395657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A17D740-C606-97B7-379C-3F5647CA556E}"/>
              </a:ext>
            </a:extLst>
          </p:cNvPr>
          <p:cNvCxnSpPr>
            <a:cxnSpLocks/>
          </p:cNvCxnSpPr>
          <p:nvPr/>
        </p:nvCxnSpPr>
        <p:spPr>
          <a:xfrm flipV="1">
            <a:off x="9971896" y="1407483"/>
            <a:ext cx="719158" cy="273181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3BDD78E7-914A-9E6A-EE47-C610EF693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679" y="464736"/>
            <a:ext cx="3940530" cy="4866447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A1A696B9-86A2-8524-D0BD-DEAA51E1460E}"/>
              </a:ext>
            </a:extLst>
          </p:cNvPr>
          <p:cNvSpPr/>
          <p:nvPr/>
        </p:nvSpPr>
        <p:spPr>
          <a:xfrm>
            <a:off x="4811861" y="1323320"/>
            <a:ext cx="1399823" cy="1014695"/>
          </a:xfrm>
          <a:prstGeom prst="wedgeRoundRectCallout">
            <a:avLst>
              <a:gd name="adj1" fmla="val 86082"/>
              <a:gd name="adj2" fmla="val 4209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Removed</a:t>
            </a:r>
            <a:r>
              <a:rPr lang="nl-NL" dirty="0"/>
              <a:t> </a:t>
            </a:r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980B1863-BE0C-4B3D-94B1-4C62A8032EDA}"/>
              </a:ext>
            </a:extLst>
          </p:cNvPr>
          <p:cNvSpPr/>
          <p:nvPr/>
        </p:nvSpPr>
        <p:spPr>
          <a:xfrm rot="861653">
            <a:off x="10217842" y="2395240"/>
            <a:ext cx="471083" cy="76508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D8CEB8DD-7BEC-1FEC-2DBB-0C0D6861415B}"/>
              </a:ext>
            </a:extLst>
          </p:cNvPr>
          <p:cNvSpPr/>
          <p:nvPr/>
        </p:nvSpPr>
        <p:spPr>
          <a:xfrm>
            <a:off x="8755694" y="1302218"/>
            <a:ext cx="1399823" cy="1014695"/>
          </a:xfrm>
          <a:prstGeom prst="wedgeRoundRectCallout">
            <a:avLst>
              <a:gd name="adj1" fmla="val 86082"/>
              <a:gd name="adj2" fmla="val 4209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Larger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20 </a:t>
            </a:r>
            <a:r>
              <a:rPr lang="nl-NL" dirty="0" err="1"/>
              <a:t>degree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11232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9D592-762E-F334-1233-7BA1C941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85879393-55CA-5977-76E6-52F99C03D3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C0237EA-F6C8-F702-61F2-0A8B9B8212D8}"/>
              </a:ext>
            </a:extLst>
          </p:cNvPr>
          <p:cNvSpPr txBox="1"/>
          <p:nvPr/>
        </p:nvSpPr>
        <p:spPr>
          <a:xfrm>
            <a:off x="-1" y="64625"/>
            <a:ext cx="462373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nl-NL" altLang="zh-CN" sz="2800" dirty="0" err="1"/>
              <a:t>Crossroad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Problem</a:t>
            </a:r>
            <a:endParaRPr lang="nl-NL" altLang="zh-CN" sz="2800" dirty="0"/>
          </a:p>
          <a:p>
            <a:endParaRPr lang="nl-NL" altLang="zh-CN" sz="2800" dirty="0"/>
          </a:p>
          <a:p>
            <a:r>
              <a:rPr lang="nl-NL" altLang="zh-CN" sz="2400" dirty="0"/>
              <a:t>Solution: </a:t>
            </a:r>
          </a:p>
          <a:p>
            <a:r>
              <a:rPr lang="nl-NL" altLang="zh-CN" sz="2400" dirty="0" err="1"/>
              <a:t>Consistency</a:t>
            </a:r>
            <a:r>
              <a:rPr lang="nl-NL" altLang="zh-CN" sz="2400" dirty="0"/>
              <a:t> </a:t>
            </a:r>
            <a:r>
              <a:rPr lang="nl-NL" altLang="zh-CN" sz="2400" dirty="0" err="1"/>
              <a:t>Identification</a:t>
            </a: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/>
              <a:t>- For a stem </a:t>
            </a:r>
            <a:r>
              <a:rPr lang="nl-NL" altLang="zh-CN" sz="2400" dirty="0" err="1"/>
              <a:t>both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paired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with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best </a:t>
            </a:r>
            <a:r>
              <a:rPr lang="nl-NL" altLang="zh-CN" sz="2400" dirty="0" err="1"/>
              <a:t>upper</a:t>
            </a:r>
            <a:r>
              <a:rPr lang="nl-NL" altLang="zh-CN" sz="2400" dirty="0"/>
              <a:t>/</a:t>
            </a:r>
            <a:r>
              <a:rPr lang="nl-NL" altLang="zh-CN" sz="2400" dirty="0" err="1"/>
              <a:t>lower</a:t>
            </a:r>
            <a:r>
              <a:rPr lang="nl-NL" altLang="zh-CN" sz="2400" dirty="0"/>
              <a:t>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. Check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orientation</a:t>
            </a:r>
            <a:r>
              <a:rPr lang="nl-NL" altLang="zh-CN" sz="2400" dirty="0"/>
              <a:t> of </a:t>
            </a:r>
            <a:r>
              <a:rPr lang="nl-NL" altLang="zh-CN" sz="2400" dirty="0" err="1"/>
              <a:t>two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paterners</a:t>
            </a:r>
            <a:r>
              <a:rPr lang="nl-NL" altLang="zh-CN" sz="2400" dirty="0"/>
              <a:t>. The error </a:t>
            </a:r>
            <a:r>
              <a:rPr lang="nl-NL" altLang="zh-CN" sz="2400" dirty="0" err="1"/>
              <a:t>shall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not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be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larger</a:t>
            </a:r>
            <a:r>
              <a:rPr lang="nl-NL" altLang="zh-CN" sz="2400" dirty="0"/>
              <a:t> 20 </a:t>
            </a:r>
            <a:r>
              <a:rPr lang="nl-NL" altLang="zh-CN" sz="2400" dirty="0" err="1"/>
              <a:t>degree</a:t>
            </a:r>
            <a:r>
              <a:rPr lang="nl-NL" altLang="zh-CN" sz="2400" dirty="0"/>
              <a:t>, </a:t>
            </a:r>
            <a:r>
              <a:rPr lang="nl-NL" altLang="zh-CN" sz="2400" dirty="0" err="1"/>
              <a:t>otherwise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remove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with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relative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higher</a:t>
            </a:r>
            <a:r>
              <a:rPr lang="nl-NL" altLang="zh-CN" sz="2400" dirty="0"/>
              <a:t> score.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685D69-4B45-3128-EE2F-CAF19DFB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972" y="578831"/>
            <a:ext cx="3892617" cy="48239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636E50-A1E2-C118-A911-DF40804D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620" y="438145"/>
            <a:ext cx="3646201" cy="496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3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6006E-B163-3FBE-A5F3-882116E2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0F82A506-B986-EF28-4A9E-8D272F330B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A7C56D1-1BD0-38BF-CE03-C04C039B560D}"/>
              </a:ext>
            </a:extLst>
          </p:cNvPr>
          <p:cNvSpPr txBox="1"/>
          <p:nvPr/>
        </p:nvSpPr>
        <p:spPr>
          <a:xfrm>
            <a:off x="-1" y="64625"/>
            <a:ext cx="69573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2. </a:t>
            </a:r>
            <a:r>
              <a:rPr lang="nl-NL" altLang="zh-CN" sz="2800" dirty="0" err="1"/>
              <a:t>Triangle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Problem</a:t>
            </a:r>
            <a:endParaRPr lang="nl-NL" altLang="zh-CN" sz="2800" dirty="0"/>
          </a:p>
          <a:p>
            <a:endParaRPr lang="nl-NL" altLang="zh-CN" sz="2800" dirty="0"/>
          </a:p>
          <a:p>
            <a:r>
              <a:rPr lang="en-US" altLang="zh-CN" sz="2400" dirty="0"/>
              <a:t>In the densely overlapping area</a:t>
            </a:r>
            <a:r>
              <a:rPr lang="zh-CN" altLang="en-US" sz="2400" dirty="0"/>
              <a:t>，</a:t>
            </a:r>
            <a:r>
              <a:rPr lang="en-US" altLang="zh-CN" sz="2400" dirty="0"/>
              <a:t>with poor mask segmentations, stems sometimes are not correctly paired.</a:t>
            </a:r>
          </a:p>
          <a:p>
            <a:endParaRPr lang="en-US" altLang="zh-CN" sz="2400" dirty="0"/>
          </a:p>
          <a:p>
            <a:r>
              <a:rPr lang="en-US" altLang="zh-CN" sz="2400" dirty="0"/>
              <a:t>Here is A-&gt;D-&gt;E-&gt;C-&gt;B-&gt;F-&gt;E</a:t>
            </a:r>
            <a:endParaRPr lang="nl-NL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DF19EF-8597-37E7-BD7D-A48CD1491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03" y="64625"/>
            <a:ext cx="2867425" cy="5982535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CCA2D31-E41E-6048-2CF2-D8CD31484B8D}"/>
              </a:ext>
            </a:extLst>
          </p:cNvPr>
          <p:cNvCxnSpPr>
            <a:cxnSpLocks/>
          </p:cNvCxnSpPr>
          <p:nvPr/>
        </p:nvCxnSpPr>
        <p:spPr>
          <a:xfrm flipV="1">
            <a:off x="8992925" y="2399837"/>
            <a:ext cx="63611" cy="863842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88A6DB7-5FC8-4E02-271E-E4F9214D7E02}"/>
              </a:ext>
            </a:extLst>
          </p:cNvPr>
          <p:cNvCxnSpPr>
            <a:cxnSpLocks/>
          </p:cNvCxnSpPr>
          <p:nvPr/>
        </p:nvCxnSpPr>
        <p:spPr>
          <a:xfrm flipH="1">
            <a:off x="9056536" y="2727297"/>
            <a:ext cx="103367" cy="644057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49282E6-BA96-F8A3-F74A-F772D8B67E83}"/>
              </a:ext>
            </a:extLst>
          </p:cNvPr>
          <p:cNvCxnSpPr>
            <a:cxnSpLocks/>
          </p:cNvCxnSpPr>
          <p:nvPr/>
        </p:nvCxnSpPr>
        <p:spPr>
          <a:xfrm flipV="1">
            <a:off x="8643066" y="2528515"/>
            <a:ext cx="535391" cy="1362264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8B9DB33-3289-3302-A3B5-AADE86322F29}"/>
              </a:ext>
            </a:extLst>
          </p:cNvPr>
          <p:cNvCxnSpPr>
            <a:cxnSpLocks/>
          </p:cNvCxnSpPr>
          <p:nvPr/>
        </p:nvCxnSpPr>
        <p:spPr>
          <a:xfrm flipH="1">
            <a:off x="8706678" y="2399837"/>
            <a:ext cx="286247" cy="1555567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C96B41E2-43B9-46E0-68E1-4742B969E60D}"/>
              </a:ext>
            </a:extLst>
          </p:cNvPr>
          <p:cNvSpPr txBox="1"/>
          <p:nvPr/>
        </p:nvSpPr>
        <p:spPr>
          <a:xfrm>
            <a:off x="8066598" y="3946648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>
                <a:solidFill>
                  <a:srgbClr val="FF0000"/>
                </a:solidFill>
              </a:rPr>
              <a:t>A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D658FB-B547-4624-D11A-E27DD14ACD4D}"/>
              </a:ext>
            </a:extLst>
          </p:cNvPr>
          <p:cNvSpPr txBox="1"/>
          <p:nvPr/>
        </p:nvSpPr>
        <p:spPr>
          <a:xfrm>
            <a:off x="8066598" y="4846471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>
                <a:solidFill>
                  <a:srgbClr val="FF0000"/>
                </a:solidFill>
              </a:rPr>
              <a:t>B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B366E0E-7F8D-50A6-7540-1CABACE28D80}"/>
              </a:ext>
            </a:extLst>
          </p:cNvPr>
          <p:cNvSpPr txBox="1"/>
          <p:nvPr/>
        </p:nvSpPr>
        <p:spPr>
          <a:xfrm>
            <a:off x="8992925" y="1588071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>
                <a:solidFill>
                  <a:srgbClr val="FF0000"/>
                </a:solidFill>
              </a:rPr>
              <a:t>C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2E1A3A6-0B04-D248-22DE-CA132A3F026B}"/>
              </a:ext>
            </a:extLst>
          </p:cNvPr>
          <p:cNvSpPr txBox="1"/>
          <p:nvPr/>
        </p:nvSpPr>
        <p:spPr>
          <a:xfrm>
            <a:off x="9159903" y="2357965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>
                <a:solidFill>
                  <a:srgbClr val="FF0000"/>
                </a:solidFill>
              </a:rPr>
              <a:t>D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3DE5421-8CBB-4CBA-28C6-4F4AA704AD6B}"/>
              </a:ext>
            </a:extLst>
          </p:cNvPr>
          <p:cNvSpPr txBox="1"/>
          <p:nvPr/>
        </p:nvSpPr>
        <p:spPr>
          <a:xfrm>
            <a:off x="8979675" y="3369094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>
                <a:solidFill>
                  <a:srgbClr val="FF0000"/>
                </a:solidFill>
              </a:rPr>
              <a:t>E</a:t>
            </a:r>
            <a:endParaRPr lang="nl-NL" dirty="0">
              <a:solidFill>
                <a:srgbClr val="FF0000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92169A4-DD84-CBA4-6FF3-94D530B83405}"/>
              </a:ext>
            </a:extLst>
          </p:cNvPr>
          <p:cNvCxnSpPr>
            <a:cxnSpLocks/>
          </p:cNvCxnSpPr>
          <p:nvPr/>
        </p:nvCxnSpPr>
        <p:spPr>
          <a:xfrm flipV="1">
            <a:off x="8513857" y="1465008"/>
            <a:ext cx="419434" cy="2996883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A12A5FC-DE3E-C226-D11B-714E3A356FDA}"/>
              </a:ext>
            </a:extLst>
          </p:cNvPr>
          <p:cNvSpPr txBox="1"/>
          <p:nvPr/>
        </p:nvSpPr>
        <p:spPr>
          <a:xfrm>
            <a:off x="8619213" y="1154400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>
                <a:solidFill>
                  <a:srgbClr val="FF0000"/>
                </a:solidFill>
              </a:rPr>
              <a:t>F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50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13DE-7017-86F0-D39F-8C3C14558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6D80889-94B0-128D-C333-FBC2286C03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D510E8C-995D-C310-CF2D-F8A2A52E93AB}"/>
              </a:ext>
            </a:extLst>
          </p:cNvPr>
          <p:cNvSpPr txBox="1"/>
          <p:nvPr/>
        </p:nvSpPr>
        <p:spPr>
          <a:xfrm>
            <a:off x="-1" y="64625"/>
            <a:ext cx="69573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2. </a:t>
            </a:r>
            <a:r>
              <a:rPr lang="nl-NL" altLang="zh-CN" sz="2800" dirty="0" err="1"/>
              <a:t>Triangle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Problem</a:t>
            </a:r>
            <a:endParaRPr lang="nl-NL" altLang="zh-CN" sz="2800" dirty="0"/>
          </a:p>
          <a:p>
            <a:endParaRPr lang="nl-NL" altLang="zh-CN" sz="2800" dirty="0"/>
          </a:p>
          <a:p>
            <a:r>
              <a:rPr lang="nl-NL" altLang="zh-CN" sz="2400" dirty="0"/>
              <a:t>Solution:</a:t>
            </a:r>
          </a:p>
          <a:p>
            <a:endParaRPr lang="nl-NL" altLang="zh-CN" sz="2400" dirty="0"/>
          </a:p>
          <a:p>
            <a:r>
              <a:rPr lang="nl-NL" altLang="zh-CN" sz="2400" dirty="0" err="1"/>
              <a:t>Final</a:t>
            </a:r>
            <a:r>
              <a:rPr lang="nl-NL" altLang="zh-CN" sz="2400" dirty="0"/>
              <a:t> Cluster </a:t>
            </a:r>
            <a:r>
              <a:rPr lang="nl-NL" altLang="zh-CN" sz="2400" dirty="0" err="1"/>
              <a:t>Merge</a:t>
            </a: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/>
              <a:t>- We put </a:t>
            </a:r>
            <a:r>
              <a:rPr lang="nl-NL" altLang="zh-CN" sz="2400" dirty="0" err="1"/>
              <a:t>each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final</a:t>
            </a:r>
            <a:r>
              <a:rPr lang="nl-NL" altLang="zh-CN" sz="2400" dirty="0"/>
              <a:t> cluster as </a:t>
            </a:r>
            <a:r>
              <a:rPr lang="nl-NL" altLang="zh-CN" sz="2400" dirty="0" err="1"/>
              <a:t>one</a:t>
            </a:r>
            <a:r>
              <a:rPr lang="nl-NL" altLang="zh-CN" sz="2400" dirty="0"/>
              <a:t> long stem, </a:t>
            </a:r>
            <a:r>
              <a:rPr lang="nl-NL" altLang="zh-CN" sz="2400" dirty="0" err="1"/>
              <a:t>counting</a:t>
            </a:r>
            <a:r>
              <a:rPr lang="nl-NL" altLang="zh-CN" sz="2400" dirty="0"/>
              <a:t> score </a:t>
            </a:r>
            <a:r>
              <a:rPr lang="nl-NL" altLang="zh-CN" sz="2400" dirty="0" err="1"/>
              <a:t>with</a:t>
            </a:r>
            <a:r>
              <a:rPr lang="nl-NL" altLang="zh-CN" sz="2400" dirty="0"/>
              <a:t> PCA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pairing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till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nothing</a:t>
            </a:r>
            <a:r>
              <a:rPr lang="nl-NL" altLang="zh-CN" sz="2400" dirty="0"/>
              <a:t> change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D8B3AC-A53B-2960-A911-7682E4834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03" y="64625"/>
            <a:ext cx="2867425" cy="5982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476BE34-FDE1-DAD4-E8B1-F1CDA32DD7CC}"/>
              </a:ext>
            </a:extLst>
          </p:cNvPr>
          <p:cNvCxnSpPr/>
          <p:nvPr/>
        </p:nvCxnSpPr>
        <p:spPr>
          <a:xfrm>
            <a:off x="8802094" y="3124863"/>
            <a:ext cx="0" cy="285451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DB7E991-5083-1E85-740A-D3B36A270677}"/>
              </a:ext>
            </a:extLst>
          </p:cNvPr>
          <p:cNvCxnSpPr/>
          <p:nvPr/>
        </p:nvCxnSpPr>
        <p:spPr>
          <a:xfrm>
            <a:off x="9240741" y="3124863"/>
            <a:ext cx="0" cy="285451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3994C46-CD33-579E-2211-9653B2C125D7}"/>
              </a:ext>
            </a:extLst>
          </p:cNvPr>
          <p:cNvCxnSpPr>
            <a:cxnSpLocks/>
          </p:cNvCxnSpPr>
          <p:nvPr/>
        </p:nvCxnSpPr>
        <p:spPr>
          <a:xfrm>
            <a:off x="8802094" y="3124863"/>
            <a:ext cx="438647" cy="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E9712EE-F25E-D6DC-A833-F649170BC7F2}"/>
              </a:ext>
            </a:extLst>
          </p:cNvPr>
          <p:cNvCxnSpPr>
            <a:cxnSpLocks/>
          </p:cNvCxnSpPr>
          <p:nvPr/>
        </p:nvCxnSpPr>
        <p:spPr>
          <a:xfrm>
            <a:off x="8802094" y="5979381"/>
            <a:ext cx="438647" cy="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95615A0-5EAD-43AB-3DB9-005528FFF59B}"/>
              </a:ext>
            </a:extLst>
          </p:cNvPr>
          <p:cNvCxnSpPr>
            <a:cxnSpLocks/>
          </p:cNvCxnSpPr>
          <p:nvPr/>
        </p:nvCxnSpPr>
        <p:spPr>
          <a:xfrm>
            <a:off x="9122796" y="64625"/>
            <a:ext cx="0" cy="2622916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E8F0722-B5E5-8FD1-DA5D-3E7675F3C14F}"/>
              </a:ext>
            </a:extLst>
          </p:cNvPr>
          <p:cNvCxnSpPr>
            <a:cxnSpLocks/>
          </p:cNvCxnSpPr>
          <p:nvPr/>
        </p:nvCxnSpPr>
        <p:spPr>
          <a:xfrm>
            <a:off x="10086229" y="64625"/>
            <a:ext cx="0" cy="2622916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4DE45F9-6AA9-8661-C0C6-0245E249517A}"/>
              </a:ext>
            </a:extLst>
          </p:cNvPr>
          <p:cNvCxnSpPr>
            <a:cxnSpLocks/>
          </p:cNvCxnSpPr>
          <p:nvPr/>
        </p:nvCxnSpPr>
        <p:spPr>
          <a:xfrm>
            <a:off x="9122796" y="2675421"/>
            <a:ext cx="963433" cy="1212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EE9D61D-9369-04C7-AC4D-733A39D2449A}"/>
              </a:ext>
            </a:extLst>
          </p:cNvPr>
          <p:cNvCxnSpPr>
            <a:cxnSpLocks/>
          </p:cNvCxnSpPr>
          <p:nvPr/>
        </p:nvCxnSpPr>
        <p:spPr>
          <a:xfrm>
            <a:off x="9122796" y="77683"/>
            <a:ext cx="963433" cy="1212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46A7A43F-D5B5-3220-FA21-7D84494A796D}"/>
              </a:ext>
            </a:extLst>
          </p:cNvPr>
          <p:cNvSpPr/>
          <p:nvPr/>
        </p:nvSpPr>
        <p:spPr>
          <a:xfrm>
            <a:off x="9474468" y="3845535"/>
            <a:ext cx="2226366" cy="883442"/>
          </a:xfrm>
          <a:prstGeom prst="wedgeRoundRectCallout">
            <a:avLst>
              <a:gd name="adj1" fmla="val -65119"/>
              <a:gd name="adj2" fmla="val 2739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Considered</a:t>
            </a:r>
            <a:r>
              <a:rPr lang="nl-NL" dirty="0"/>
              <a:t> as Stem A</a:t>
            </a:r>
          </a:p>
        </p:txBody>
      </p:sp>
      <p:sp>
        <p:nvSpPr>
          <p:cNvPr id="26" name="对话气泡: 圆角矩形 25">
            <a:extLst>
              <a:ext uri="{FF2B5EF4-FFF2-40B4-BE49-F238E27FC236}">
                <a16:creationId xmlns:a16="http://schemas.microsoft.com/office/drawing/2014/main" id="{3D640339-413A-199F-1F99-703FB472269F}"/>
              </a:ext>
            </a:extLst>
          </p:cNvPr>
          <p:cNvSpPr/>
          <p:nvPr/>
        </p:nvSpPr>
        <p:spPr>
          <a:xfrm>
            <a:off x="7618959" y="110700"/>
            <a:ext cx="1323703" cy="767918"/>
          </a:xfrm>
          <a:prstGeom prst="wedgeRoundRectCallout">
            <a:avLst>
              <a:gd name="adj1" fmla="val 73940"/>
              <a:gd name="adj2" fmla="val 1969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Stem B</a:t>
            </a:r>
          </a:p>
        </p:txBody>
      </p:sp>
    </p:spTree>
    <p:extLst>
      <p:ext uri="{BB962C8B-B14F-4D97-AF65-F5344CB8AC3E}">
        <p14:creationId xmlns:p14="http://schemas.microsoft.com/office/powerpoint/2010/main" val="109983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DFD1D-65A9-D34F-88C0-BACE4D4E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EF9B126F-99D6-175C-75AC-08BB36DA72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94A6619-BB60-66DA-2012-4EB4F8342B91}"/>
              </a:ext>
            </a:extLst>
          </p:cNvPr>
          <p:cNvSpPr txBox="1"/>
          <p:nvPr/>
        </p:nvSpPr>
        <p:spPr>
          <a:xfrm>
            <a:off x="-1" y="64625"/>
            <a:ext cx="509268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2. </a:t>
            </a:r>
            <a:r>
              <a:rPr lang="nl-NL" altLang="zh-CN" sz="2800" dirty="0" err="1"/>
              <a:t>Triangle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Problem</a:t>
            </a:r>
            <a:endParaRPr lang="nl-NL" altLang="zh-CN" sz="2800" dirty="0"/>
          </a:p>
          <a:p>
            <a:endParaRPr lang="nl-NL" altLang="zh-CN" sz="2800" dirty="0"/>
          </a:p>
          <a:p>
            <a:r>
              <a:rPr lang="nl-NL" altLang="zh-CN" sz="2400" dirty="0"/>
              <a:t>Solution:</a:t>
            </a:r>
          </a:p>
          <a:p>
            <a:endParaRPr lang="nl-NL" altLang="zh-CN" sz="2400" dirty="0"/>
          </a:p>
          <a:p>
            <a:r>
              <a:rPr lang="nl-NL" altLang="zh-CN" sz="2400" dirty="0" err="1"/>
              <a:t>Final</a:t>
            </a:r>
            <a:r>
              <a:rPr lang="nl-NL" altLang="zh-CN" sz="2400" dirty="0"/>
              <a:t> Cluster </a:t>
            </a:r>
            <a:r>
              <a:rPr lang="nl-NL" altLang="zh-CN" sz="2400" dirty="0" err="1"/>
              <a:t>Merge</a:t>
            </a: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/>
              <a:t>- At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end of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algorithm</a:t>
            </a:r>
            <a:r>
              <a:rPr lang="nl-NL" altLang="zh-CN" sz="2400" dirty="0"/>
              <a:t>, we put </a:t>
            </a:r>
            <a:r>
              <a:rPr lang="nl-NL" altLang="zh-CN" sz="2400" dirty="0" err="1"/>
              <a:t>each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final</a:t>
            </a:r>
            <a:r>
              <a:rPr lang="nl-NL" altLang="zh-CN" sz="2400" dirty="0"/>
              <a:t> cluster as </a:t>
            </a:r>
            <a:r>
              <a:rPr lang="nl-NL" altLang="zh-CN" sz="2400" dirty="0" err="1"/>
              <a:t>one</a:t>
            </a:r>
            <a:r>
              <a:rPr lang="nl-NL" altLang="zh-CN" sz="2400" dirty="0"/>
              <a:t> long stem, </a:t>
            </a:r>
            <a:r>
              <a:rPr lang="nl-NL" altLang="zh-CN" sz="2400" dirty="0" err="1"/>
              <a:t>counting</a:t>
            </a:r>
            <a:r>
              <a:rPr lang="nl-NL" altLang="zh-CN" sz="2400" dirty="0"/>
              <a:t> score </a:t>
            </a:r>
            <a:r>
              <a:rPr lang="nl-NL" altLang="zh-CN" sz="2400" dirty="0" err="1"/>
              <a:t>through</a:t>
            </a:r>
            <a:r>
              <a:rPr lang="nl-NL" altLang="zh-CN" sz="2400" dirty="0"/>
              <a:t> PCA </a:t>
            </a:r>
            <a:r>
              <a:rPr lang="nl-NL" altLang="zh-CN" sz="2400" dirty="0" err="1"/>
              <a:t>calculation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pairing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till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nothing</a:t>
            </a:r>
            <a:r>
              <a:rPr lang="nl-NL" altLang="zh-CN" sz="2400" dirty="0"/>
              <a:t> change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318A1A-DD09-3B66-0C99-5CF856412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949" y="144138"/>
            <a:ext cx="2867425" cy="5982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8999CDA-D1B9-08FD-B803-A3D81CF611E5}"/>
              </a:ext>
            </a:extLst>
          </p:cNvPr>
          <p:cNvCxnSpPr/>
          <p:nvPr/>
        </p:nvCxnSpPr>
        <p:spPr>
          <a:xfrm>
            <a:off x="6345140" y="3204376"/>
            <a:ext cx="0" cy="285451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36D989-B96A-13F0-661B-310187F51555}"/>
              </a:ext>
            </a:extLst>
          </p:cNvPr>
          <p:cNvCxnSpPr/>
          <p:nvPr/>
        </p:nvCxnSpPr>
        <p:spPr>
          <a:xfrm>
            <a:off x="6783787" y="3204376"/>
            <a:ext cx="0" cy="285451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4FF0EBC-0963-7822-BD22-DB64EFD91F7F}"/>
              </a:ext>
            </a:extLst>
          </p:cNvPr>
          <p:cNvCxnSpPr>
            <a:cxnSpLocks/>
          </p:cNvCxnSpPr>
          <p:nvPr/>
        </p:nvCxnSpPr>
        <p:spPr>
          <a:xfrm>
            <a:off x="6345140" y="3204376"/>
            <a:ext cx="438647" cy="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A9DFDAD-FF4D-399D-CA5C-93CCA1AA06E1}"/>
              </a:ext>
            </a:extLst>
          </p:cNvPr>
          <p:cNvCxnSpPr>
            <a:cxnSpLocks/>
          </p:cNvCxnSpPr>
          <p:nvPr/>
        </p:nvCxnSpPr>
        <p:spPr>
          <a:xfrm>
            <a:off x="6345140" y="6058894"/>
            <a:ext cx="438647" cy="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EC55E17-FB68-9743-72BF-DBEF3EF22CB9}"/>
              </a:ext>
            </a:extLst>
          </p:cNvPr>
          <p:cNvCxnSpPr>
            <a:cxnSpLocks/>
          </p:cNvCxnSpPr>
          <p:nvPr/>
        </p:nvCxnSpPr>
        <p:spPr>
          <a:xfrm>
            <a:off x="6665842" y="144138"/>
            <a:ext cx="0" cy="2622916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B745708-56DD-C4E0-7A88-CBAB2D5544C8}"/>
              </a:ext>
            </a:extLst>
          </p:cNvPr>
          <p:cNvCxnSpPr>
            <a:cxnSpLocks/>
          </p:cNvCxnSpPr>
          <p:nvPr/>
        </p:nvCxnSpPr>
        <p:spPr>
          <a:xfrm>
            <a:off x="7629275" y="144138"/>
            <a:ext cx="0" cy="2622916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BD23035-C55B-5C41-2183-92C97282A7E7}"/>
              </a:ext>
            </a:extLst>
          </p:cNvPr>
          <p:cNvCxnSpPr>
            <a:cxnSpLocks/>
          </p:cNvCxnSpPr>
          <p:nvPr/>
        </p:nvCxnSpPr>
        <p:spPr>
          <a:xfrm>
            <a:off x="6665842" y="2754934"/>
            <a:ext cx="963433" cy="1212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4D8B488-4E5A-E519-5038-B724133E2949}"/>
              </a:ext>
            </a:extLst>
          </p:cNvPr>
          <p:cNvCxnSpPr>
            <a:cxnSpLocks/>
          </p:cNvCxnSpPr>
          <p:nvPr/>
        </p:nvCxnSpPr>
        <p:spPr>
          <a:xfrm>
            <a:off x="6665842" y="157196"/>
            <a:ext cx="963433" cy="1212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75357E91-16B4-200B-A59E-DC1CC55BC3FE}"/>
              </a:ext>
            </a:extLst>
          </p:cNvPr>
          <p:cNvSpPr/>
          <p:nvPr/>
        </p:nvSpPr>
        <p:spPr>
          <a:xfrm>
            <a:off x="6986199" y="3845535"/>
            <a:ext cx="2226366" cy="883442"/>
          </a:xfrm>
          <a:prstGeom prst="wedgeRoundRectCallout">
            <a:avLst>
              <a:gd name="adj1" fmla="val -65119"/>
              <a:gd name="adj2" fmla="val 2739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Considered</a:t>
            </a:r>
            <a:r>
              <a:rPr lang="nl-NL" dirty="0"/>
              <a:t> as Stem A</a:t>
            </a:r>
          </a:p>
        </p:txBody>
      </p:sp>
      <p:sp>
        <p:nvSpPr>
          <p:cNvPr id="26" name="对话气泡: 圆角矩形 25">
            <a:extLst>
              <a:ext uri="{FF2B5EF4-FFF2-40B4-BE49-F238E27FC236}">
                <a16:creationId xmlns:a16="http://schemas.microsoft.com/office/drawing/2014/main" id="{9D26919E-F083-441D-F09D-F6E777D33137}"/>
              </a:ext>
            </a:extLst>
          </p:cNvPr>
          <p:cNvSpPr/>
          <p:nvPr/>
        </p:nvSpPr>
        <p:spPr>
          <a:xfrm>
            <a:off x="5162005" y="190213"/>
            <a:ext cx="1323703" cy="767918"/>
          </a:xfrm>
          <a:prstGeom prst="wedgeRoundRectCallout">
            <a:avLst>
              <a:gd name="adj1" fmla="val 73940"/>
              <a:gd name="adj2" fmla="val 1969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Stem B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415697-552C-1C0D-11F4-54BA1DF21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881" y="0"/>
            <a:ext cx="2724530" cy="64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88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72FC-8BC7-D4E6-82BF-2E39A431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E4490F5D-290E-76E2-B316-1E534CD319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9F84C0C-E082-1898-B4E8-3598D641A5DE}"/>
              </a:ext>
            </a:extLst>
          </p:cNvPr>
          <p:cNvSpPr txBox="1"/>
          <p:nvPr/>
        </p:nvSpPr>
        <p:spPr>
          <a:xfrm>
            <a:off x="-1" y="64625"/>
            <a:ext cx="509268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3. The </a:t>
            </a:r>
            <a:r>
              <a:rPr lang="nl-NL" altLang="zh-CN" sz="2800" dirty="0" err="1"/>
              <a:t>Problem</a:t>
            </a:r>
            <a:r>
              <a:rPr lang="nl-NL" altLang="zh-CN" sz="2800" dirty="0"/>
              <a:t> of Skipping</a:t>
            </a:r>
          </a:p>
          <a:p>
            <a:endParaRPr lang="nl-NL" altLang="zh-CN" sz="2800" dirty="0"/>
          </a:p>
          <a:p>
            <a:r>
              <a:rPr lang="en-US" altLang="zh-CN" sz="2400" dirty="0"/>
              <a:t>The middle stem might be skipped by its up/lower partner if it is a rhombus with relative high score.</a:t>
            </a:r>
            <a:endParaRPr lang="nl-NL" altLang="zh-CN" sz="2400" dirty="0"/>
          </a:p>
        </p:txBody>
      </p:sp>
      <p:pic>
        <p:nvPicPr>
          <p:cNvPr id="6" name="图片 5" descr="蓝色的花&#10;&#10;AI 生成的内容可能不正确。">
            <a:extLst>
              <a:ext uri="{FF2B5EF4-FFF2-40B4-BE49-F238E27FC236}">
                <a16:creationId xmlns:a16="http://schemas.microsoft.com/office/drawing/2014/main" id="{2A574632-4FFB-0120-F071-7ACB323FC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896" y="232025"/>
            <a:ext cx="5878664" cy="5878664"/>
          </a:xfrm>
          <a:prstGeom prst="rect">
            <a:avLst/>
          </a:prstGeom>
        </p:spPr>
      </p:pic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F8A093AC-E46B-48CE-0E69-5E315A77225F}"/>
              </a:ext>
            </a:extLst>
          </p:cNvPr>
          <p:cNvSpPr/>
          <p:nvPr/>
        </p:nvSpPr>
        <p:spPr>
          <a:xfrm>
            <a:off x="9112194" y="2485861"/>
            <a:ext cx="2226366" cy="883442"/>
          </a:xfrm>
          <a:prstGeom prst="wedgeRoundRectCallout">
            <a:avLst>
              <a:gd name="adj1" fmla="val -30833"/>
              <a:gd name="adj2" fmla="val -7520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Skipped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045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A928-3242-0F01-C493-609CF2D1C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F3ABA3A-2488-BE50-B313-F3EA9CAE47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F28149A-1B5E-075B-F24D-E491F2560829}"/>
              </a:ext>
            </a:extLst>
          </p:cNvPr>
          <p:cNvSpPr txBox="1"/>
          <p:nvPr/>
        </p:nvSpPr>
        <p:spPr>
          <a:xfrm>
            <a:off x="-1" y="64625"/>
            <a:ext cx="509268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3. The </a:t>
            </a:r>
            <a:r>
              <a:rPr lang="nl-NL" altLang="zh-CN" sz="2800" dirty="0" err="1"/>
              <a:t>Problem</a:t>
            </a:r>
            <a:r>
              <a:rPr lang="nl-NL" altLang="zh-CN" sz="2800" dirty="0"/>
              <a:t> of Skipping</a:t>
            </a:r>
          </a:p>
          <a:p>
            <a:endParaRPr lang="nl-NL" altLang="zh-CN" sz="2800" dirty="0"/>
          </a:p>
          <a:p>
            <a:r>
              <a:rPr lang="en-US" altLang="zh-CN" sz="2400" dirty="0"/>
              <a:t>The middle stem might be skipped by its up/lower partner if it is a rhombus with relative high score.</a:t>
            </a:r>
            <a:endParaRPr lang="nl-NL" altLang="zh-CN" sz="2400" dirty="0"/>
          </a:p>
        </p:txBody>
      </p:sp>
      <p:pic>
        <p:nvPicPr>
          <p:cNvPr id="3" name="图片 2" descr="在水里&#10;&#10;AI 生成的内容可能不正确。">
            <a:extLst>
              <a:ext uri="{FF2B5EF4-FFF2-40B4-BE49-F238E27FC236}">
                <a16:creationId xmlns:a16="http://schemas.microsoft.com/office/drawing/2014/main" id="{F2EC3914-B417-0ED8-6C7C-E2F1AE828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740" y="0"/>
            <a:ext cx="6858000" cy="6858000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5964D0DE-B984-BDF9-02E4-099B1935CFE2}"/>
              </a:ext>
            </a:extLst>
          </p:cNvPr>
          <p:cNvSpPr/>
          <p:nvPr/>
        </p:nvSpPr>
        <p:spPr>
          <a:xfrm>
            <a:off x="9852156" y="719004"/>
            <a:ext cx="1504390" cy="70866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Base Stem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7AAB11AC-EFE1-344B-EA31-FA32573990EE}"/>
              </a:ext>
            </a:extLst>
          </p:cNvPr>
          <p:cNvSpPr/>
          <p:nvPr/>
        </p:nvSpPr>
        <p:spPr>
          <a:xfrm>
            <a:off x="7936790" y="1427664"/>
            <a:ext cx="1504390" cy="708660"/>
          </a:xfrm>
          <a:prstGeom prst="wedgeRoundRectCallout">
            <a:avLst>
              <a:gd name="adj1" fmla="val 66794"/>
              <a:gd name="adj2" fmla="val 6034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Real Partner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488B7342-34CD-B2D4-CDB0-B6B17EE339A5}"/>
              </a:ext>
            </a:extLst>
          </p:cNvPr>
          <p:cNvSpPr/>
          <p:nvPr/>
        </p:nvSpPr>
        <p:spPr>
          <a:xfrm>
            <a:off x="9567470" y="3066688"/>
            <a:ext cx="1504390" cy="708660"/>
          </a:xfrm>
          <a:prstGeom prst="wedgeRoundRectCallout">
            <a:avLst>
              <a:gd name="adj1" fmla="val -68446"/>
              <a:gd name="adj2" fmla="val -5793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Best </a:t>
            </a:r>
            <a:r>
              <a:rPr lang="nl-NL" dirty="0" err="1"/>
              <a:t>candidate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9830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2DBB8-77BE-623B-9167-F2A29C1E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61A06C06-64B6-735C-7981-217136261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40CFBE5-F0DA-A30D-679D-28333033EB26}"/>
              </a:ext>
            </a:extLst>
          </p:cNvPr>
          <p:cNvSpPr txBox="1"/>
          <p:nvPr/>
        </p:nvSpPr>
        <p:spPr>
          <a:xfrm>
            <a:off x="-1" y="64625"/>
            <a:ext cx="509268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3. The </a:t>
            </a:r>
            <a:r>
              <a:rPr lang="nl-NL" altLang="zh-CN" sz="2800" dirty="0" err="1"/>
              <a:t>Problem</a:t>
            </a:r>
            <a:r>
              <a:rPr lang="nl-NL" altLang="zh-CN" sz="2800" dirty="0"/>
              <a:t> of Skipping</a:t>
            </a:r>
          </a:p>
          <a:p>
            <a:endParaRPr lang="nl-NL" altLang="zh-CN" sz="2800" dirty="0"/>
          </a:p>
          <a:p>
            <a:r>
              <a:rPr lang="en-US" altLang="zh-CN" sz="2400" dirty="0"/>
              <a:t>Solution:</a:t>
            </a:r>
          </a:p>
          <a:p>
            <a:r>
              <a:rPr lang="en-US" altLang="zh-CN" sz="2400" dirty="0"/>
              <a:t>Intermediate Check</a:t>
            </a:r>
          </a:p>
          <a:p>
            <a:endParaRPr lang="en-US" altLang="zh-CN" sz="2400" dirty="0"/>
          </a:p>
          <a:p>
            <a:r>
              <a:rPr lang="en-US" altLang="zh-CN" sz="2400" dirty="0"/>
              <a:t>- If stem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and j are paired and there exists a stem k in the middle choosing both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and j as best lower/upper candidate respectively, as long as </a:t>
            </a:r>
            <a:r>
              <a:rPr lang="en-US" altLang="zh-CN" sz="2400" dirty="0" err="1"/>
              <a:t>score_ki</a:t>
            </a:r>
            <a:r>
              <a:rPr lang="en-US" altLang="zh-CN" sz="2400" dirty="0"/>
              <a:t> and </a:t>
            </a:r>
            <a:r>
              <a:rPr lang="en-US" altLang="zh-CN" sz="2400" dirty="0" err="1"/>
              <a:t>score_kj</a:t>
            </a:r>
            <a:r>
              <a:rPr lang="en-US" altLang="zh-CN" sz="2400" dirty="0"/>
              <a:t> &lt; 20, connect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j, k together. </a:t>
            </a:r>
            <a:endParaRPr lang="nl-NL" altLang="zh-CN" sz="2400" dirty="0"/>
          </a:p>
        </p:txBody>
      </p:sp>
      <p:pic>
        <p:nvPicPr>
          <p:cNvPr id="3" name="图片 2" descr="在水里&#10;&#10;AI 生成的内容可能不正确。">
            <a:extLst>
              <a:ext uri="{FF2B5EF4-FFF2-40B4-BE49-F238E27FC236}">
                <a16:creationId xmlns:a16="http://schemas.microsoft.com/office/drawing/2014/main" id="{A22A8651-FC83-0068-3EEA-230AC417F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740" y="0"/>
            <a:ext cx="6858000" cy="6858000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B57E3799-098C-DA7A-1FA9-E43F6F59C107}"/>
              </a:ext>
            </a:extLst>
          </p:cNvPr>
          <p:cNvSpPr/>
          <p:nvPr/>
        </p:nvSpPr>
        <p:spPr>
          <a:xfrm>
            <a:off x="9852156" y="719004"/>
            <a:ext cx="1504390" cy="70866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Base Stem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805CD5D5-BBDB-A9FA-BB5D-E19A7C4D18E2}"/>
              </a:ext>
            </a:extLst>
          </p:cNvPr>
          <p:cNvSpPr/>
          <p:nvPr/>
        </p:nvSpPr>
        <p:spPr>
          <a:xfrm>
            <a:off x="7936790" y="1427664"/>
            <a:ext cx="1504390" cy="708660"/>
          </a:xfrm>
          <a:prstGeom prst="wedgeRoundRectCallout">
            <a:avLst>
              <a:gd name="adj1" fmla="val 66794"/>
              <a:gd name="adj2" fmla="val 6034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Middle</a:t>
            </a:r>
            <a:r>
              <a:rPr lang="nl-NL" dirty="0"/>
              <a:t> stem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CB432F75-4CEB-C24E-2250-5290230228B6}"/>
              </a:ext>
            </a:extLst>
          </p:cNvPr>
          <p:cNvSpPr/>
          <p:nvPr/>
        </p:nvSpPr>
        <p:spPr>
          <a:xfrm>
            <a:off x="9567470" y="3066688"/>
            <a:ext cx="1504390" cy="708660"/>
          </a:xfrm>
          <a:prstGeom prst="wedgeRoundRectCallout">
            <a:avLst>
              <a:gd name="adj1" fmla="val -68446"/>
              <a:gd name="adj2" fmla="val -5793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Best </a:t>
            </a:r>
            <a:r>
              <a:rPr lang="nl-NL" dirty="0" err="1"/>
              <a:t>candidate</a:t>
            </a:r>
            <a:endParaRPr lang="nl-NL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CBD5F9-4FF0-0550-4D12-FC5E4C1DFB53}"/>
              </a:ext>
            </a:extLst>
          </p:cNvPr>
          <p:cNvSpPr txBox="1"/>
          <p:nvPr/>
        </p:nvSpPr>
        <p:spPr>
          <a:xfrm>
            <a:off x="10427970" y="1621674"/>
            <a:ext cx="60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1C5715-F9BD-35FA-8353-FE84407D4648}"/>
              </a:ext>
            </a:extLst>
          </p:cNvPr>
          <p:cNvSpPr txBox="1"/>
          <p:nvPr/>
        </p:nvSpPr>
        <p:spPr>
          <a:xfrm>
            <a:off x="9751975" y="2255158"/>
            <a:ext cx="60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3B0ECE-E243-1780-B916-1FA2F1394463}"/>
              </a:ext>
            </a:extLst>
          </p:cNvPr>
          <p:cNvSpPr txBox="1"/>
          <p:nvPr/>
        </p:nvSpPr>
        <p:spPr>
          <a:xfrm>
            <a:off x="8965490" y="2604354"/>
            <a:ext cx="60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015114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D02C8-C4C4-02DC-4E94-426D2059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CAD2EDEE-0B32-5EA8-E936-43DE938284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5FA5904-0E3B-B3EA-CDF9-D20DD6A612CA}"/>
              </a:ext>
            </a:extLst>
          </p:cNvPr>
          <p:cNvSpPr txBox="1"/>
          <p:nvPr/>
        </p:nvSpPr>
        <p:spPr>
          <a:xfrm>
            <a:off x="-1" y="64625"/>
            <a:ext cx="509268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3. The </a:t>
            </a:r>
            <a:r>
              <a:rPr lang="nl-NL" altLang="zh-CN" sz="2800" dirty="0" err="1"/>
              <a:t>Problem</a:t>
            </a:r>
            <a:r>
              <a:rPr lang="nl-NL" altLang="zh-CN" sz="2800" dirty="0"/>
              <a:t> of Skipping</a:t>
            </a:r>
          </a:p>
          <a:p>
            <a:endParaRPr lang="nl-NL" altLang="zh-CN" sz="2800" dirty="0"/>
          </a:p>
          <a:p>
            <a:r>
              <a:rPr lang="en-US" altLang="zh-CN" sz="2400" dirty="0"/>
              <a:t>Solution:</a:t>
            </a:r>
          </a:p>
          <a:p>
            <a:r>
              <a:rPr lang="en-US" altLang="zh-CN" sz="2400" dirty="0"/>
              <a:t>Intermediate Check</a:t>
            </a:r>
          </a:p>
          <a:p>
            <a:endParaRPr lang="en-US" altLang="zh-CN" sz="2400" dirty="0"/>
          </a:p>
          <a:p>
            <a:r>
              <a:rPr lang="en-US" altLang="zh-CN" sz="2400" dirty="0"/>
              <a:t>- If stem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and j are paired and there exists a stem k in the middle choosing both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and j as best lower/upper candidate respectively, as long as </a:t>
            </a:r>
            <a:r>
              <a:rPr lang="en-US" altLang="zh-CN" sz="2400" dirty="0" err="1"/>
              <a:t>score_ki</a:t>
            </a:r>
            <a:r>
              <a:rPr lang="en-US" altLang="zh-CN" sz="2400" dirty="0"/>
              <a:t> and </a:t>
            </a:r>
            <a:r>
              <a:rPr lang="en-US" altLang="zh-CN" sz="2400" dirty="0" err="1"/>
              <a:t>score_kj</a:t>
            </a:r>
            <a:r>
              <a:rPr lang="en-US" altLang="zh-CN" sz="2400" dirty="0"/>
              <a:t> &lt; 20, connect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j, k together. </a:t>
            </a:r>
            <a:endParaRPr lang="nl-NL" altLang="zh-CN" sz="2400" dirty="0"/>
          </a:p>
        </p:txBody>
      </p:sp>
      <p:pic>
        <p:nvPicPr>
          <p:cNvPr id="12" name="图片 11" descr="图片包含 桌子, 监控, 电脑, 挂&#10;&#10;AI 生成的内容可能不正确。">
            <a:extLst>
              <a:ext uri="{FF2B5EF4-FFF2-40B4-BE49-F238E27FC236}">
                <a16:creationId xmlns:a16="http://schemas.microsoft.com/office/drawing/2014/main" id="{6EA90448-5474-64E4-F4D5-72DECA3F8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180" y="64625"/>
            <a:ext cx="6423660" cy="642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7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5393-726C-7F6D-2A54-5B61E7A4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33AAB7B-BAC5-8380-6DC4-DC0907A8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6C63A805-56F5-FE31-3F26-714801EB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54" y="2582557"/>
            <a:ext cx="10986696" cy="1399032"/>
          </a:xfrm>
        </p:spPr>
        <p:txBody>
          <a:bodyPr>
            <a:noAutofit/>
          </a:bodyPr>
          <a:lstStyle/>
          <a:p>
            <a:r>
              <a:rPr lang="nl-NL" altLang="zh-CN" sz="2800" dirty="0" err="1"/>
              <a:t>Future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Work</a:t>
            </a:r>
            <a:r>
              <a:rPr lang="nl-NL" altLang="zh-CN" sz="2800" dirty="0"/>
              <a:t>:</a:t>
            </a:r>
          </a:p>
          <a:p>
            <a:pPr marL="514350" indent="-514350">
              <a:buAutoNum type="arabicParenBoth"/>
            </a:pPr>
            <a:endParaRPr lang="nl-NL" sz="2800" dirty="0"/>
          </a:p>
          <a:p>
            <a:pPr marL="514350" indent="-514350">
              <a:buAutoNum type="arabicParenBoth"/>
            </a:pPr>
            <a:r>
              <a:rPr lang="nl-NL" sz="2800" dirty="0"/>
              <a:t> </a:t>
            </a:r>
            <a:r>
              <a:rPr lang="nl-NL" altLang="zh-CN" sz="2800" dirty="0"/>
              <a:t>Optimization4</a:t>
            </a: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7537957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481</Words>
  <Application>Microsoft Office PowerPoint</Application>
  <PresentationFormat>宽屏</PresentationFormat>
  <Paragraphs>89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Arial</vt:lpstr>
      <vt:lpstr>Bierstadt</vt:lpstr>
      <vt:lpstr>Neue Haas Grotesk Text Pro</vt:lpstr>
      <vt:lpstr>GestaltVTI</vt:lpstr>
      <vt:lpstr>Optimization3 of Stem Pairing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47</cp:revision>
  <dcterms:created xsi:type="dcterms:W3CDTF">2025-09-24T08:15:25Z</dcterms:created>
  <dcterms:modified xsi:type="dcterms:W3CDTF">2025-11-06T12:53:40Z</dcterms:modified>
</cp:coreProperties>
</file>